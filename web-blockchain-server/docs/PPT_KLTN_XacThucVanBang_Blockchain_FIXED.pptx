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13.png" ContentType="image/png"/>
  <Override PartName="/ppt/media/image4.png" ContentType="image/png"/>
  <Override PartName="/ppt/media/image9.png" ContentType="image/png"/>
  <Override PartName="/ppt/media/image18.png" ContentType="image/png"/>
  <Override PartName="/ppt/media/image20.png" ContentType="image/png"/>
  <Override PartName="/ppt/media/image12.png" ContentType="image/png"/>
  <Override PartName="/ppt/media/image3.png" ContentType="image/png"/>
  <Override PartName="/ppt/media/image8.png" ContentType="image/png"/>
  <Override PartName="/ppt/media/image17.png" ContentType="image/png"/>
  <Override PartName="/ppt/media/image23.png" ContentType="image/png"/>
  <Override PartName="/ppt/media/image22.png" ContentType="image/png"/>
  <Override PartName="/ppt/media/image21.png" ContentType="image/png"/>
  <Override PartName="/ppt/media/image19.png" ContentType="image/png"/>
  <Override PartName="/ppt/media/image11.png" ContentType="image/png"/>
  <Override PartName="/ppt/media/image2.png" ContentType="image/png"/>
  <Override PartName="/ppt/media/image5.png" ContentType="image/png"/>
  <Override PartName="/ppt/media/image14.png" ContentType="image/png"/>
  <Override PartName="/ppt/media/image6.png" ContentType="image/png"/>
  <Override PartName="/ppt/media/image15.png" ContentType="image/png"/>
  <Override PartName="/ppt/media/image10.png" ContentType="image/png"/>
  <Override PartName="/ppt/media/image1.png" ContentType="image/png"/>
  <Override PartName="/ppt/media/image7.png" ContentType="image/png"/>
  <Override PartName="/ppt/media/image16.png" ContentType="image/png"/>
  <Override PartName="/ppt/slides/_rels/slide27.xml.rels" ContentType="application/vnd.openxmlformats-package.relationships+xml"/>
  <Override PartName="/ppt/slides/_rels/slide18.xml.rels" ContentType="application/vnd.openxmlformats-package.relationships+xml"/>
  <Override PartName="/ppt/slides/_rels/slide11.xml.rels" ContentType="application/vnd.openxmlformats-package.relationships+xml"/>
  <Override PartName="/ppt/slides/_rels/slide28.xml.rels" ContentType="application/vnd.openxmlformats-package.relationships+xml"/>
  <Override PartName="/ppt/slides/_rels/slide30.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29.xml.rels" ContentType="application/vnd.openxmlformats-package.relationships+xml"/>
  <Override PartName="/ppt/slides/_rels/slide20.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2.xml.rels" ContentType="application/vnd.openxmlformats-package.relationships+xml"/>
  <Override PartName="/ppt/slides/_rels/slide16.xml.rels" ContentType="application/vnd.openxmlformats-package.relationships+xml"/>
  <Override PartName="/ppt/slides/_rels/slide1.xml.rels" ContentType="application/vnd.openxmlformats-package.relationships+xml"/>
  <Override PartName="/ppt/slides/_rels/slide24.xml.rels" ContentType="application/vnd.openxmlformats-package.relationships+xml"/>
  <Override PartName="/ppt/slides/_rels/slide7.xml.rels" ContentType="application/vnd.openxmlformats-package.relationships+xml"/>
  <Override PartName="/ppt/slides/_rels/slide15.xml.rels" ContentType="application/vnd.openxmlformats-package.relationships+xml"/>
  <Override PartName="/ppt/slides/_rels/slide23.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slide29.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24.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28.xml" ContentType="application/vnd.openxmlformats-officedocument.presentationml.slide+xml"/>
  <Override PartName="/ppt/slides/slide11.xml" ContentType="application/vnd.openxmlformats-officedocument.presentationml.slide+xml"/>
  <Override PartName="/ppt/slides/slide3.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Slides/_rels/notesSlide25.xml.rels" ContentType="application/vnd.openxmlformats-package.relationships+xml"/>
  <Override PartName="/ppt/notesSlides/_rels/notesSlide13.xml.rels" ContentType="application/vnd.openxmlformats-package.relationships+xml"/>
  <Override PartName="/ppt/notesSlides/_rels/notesSlide4.xml.rels" ContentType="application/vnd.openxmlformats-package.relationships+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_rels/notesSlide29.xml.rels" ContentType="application/vnd.openxmlformats-package.relationships+xml"/>
  <Override PartName="/ppt/notesSlides/_rels/notesSlide30.xml.rels" ContentType="application/vnd.openxmlformats-package.relationships+xml"/>
  <Override PartName="/ppt/notesSlides/_rels/notesSlide28.xml.rels" ContentType="application/vnd.openxmlformats-package.relationships+xml"/>
  <Override PartName="/ppt/notesSlides/_rels/notesSlide27.xml.rels" ContentType="application/vnd.openxmlformats-package.relationships+xml"/>
  <Override PartName="/ppt/notesSlides/_rels/notesSlide26.xml.rels" ContentType="application/vnd.openxmlformats-package.relationships+xml"/>
  <Override PartName="/ppt/notesSlides/_rels/notesSlide20.xml.rels" ContentType="application/vnd.openxmlformats-package.relationships+xml"/>
  <Override PartName="/ppt/notesSlides/_rels/notesSlide14.xml.rels" ContentType="application/vnd.openxmlformats-package.relationships+xml"/>
  <Override PartName="/ppt/notesSlides/_rels/notesSlide5.xml.rels" ContentType="application/vnd.openxmlformats-package.relationships+xml"/>
  <Override PartName="/ppt/notesSlides/_rels/notesSlide19.xml.rels" ContentType="application/vnd.openxmlformats-package.relationships+xml"/>
  <Override PartName="/ppt/notesSlides/_rels/notesSlide21.xml.rels" ContentType="application/vnd.openxmlformats-package.relationships+xml"/>
  <Override PartName="/ppt/notesSlides/_rels/notesSlide15.xml.rels" ContentType="application/vnd.openxmlformats-package.relationships+xml"/>
  <Override PartName="/ppt/notesSlides/_rels/notesSlide6.xml.rels" ContentType="application/vnd.openxmlformats-package.relationships+xml"/>
  <Override PartName="/ppt/notesSlides/_rels/notesSlide22.xml.rels" ContentType="application/vnd.openxmlformats-package.relationships+xml"/>
  <Override PartName="/ppt/notesSlides/_rels/notesSlide16.xml.rels" ContentType="application/vnd.openxmlformats-package.relationships+xml"/>
  <Override PartName="/ppt/notesSlides/_rels/notesSlide7.xml.rels" ContentType="application/vnd.openxmlformats-package.relationships+xml"/>
  <Override PartName="/ppt/notesSlides/_rels/notesSlide23.xml.rels" ContentType="application/vnd.openxmlformats-package.relationships+xml"/>
  <Override PartName="/ppt/notesSlides/_rels/notesSlide17.xml.rels" ContentType="application/vnd.openxmlformats-package.relationships+xml"/>
  <Override PartName="/ppt/notesSlides/_rels/notesSlide8.xml.rels" ContentType="application/vnd.openxmlformats-package.relationships+xml"/>
  <Override PartName="/ppt/notesSlides/_rels/notesSlide24.xml.rels" ContentType="application/vnd.openxmlformats-package.relationships+xml"/>
  <Override PartName="/ppt/notesSlides/_rels/notesSlide18.xml.rels" ContentType="application/vnd.openxmlformats-package.relationships+xml"/>
  <Override PartName="/ppt/notesSlides/_rels/notesSlide9.xml.rels" ContentType="application/vnd.openxmlformats-package.relationship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7.xml" ContentType="application/vnd.openxmlformats-officedocument.presentationml.notesSlide+xml"/>
  <Override PartName="/ppt/notesSlides/notesSlide1.xml" ContentType="application/vnd.openxmlformats-officedocument.presentationml.notesSlide+xml"/>
  <Override PartName="/ppt/notesSlides/notesSlide16.xml" ContentType="application/vnd.openxmlformats-officedocument.presentationml.notesSlide+xml"/>
  <Override PartName="/ppt/notesSlides/notesSlide28.xml" ContentType="application/vnd.openxmlformats-officedocument.presentationml.notesSlide+xml"/>
  <Override PartName="/ppt/notesSlides/notesSlide2.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23.xml" ContentType="application/vnd.openxmlformats-officedocument.presentationml.notesSlide+xml"/>
  <Override PartName="/ppt/notesSlides/notesSlide7.xml" ContentType="application/vnd.openxmlformats-officedocument.presentationml.notesSlide+xml"/>
  <Override PartName="/ppt/notesSlides/notesSlide24.xml" ContentType="application/vnd.openxmlformats-officedocument.presentationml.notesSlide+xml"/>
  <Override PartName="/ppt/notesSlides/notesSlide8.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trike="noStrike" u="none">
                <a:solidFill>
                  <a:schemeClr val="dk1"/>
                </a:solidFill>
                <a:effectLst/>
                <a:uFillTx/>
                <a:latin typeface="Arial"/>
              </a:rPr>
              <a:t>Click to move the slide</a:t>
            </a:r>
            <a:endParaRPr b="0" lang="en-US" sz="1800" strike="noStrike" u="none">
              <a:solidFill>
                <a:schemeClr val="dk1"/>
              </a:solidFill>
              <a:effectLst/>
              <a:uFillTx/>
              <a:latin typeface="Arial"/>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043169D2-5C7A-4617-872F-5ECC9858F051}"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PlaceHolder 1"/>
          <p:cNvSpPr>
            <a:spLocks noGrp="1"/>
          </p:cNvSpPr>
          <p:nvPr>
            <p:ph type="sldImg"/>
          </p:nvPr>
        </p:nvSpPr>
        <p:spPr>
          <a:xfrm>
            <a:off x="685800" y="1143000"/>
            <a:ext cx="5486040" cy="3085920"/>
          </a:xfrm>
          <a:prstGeom prst="rect">
            <a:avLst/>
          </a:prstGeom>
          <a:ln w="0">
            <a:noFill/>
          </a:ln>
        </p:spPr>
      </p:sp>
      <p:sp>
        <p:nvSpPr>
          <p:cNvPr id="46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469"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D2E5A16B-A228-4B6C-BF71-D64CE9E24D2B}"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0" name="PlaceHolder 1"/>
          <p:cNvSpPr>
            <a:spLocks noGrp="1"/>
          </p:cNvSpPr>
          <p:nvPr>
            <p:ph type="sldImg"/>
          </p:nvPr>
        </p:nvSpPr>
        <p:spPr>
          <a:xfrm>
            <a:off x="685800" y="1143000"/>
            <a:ext cx="5486040" cy="3085920"/>
          </a:xfrm>
          <a:prstGeom prst="rect">
            <a:avLst/>
          </a:prstGeom>
          <a:ln w="0">
            <a:noFill/>
          </a:ln>
        </p:spPr>
      </p:sp>
      <p:sp>
        <p:nvSpPr>
          <p:cNvPr id="47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472"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E0BD00A-24F8-4D25-AB52-EEDB4A27AE35}"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3" name="PlaceHolder 1"/>
          <p:cNvSpPr>
            <a:spLocks noGrp="1"/>
          </p:cNvSpPr>
          <p:nvPr>
            <p:ph type="sldImg"/>
          </p:nvPr>
        </p:nvSpPr>
        <p:spPr>
          <a:xfrm>
            <a:off x="685800" y="1143000"/>
            <a:ext cx="5486040" cy="3085920"/>
          </a:xfrm>
          <a:prstGeom prst="rect">
            <a:avLst/>
          </a:prstGeom>
          <a:ln w="0">
            <a:noFill/>
          </a:ln>
        </p:spPr>
      </p:sp>
      <p:sp>
        <p:nvSpPr>
          <p:cNvPr id="47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475"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69D7CC7E-CEDB-47A0-ACB2-28174D4182F1}"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6" name="PlaceHolder 1"/>
          <p:cNvSpPr>
            <a:spLocks noGrp="1"/>
          </p:cNvSpPr>
          <p:nvPr>
            <p:ph type="sldImg"/>
          </p:nvPr>
        </p:nvSpPr>
        <p:spPr>
          <a:xfrm>
            <a:off x="685800" y="1143000"/>
            <a:ext cx="5486040" cy="3085920"/>
          </a:xfrm>
          <a:prstGeom prst="rect">
            <a:avLst/>
          </a:prstGeom>
          <a:ln w="0">
            <a:noFill/>
          </a:ln>
        </p:spPr>
      </p:sp>
      <p:sp>
        <p:nvSpPr>
          <p:cNvPr id="47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478"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F7013F2-6FEA-48B1-891A-12614B4E4083}"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9" name="PlaceHolder 1"/>
          <p:cNvSpPr>
            <a:spLocks noGrp="1"/>
          </p:cNvSpPr>
          <p:nvPr>
            <p:ph type="sldImg"/>
          </p:nvPr>
        </p:nvSpPr>
        <p:spPr>
          <a:xfrm>
            <a:off x="685800" y="1143000"/>
            <a:ext cx="5486040" cy="3085920"/>
          </a:xfrm>
          <a:prstGeom prst="rect">
            <a:avLst/>
          </a:prstGeom>
          <a:ln w="0">
            <a:noFill/>
          </a:ln>
        </p:spPr>
      </p:sp>
      <p:sp>
        <p:nvSpPr>
          <p:cNvPr id="48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481"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F86A287-DC7F-4171-BDDF-1AE0A73F5F94}"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sldImg"/>
          </p:nvPr>
        </p:nvSpPr>
        <p:spPr>
          <a:xfrm>
            <a:off x="685800" y="1143000"/>
            <a:ext cx="5486040" cy="3085920"/>
          </a:xfrm>
          <a:prstGeom prst="rect">
            <a:avLst/>
          </a:prstGeom>
          <a:ln w="0">
            <a:noFill/>
          </a:ln>
        </p:spPr>
      </p:sp>
      <p:sp>
        <p:nvSpPr>
          <p:cNvPr id="48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484"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2B83AFC-458C-4CA9-9267-AE7E1F4602D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5" name="PlaceHolder 1"/>
          <p:cNvSpPr>
            <a:spLocks noGrp="1"/>
          </p:cNvSpPr>
          <p:nvPr>
            <p:ph type="sldImg"/>
          </p:nvPr>
        </p:nvSpPr>
        <p:spPr>
          <a:xfrm>
            <a:off x="685800" y="1143000"/>
            <a:ext cx="5486040" cy="3085920"/>
          </a:xfrm>
          <a:prstGeom prst="rect">
            <a:avLst/>
          </a:prstGeom>
          <a:ln w="0">
            <a:noFill/>
          </a:ln>
        </p:spPr>
      </p:sp>
      <p:sp>
        <p:nvSpPr>
          <p:cNvPr id="48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487"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F81315C-50E6-4E20-80F0-F3FEE4706BB2}"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sldImg"/>
          </p:nvPr>
        </p:nvSpPr>
        <p:spPr>
          <a:xfrm>
            <a:off x="685800" y="1143000"/>
            <a:ext cx="5486040" cy="3085920"/>
          </a:xfrm>
          <a:prstGeom prst="rect">
            <a:avLst/>
          </a:prstGeom>
          <a:ln w="0">
            <a:noFill/>
          </a:ln>
        </p:spPr>
      </p:sp>
      <p:sp>
        <p:nvSpPr>
          <p:cNvPr id="48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490"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5BB362D5-B7A9-495B-9E55-9A385309A412}"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1" name="PlaceHolder 1"/>
          <p:cNvSpPr>
            <a:spLocks noGrp="1"/>
          </p:cNvSpPr>
          <p:nvPr>
            <p:ph type="sldImg"/>
          </p:nvPr>
        </p:nvSpPr>
        <p:spPr>
          <a:xfrm>
            <a:off x="685800" y="1143000"/>
            <a:ext cx="5486040" cy="3085920"/>
          </a:xfrm>
          <a:prstGeom prst="rect">
            <a:avLst/>
          </a:prstGeom>
          <a:ln w="0">
            <a:noFill/>
          </a:ln>
        </p:spPr>
      </p:sp>
      <p:sp>
        <p:nvSpPr>
          <p:cNvPr id="49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493"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E9DEF582-6F92-422D-BCC6-C518D9A94892}"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PlaceHolder 1"/>
          <p:cNvSpPr>
            <a:spLocks noGrp="1"/>
          </p:cNvSpPr>
          <p:nvPr>
            <p:ph type="sldImg"/>
          </p:nvPr>
        </p:nvSpPr>
        <p:spPr>
          <a:xfrm>
            <a:off x="685800" y="1143000"/>
            <a:ext cx="5486040" cy="3085920"/>
          </a:xfrm>
          <a:prstGeom prst="rect">
            <a:avLst/>
          </a:prstGeom>
          <a:ln w="0">
            <a:noFill/>
          </a:ln>
        </p:spPr>
      </p:sp>
      <p:sp>
        <p:nvSpPr>
          <p:cNvPr id="49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496"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5F3C06A1-60D4-4E54-AE22-7358053E176F}"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PlaceHolder 1"/>
          <p:cNvSpPr>
            <a:spLocks noGrp="1"/>
          </p:cNvSpPr>
          <p:nvPr>
            <p:ph type="sldImg"/>
          </p:nvPr>
        </p:nvSpPr>
        <p:spPr>
          <a:xfrm>
            <a:off x="685800" y="1143000"/>
            <a:ext cx="5486040" cy="3085920"/>
          </a:xfrm>
          <a:prstGeom prst="rect">
            <a:avLst/>
          </a:prstGeom>
          <a:ln w="0">
            <a:noFill/>
          </a:ln>
        </p:spPr>
      </p:sp>
      <p:sp>
        <p:nvSpPr>
          <p:cNvPr id="49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499"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A6AEB028-D6E3-4E36-8B4F-275D9607A032}"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0" name="PlaceHolder 1"/>
          <p:cNvSpPr>
            <a:spLocks noGrp="1"/>
          </p:cNvSpPr>
          <p:nvPr>
            <p:ph type="sldImg"/>
          </p:nvPr>
        </p:nvSpPr>
        <p:spPr>
          <a:xfrm>
            <a:off x="685800" y="1143000"/>
            <a:ext cx="5486040" cy="3085920"/>
          </a:xfrm>
          <a:prstGeom prst="rect">
            <a:avLst/>
          </a:prstGeom>
          <a:ln w="0">
            <a:noFill/>
          </a:ln>
        </p:spPr>
      </p:sp>
      <p:sp>
        <p:nvSpPr>
          <p:cNvPr id="50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02"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A150E609-B978-4038-81E8-4DCFB18DB2A1}"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3" name="PlaceHolder 1"/>
          <p:cNvSpPr>
            <a:spLocks noGrp="1"/>
          </p:cNvSpPr>
          <p:nvPr>
            <p:ph type="sldImg"/>
          </p:nvPr>
        </p:nvSpPr>
        <p:spPr>
          <a:xfrm>
            <a:off x="685800" y="1143000"/>
            <a:ext cx="5486040" cy="3085920"/>
          </a:xfrm>
          <a:prstGeom prst="rect">
            <a:avLst/>
          </a:prstGeom>
          <a:ln w="0">
            <a:noFill/>
          </a:ln>
        </p:spPr>
      </p:sp>
      <p:sp>
        <p:nvSpPr>
          <p:cNvPr id="50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05"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01DB2854-AE71-47FC-A875-507A5B969452}"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6" name="PlaceHolder 1"/>
          <p:cNvSpPr>
            <a:spLocks noGrp="1"/>
          </p:cNvSpPr>
          <p:nvPr>
            <p:ph type="sldImg"/>
          </p:nvPr>
        </p:nvSpPr>
        <p:spPr>
          <a:xfrm>
            <a:off x="685800" y="1143000"/>
            <a:ext cx="5486040" cy="3085920"/>
          </a:xfrm>
          <a:prstGeom prst="rect">
            <a:avLst/>
          </a:prstGeom>
          <a:ln w="0">
            <a:noFill/>
          </a:ln>
        </p:spPr>
      </p:sp>
      <p:sp>
        <p:nvSpPr>
          <p:cNvPr id="50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08"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FBDE444-D9FF-4542-9D95-256448111210}"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9" name="PlaceHolder 1"/>
          <p:cNvSpPr>
            <a:spLocks noGrp="1"/>
          </p:cNvSpPr>
          <p:nvPr>
            <p:ph type="sldImg"/>
          </p:nvPr>
        </p:nvSpPr>
        <p:spPr>
          <a:xfrm>
            <a:off x="685800" y="1143000"/>
            <a:ext cx="5486040" cy="3085920"/>
          </a:xfrm>
          <a:prstGeom prst="rect">
            <a:avLst/>
          </a:prstGeom>
          <a:ln w="0">
            <a:noFill/>
          </a:ln>
        </p:spPr>
      </p:sp>
      <p:sp>
        <p:nvSpPr>
          <p:cNvPr id="51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11"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D374703-4032-4FF4-84E8-46A29C81E8A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2" name="PlaceHolder 1"/>
          <p:cNvSpPr>
            <a:spLocks noGrp="1"/>
          </p:cNvSpPr>
          <p:nvPr>
            <p:ph type="sldImg"/>
          </p:nvPr>
        </p:nvSpPr>
        <p:spPr>
          <a:xfrm>
            <a:off x="685800" y="1143000"/>
            <a:ext cx="5486040" cy="3085920"/>
          </a:xfrm>
          <a:prstGeom prst="rect">
            <a:avLst/>
          </a:prstGeom>
          <a:ln w="0">
            <a:noFill/>
          </a:ln>
        </p:spPr>
      </p:sp>
      <p:sp>
        <p:nvSpPr>
          <p:cNvPr id="51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14" name="PlaceHolder 3"/>
          <p:cNvSpPr>
            <a:spLocks noGrp="1"/>
          </p:cNvSpPr>
          <p:nvPr>
            <p:ph type="sldNum" idx="1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C86A2909-524A-4E0D-AD37-2EB5225FCCEE}"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sldImg"/>
          </p:nvPr>
        </p:nvSpPr>
        <p:spPr>
          <a:xfrm>
            <a:off x="685800" y="1143000"/>
            <a:ext cx="5486040" cy="3085920"/>
          </a:xfrm>
          <a:prstGeom prst="rect">
            <a:avLst/>
          </a:prstGeom>
          <a:ln w="0">
            <a:noFill/>
          </a:ln>
        </p:spPr>
      </p:sp>
      <p:sp>
        <p:nvSpPr>
          <p:cNvPr id="51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17" name="PlaceHolder 3"/>
          <p:cNvSpPr>
            <a:spLocks noGrp="1"/>
          </p:cNvSpPr>
          <p:nvPr>
            <p:ph type="sldNum" idx="2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3F560B15-C12E-4A83-83EF-D61F3CBEB912}"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sldImg"/>
          </p:nvPr>
        </p:nvSpPr>
        <p:spPr>
          <a:xfrm>
            <a:off x="685800" y="1143000"/>
            <a:ext cx="5486040" cy="3085920"/>
          </a:xfrm>
          <a:prstGeom prst="rect">
            <a:avLst/>
          </a:prstGeom>
          <a:ln w="0">
            <a:noFill/>
          </a:ln>
        </p:spPr>
      </p:sp>
      <p:sp>
        <p:nvSpPr>
          <p:cNvPr id="51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20" name="PlaceHolder 3"/>
          <p:cNvSpPr>
            <a:spLocks noGrp="1"/>
          </p:cNvSpPr>
          <p:nvPr>
            <p:ph type="sldNum" idx="2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5DD7EDA7-52CF-46DD-8DFA-F87F96576D05}"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sldImg"/>
          </p:nvPr>
        </p:nvSpPr>
        <p:spPr>
          <a:xfrm>
            <a:off x="685800" y="1143000"/>
            <a:ext cx="5486040" cy="3085920"/>
          </a:xfrm>
          <a:prstGeom prst="rect">
            <a:avLst/>
          </a:prstGeom>
          <a:ln w="0">
            <a:noFill/>
          </a:ln>
        </p:spPr>
      </p:sp>
      <p:sp>
        <p:nvSpPr>
          <p:cNvPr id="52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23" name="PlaceHolder 3"/>
          <p:cNvSpPr>
            <a:spLocks noGrp="1"/>
          </p:cNvSpPr>
          <p:nvPr>
            <p:ph type="sldNum" idx="2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0AC56C0-03F9-4D26-8765-1AF6345DDF35}"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sldImg"/>
          </p:nvPr>
        </p:nvSpPr>
        <p:spPr>
          <a:xfrm>
            <a:off x="685800" y="1143000"/>
            <a:ext cx="5486040" cy="3085920"/>
          </a:xfrm>
          <a:prstGeom prst="rect">
            <a:avLst/>
          </a:prstGeom>
          <a:ln w="0">
            <a:noFill/>
          </a:ln>
        </p:spPr>
      </p:sp>
      <p:sp>
        <p:nvSpPr>
          <p:cNvPr id="52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26" name="PlaceHolder 3"/>
          <p:cNvSpPr>
            <a:spLocks noGrp="1"/>
          </p:cNvSpPr>
          <p:nvPr>
            <p:ph type="sldNum" idx="2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9BB29270-2D61-4B0D-AFE5-B776E3245409}"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7" name="PlaceHolder 1"/>
          <p:cNvSpPr>
            <a:spLocks noGrp="1"/>
          </p:cNvSpPr>
          <p:nvPr>
            <p:ph type="sldImg"/>
          </p:nvPr>
        </p:nvSpPr>
        <p:spPr>
          <a:xfrm>
            <a:off x="685800" y="1143000"/>
            <a:ext cx="5486040" cy="3085920"/>
          </a:xfrm>
          <a:prstGeom prst="rect">
            <a:avLst/>
          </a:prstGeom>
          <a:ln w="0">
            <a:noFill/>
          </a:ln>
        </p:spPr>
      </p:sp>
      <p:sp>
        <p:nvSpPr>
          <p:cNvPr id="52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29" name="PlaceHolder 3"/>
          <p:cNvSpPr>
            <a:spLocks noGrp="1"/>
          </p:cNvSpPr>
          <p:nvPr>
            <p:ph type="sldNum" idx="2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580D6467-D4DD-4810-98B7-0B0D9D4D243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sldImg"/>
          </p:nvPr>
        </p:nvSpPr>
        <p:spPr>
          <a:xfrm>
            <a:off x="685800" y="1143000"/>
            <a:ext cx="5486040" cy="3085920"/>
          </a:xfrm>
          <a:prstGeom prst="rect">
            <a:avLst/>
          </a:prstGeom>
          <a:ln w="0">
            <a:noFill/>
          </a:ln>
        </p:spPr>
      </p:sp>
      <p:sp>
        <p:nvSpPr>
          <p:cNvPr id="53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32" name="PlaceHolder 3"/>
          <p:cNvSpPr>
            <a:spLocks noGrp="1"/>
          </p:cNvSpPr>
          <p:nvPr>
            <p:ph type="sldNum" idx="2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6CD69895-2F87-42B3-B83A-AAD813361182}"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3" name="PlaceHolder 1"/>
          <p:cNvSpPr>
            <a:spLocks noGrp="1"/>
          </p:cNvSpPr>
          <p:nvPr>
            <p:ph type="sldImg"/>
          </p:nvPr>
        </p:nvSpPr>
        <p:spPr>
          <a:xfrm>
            <a:off x="685800" y="1143000"/>
            <a:ext cx="5486040" cy="3085920"/>
          </a:xfrm>
          <a:prstGeom prst="rect">
            <a:avLst/>
          </a:prstGeom>
          <a:ln w="0">
            <a:noFill/>
          </a:ln>
        </p:spPr>
      </p:sp>
      <p:sp>
        <p:nvSpPr>
          <p:cNvPr id="53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35" name="PlaceHolder 3"/>
          <p:cNvSpPr>
            <a:spLocks noGrp="1"/>
          </p:cNvSpPr>
          <p:nvPr>
            <p:ph type="sldNum" idx="2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E5498D7-CCE4-48C2-A653-DCFAE5AD674D}"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6" name="PlaceHolder 1"/>
          <p:cNvSpPr>
            <a:spLocks noGrp="1"/>
          </p:cNvSpPr>
          <p:nvPr>
            <p:ph type="sldImg"/>
          </p:nvPr>
        </p:nvSpPr>
        <p:spPr>
          <a:xfrm>
            <a:off x="685800" y="1143000"/>
            <a:ext cx="5486040" cy="3085920"/>
          </a:xfrm>
          <a:prstGeom prst="rect">
            <a:avLst/>
          </a:prstGeom>
          <a:ln w="0">
            <a:noFill/>
          </a:ln>
        </p:spPr>
      </p:sp>
      <p:sp>
        <p:nvSpPr>
          <p:cNvPr id="53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38" name="PlaceHolder 3"/>
          <p:cNvSpPr>
            <a:spLocks noGrp="1"/>
          </p:cNvSpPr>
          <p:nvPr>
            <p:ph type="sldNum" idx="2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213B98B1-C422-4F93-851C-4194AE1B7586}"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sldImg"/>
          </p:nvPr>
        </p:nvSpPr>
        <p:spPr>
          <a:xfrm>
            <a:off x="685800" y="1143000"/>
            <a:ext cx="5486040" cy="3085920"/>
          </a:xfrm>
          <a:prstGeom prst="rect">
            <a:avLst/>
          </a:prstGeom>
          <a:ln w="0">
            <a:noFill/>
          </a:ln>
        </p:spPr>
      </p:sp>
      <p:sp>
        <p:nvSpPr>
          <p:cNvPr id="54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41" name="PlaceHolder 3"/>
          <p:cNvSpPr>
            <a:spLocks noGrp="1"/>
          </p:cNvSpPr>
          <p:nvPr>
            <p:ph type="sldNum" idx="2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ABD9B236-B695-437E-A288-6D8D8CA6CDA7}"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2" name="PlaceHolder 1"/>
          <p:cNvSpPr>
            <a:spLocks noGrp="1"/>
          </p:cNvSpPr>
          <p:nvPr>
            <p:ph type="sldImg"/>
          </p:nvPr>
        </p:nvSpPr>
        <p:spPr>
          <a:xfrm>
            <a:off x="685800" y="1143000"/>
            <a:ext cx="5486040" cy="3085920"/>
          </a:xfrm>
          <a:prstGeom prst="rect">
            <a:avLst/>
          </a:prstGeom>
          <a:ln w="0">
            <a:noFill/>
          </a:ln>
        </p:spPr>
      </p:sp>
      <p:sp>
        <p:nvSpPr>
          <p:cNvPr id="54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44" name="PlaceHolder 3"/>
          <p:cNvSpPr>
            <a:spLocks noGrp="1"/>
          </p:cNvSpPr>
          <p:nvPr>
            <p:ph type="sldNum" idx="2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AFB0A4DC-91E7-4D64-BD14-C21D2A061725}"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5" name="PlaceHolder 1"/>
          <p:cNvSpPr>
            <a:spLocks noGrp="1"/>
          </p:cNvSpPr>
          <p:nvPr>
            <p:ph type="sldImg"/>
          </p:nvPr>
        </p:nvSpPr>
        <p:spPr>
          <a:xfrm>
            <a:off x="685800" y="1143000"/>
            <a:ext cx="5486040" cy="3085920"/>
          </a:xfrm>
          <a:prstGeom prst="rect">
            <a:avLst/>
          </a:prstGeom>
          <a:ln w="0">
            <a:noFill/>
          </a:ln>
        </p:spPr>
      </p:sp>
      <p:sp>
        <p:nvSpPr>
          <p:cNvPr id="54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47" name="PlaceHolder 3"/>
          <p:cNvSpPr>
            <a:spLocks noGrp="1"/>
          </p:cNvSpPr>
          <p:nvPr>
            <p:ph type="sldNum" idx="3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822926EB-06CA-49F2-9F66-A23389C38F83}"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sldImg"/>
          </p:nvPr>
        </p:nvSpPr>
        <p:spPr>
          <a:xfrm>
            <a:off x="685800" y="1143000"/>
            <a:ext cx="5486040" cy="3085920"/>
          </a:xfrm>
          <a:prstGeom prst="rect">
            <a:avLst/>
          </a:prstGeom>
          <a:ln w="0">
            <a:noFill/>
          </a:ln>
        </p:spPr>
      </p:sp>
      <p:sp>
        <p:nvSpPr>
          <p:cNvPr id="54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50" name="PlaceHolder 3"/>
          <p:cNvSpPr>
            <a:spLocks noGrp="1"/>
          </p:cNvSpPr>
          <p:nvPr>
            <p:ph type="sldNum" idx="3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B6ACFF09-F9A2-43A5-B454-E7597E77C39F}"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1" name="PlaceHolder 1"/>
          <p:cNvSpPr>
            <a:spLocks noGrp="1"/>
          </p:cNvSpPr>
          <p:nvPr>
            <p:ph type="sldImg"/>
          </p:nvPr>
        </p:nvSpPr>
        <p:spPr>
          <a:xfrm>
            <a:off x="685800" y="1143000"/>
            <a:ext cx="5486040" cy="3085920"/>
          </a:xfrm>
          <a:prstGeom prst="rect">
            <a:avLst/>
          </a:prstGeom>
          <a:ln w="0">
            <a:noFill/>
          </a:ln>
        </p:spPr>
      </p:sp>
      <p:sp>
        <p:nvSpPr>
          <p:cNvPr id="55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53" name="PlaceHolder 3"/>
          <p:cNvSpPr>
            <a:spLocks noGrp="1"/>
          </p:cNvSpPr>
          <p:nvPr>
            <p:ph type="sldNum" idx="3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F98B6A14-FE0E-4FCC-AAB0-6326EC811BDB}"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PlaceHolder 1"/>
          <p:cNvSpPr>
            <a:spLocks noGrp="1"/>
          </p:cNvSpPr>
          <p:nvPr>
            <p:ph type="sldImg"/>
          </p:nvPr>
        </p:nvSpPr>
        <p:spPr>
          <a:xfrm>
            <a:off x="685800" y="1143000"/>
            <a:ext cx="5486040" cy="3085920"/>
          </a:xfrm>
          <a:prstGeom prst="rect">
            <a:avLst/>
          </a:prstGeom>
          <a:ln w="0">
            <a:noFill/>
          </a:ln>
        </p:spPr>
      </p:sp>
      <p:sp>
        <p:nvSpPr>
          <p:cNvPr id="55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US" sz="1800" strike="noStrike" u="none">
              <a:solidFill>
                <a:srgbClr val="000000"/>
              </a:solidFill>
              <a:effectLst/>
              <a:uFillTx/>
              <a:latin typeface="Arial"/>
            </a:endParaRPr>
          </a:p>
        </p:txBody>
      </p:sp>
      <p:sp>
        <p:nvSpPr>
          <p:cNvPr id="556" name="PlaceHolder 3"/>
          <p:cNvSpPr>
            <a:spLocks noGrp="1"/>
          </p:cNvSpPr>
          <p:nvPr>
            <p:ph type="sldNum" idx="3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trike="noStrike" u="none">
                <a:solidFill>
                  <a:schemeClr val="dk1"/>
                </a:solidFill>
                <a:effectLst/>
                <a:uFillTx/>
                <a:latin typeface="+mn-lt"/>
                <a:ea typeface="+mn-ea"/>
              </a:defRPr>
            </a:lvl1pPr>
          </a:lstStyle>
          <a:p>
            <a:pPr indent="0" algn="r" defTabSz="914400">
              <a:lnSpc>
                <a:spcPct val="100000"/>
              </a:lnSpc>
              <a:buNone/>
            </a:pPr>
            <a:fld id="{4DFA3B5E-9D5C-4E22-9963-0DFD780E8B1A}" type="slidenum">
              <a:rPr b="0" lang="en-US" sz="1200" strike="noStrike" u="none">
                <a:solidFill>
                  <a:schemeClr val="dk1"/>
                </a:solidFill>
                <a:effectLst/>
                <a:uFillTx/>
                <a:latin typeface="+mn-lt"/>
                <a:ea typeface="+mn-ea"/>
              </a:rPr>
              <a:t>&lt;number&gt;</a:t>
            </a:fld>
            <a:endParaRPr b="0" lang="en-US"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Arial"/>
              </a:rPr>
              <a:t>Click to edit the title text format</a:t>
            </a:r>
            <a:endParaRPr b="0" lang="en-US" sz="1800" strike="noStrike" u="none">
              <a:solidFill>
                <a:schemeClr val="dk1"/>
              </a:solidFill>
              <a:effectLst/>
              <a:uFillTx/>
              <a:latin typeface="Arial"/>
            </a:endParaRPr>
          </a:p>
        </p:txBody>
      </p:sp>
      <p:sp>
        <p:nvSpPr>
          <p:cNvPr id="1"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Arial"/>
              </a:rPr>
              <a:t>Click to edit the outline text format</a:t>
            </a:r>
            <a:endParaRPr b="0" lang="en-US" sz="3200" strike="noStrike" u="none">
              <a:solidFill>
                <a:schemeClr val="dk1"/>
              </a:solidFill>
              <a:effectLst/>
              <a:uFillTx/>
              <a:latin typeface="Arial"/>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Arial"/>
              </a:rPr>
              <a:t>Second Outline Level</a:t>
            </a:r>
            <a:endParaRPr b="0" lang="en-US" sz="2400" strike="noStrike" u="none">
              <a:solidFill>
                <a:schemeClr val="dk1"/>
              </a:solidFill>
              <a:effectLst/>
              <a:uFillTx/>
              <a:latin typeface="Arial"/>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Arial"/>
              </a:rPr>
              <a:t>Third Outline Level</a:t>
            </a:r>
            <a:endParaRPr b="0" lang="en-US" sz="2000" strike="noStrike" u="none">
              <a:solidFill>
                <a:schemeClr val="dk1"/>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Arial"/>
              </a:rPr>
              <a:t>Fourth Outline Level</a:t>
            </a:r>
            <a:endParaRPr b="0" lang="en-US" sz="2000" strike="noStrike" u="none">
              <a:solidFill>
                <a:schemeClr val="dk1"/>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Fifth Outline Level</a:t>
            </a:r>
            <a:endParaRPr b="0" lang="en-US" sz="2000" strike="noStrike" u="none">
              <a:solidFill>
                <a:schemeClr val="dk1"/>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Sixth Outline Level</a:t>
            </a:r>
            <a:endParaRPr b="0" lang="en-US" sz="2000" strike="noStrike" u="none">
              <a:solidFill>
                <a:schemeClr val="dk1"/>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Arial"/>
              </a:rPr>
              <a:t>Seventh Outline Level</a:t>
            </a:r>
            <a:endParaRPr b="0" lang="en-US" sz="2000" strike="noStrike" u="non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png"/><Relationship Id="rId3" Type="http://schemas.openxmlformats.org/officeDocument/2006/relationships/slideLayout" Target="../slideLayouts/slideLayout1.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5.png"/><Relationship Id="rId3" Type="http://schemas.openxmlformats.org/officeDocument/2006/relationships/slideLayout" Target="../slideLayouts/slideLayout1.xml"/><Relationship Id="rId4"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slideLayout" Target="../slideLayouts/slideLayout1.xml"/><Relationship Id="rId5"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8.png"/><Relationship Id="rId3" Type="http://schemas.openxmlformats.org/officeDocument/2006/relationships/slideLayout" Target="../slideLayouts/slideLayout1.xml"/><Relationship Id="rId4"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8.png"/><Relationship Id="rId3" Type="http://schemas.openxmlformats.org/officeDocument/2006/relationships/slideLayout" Target="../slideLayouts/slideLayout1.xml"/><Relationship Id="rId4"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9.png"/><Relationship Id="rId3" Type="http://schemas.openxmlformats.org/officeDocument/2006/relationships/slideLayout" Target="../slideLayouts/slideLayout1.xml"/><Relationship Id="rId4"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0.png"/><Relationship Id="rId3" Type="http://schemas.openxmlformats.org/officeDocument/2006/relationships/slideLayout" Target="../slideLayouts/slideLayout1.xml"/><Relationship Id="rId4"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slideLayout" Target="../slideLayouts/slideLayout1.xml"/><Relationship Id="rId9"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slideLayout" Target="../slideLayouts/slideLayout1.xml"/><Relationship Id="rId6"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slideLayout" Target="../slideLayouts/slideLayout1.xml"/><Relationship Id="rId6"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5.png"/><Relationship Id="rId5" Type="http://schemas.openxmlformats.org/officeDocument/2006/relationships/slideLayout" Target="../slideLayouts/slideLayout1.xml"/><Relationship Id="rId6"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slideLayout" Target="../slideLayouts/slideLayout1.xml"/><Relationship Id="rId5"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3.png"/><Relationship Id="rId3" Type="http://schemas.openxmlformats.org/officeDocument/2006/relationships/slideLayout" Target="../slideLayouts/slideLayout1.xml"/><Relationship Id="rId4"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3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8" name="Image 0" descr="/mnt/data/docx_media/word/media/image1.png"/>
          <p:cNvPicPr/>
          <p:nvPr/>
        </p:nvPicPr>
        <p:blipFill>
          <a:blip r:embed="rId1"/>
          <a:stretch/>
        </p:blipFill>
        <p:spPr>
          <a:xfrm>
            <a:off x="530280" y="347400"/>
            <a:ext cx="502560" cy="502560"/>
          </a:xfrm>
          <a:prstGeom prst="rect">
            <a:avLst/>
          </a:prstGeom>
          <a:noFill/>
          <a:ln w="0">
            <a:noFill/>
          </a:ln>
        </p:spPr>
      </p:pic>
      <p:sp>
        <p:nvSpPr>
          <p:cNvPr id="9" name="Text 0"/>
          <p:cNvSpPr/>
          <p:nvPr/>
        </p:nvSpPr>
        <p:spPr>
          <a:xfrm>
            <a:off x="1325880" y="384120"/>
            <a:ext cx="40230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0b2d4d"/>
                </a:solidFill>
                <a:effectLst/>
                <a:uFillTx/>
                <a:latin typeface="Arial"/>
                <a:ea typeface="Arial"/>
              </a:rPr>
              <a:t>TRƯỜNG ĐẠI HỌC TRÀ VINH</a:t>
            </a:r>
            <a:endParaRPr b="0" lang="en-US" sz="800" strike="noStrike" u="none">
              <a:solidFill>
                <a:srgbClr val="000000"/>
              </a:solidFill>
              <a:effectLst/>
              <a:uFillTx/>
              <a:latin typeface="Arial"/>
            </a:endParaRPr>
          </a:p>
        </p:txBody>
      </p:sp>
      <p:sp>
        <p:nvSpPr>
          <p:cNvPr id="10" name="Text 1"/>
          <p:cNvSpPr/>
          <p:nvPr/>
        </p:nvSpPr>
        <p:spPr>
          <a:xfrm>
            <a:off x="1325880" y="621720"/>
            <a:ext cx="402300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0b2d4d"/>
                </a:solidFill>
                <a:effectLst/>
                <a:uFillTx/>
                <a:latin typeface="Arial"/>
                <a:ea typeface="Arial"/>
              </a:rPr>
              <a:t>TRƯỜNG KỸ THUẬT VÀ CÔNG NGHỆ</a:t>
            </a:r>
            <a:endParaRPr b="0" lang="en-US" sz="800" strike="noStrike" u="none">
              <a:solidFill>
                <a:srgbClr val="000000"/>
              </a:solidFill>
              <a:effectLst/>
              <a:uFillTx/>
              <a:latin typeface="Arial"/>
            </a:endParaRPr>
          </a:p>
        </p:txBody>
      </p:sp>
      <p:sp>
        <p:nvSpPr>
          <p:cNvPr id="11" name="Text 2"/>
          <p:cNvSpPr/>
          <p:nvPr/>
        </p:nvSpPr>
        <p:spPr>
          <a:xfrm>
            <a:off x="3794760" y="1572840"/>
            <a:ext cx="438876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500" strike="noStrike" u="none">
                <a:solidFill>
                  <a:srgbClr val="0b2d4d"/>
                </a:solidFill>
                <a:effectLst/>
                <a:uFillTx/>
                <a:latin typeface="Arial"/>
                <a:ea typeface="Arial"/>
              </a:rPr>
              <a:t>KHÓA LUẬN TỐT NGHIỆP</a:t>
            </a:r>
            <a:endParaRPr b="0" lang="en-US" sz="1500" strike="noStrike" u="none">
              <a:solidFill>
                <a:srgbClr val="000000"/>
              </a:solidFill>
              <a:effectLst/>
              <a:uFillTx/>
              <a:latin typeface="Arial"/>
            </a:endParaRPr>
          </a:p>
        </p:txBody>
      </p:sp>
      <p:sp>
        <p:nvSpPr>
          <p:cNvPr id="12" name="Text 3"/>
          <p:cNvSpPr/>
          <p:nvPr/>
        </p:nvSpPr>
        <p:spPr>
          <a:xfrm>
            <a:off x="2240280" y="2157840"/>
            <a:ext cx="7772040" cy="959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000" strike="noStrike" u="none">
                <a:solidFill>
                  <a:srgbClr val="0b2d4d"/>
                </a:solidFill>
                <a:effectLst/>
                <a:uFillTx/>
                <a:latin typeface="Arial"/>
                <a:ea typeface="Arial"/>
              </a:rPr>
              <a:t>XÂY DỰNG HỆ THỐNG QUẢN LÝ VÀ XÁC THỰC</a:t>
            </a:r>
            <a:endParaRPr b="0" lang="en-US" sz="2000" strike="noStrike" u="none">
              <a:solidFill>
                <a:srgbClr val="000000"/>
              </a:solidFill>
              <a:effectLst/>
              <a:uFillTx/>
              <a:latin typeface="Arial"/>
            </a:endParaRPr>
          </a:p>
          <a:p>
            <a:pPr algn="ctr" defTabSz="914400">
              <a:lnSpc>
                <a:spcPct val="100000"/>
              </a:lnSpc>
              <a:tabLst>
                <a:tab algn="l" pos="0"/>
              </a:tabLst>
            </a:pPr>
            <a:r>
              <a:rPr b="1" lang="en-US" sz="2000" strike="noStrike" u="none">
                <a:solidFill>
                  <a:srgbClr val="0b2d4d"/>
                </a:solidFill>
                <a:effectLst/>
                <a:uFillTx/>
                <a:latin typeface="Arial"/>
                <a:ea typeface="Arial"/>
              </a:rPr>
              <a:t>VĂN BẰNG, CHỨNG CHỈ SỐ DỰA TRÊN NỀN TẢNG</a:t>
            </a:r>
            <a:endParaRPr b="0" lang="en-US" sz="2000" strike="noStrike" u="none">
              <a:solidFill>
                <a:srgbClr val="000000"/>
              </a:solidFill>
              <a:effectLst/>
              <a:uFillTx/>
              <a:latin typeface="Arial"/>
            </a:endParaRPr>
          </a:p>
          <a:p>
            <a:pPr algn="ctr" defTabSz="914400">
              <a:lnSpc>
                <a:spcPct val="100000"/>
              </a:lnSpc>
              <a:tabLst>
                <a:tab algn="l" pos="0"/>
              </a:tabLst>
            </a:pPr>
            <a:r>
              <a:rPr b="1" lang="en-US" sz="2000" strike="noStrike" u="none">
                <a:solidFill>
                  <a:srgbClr val="0b2d4d"/>
                </a:solidFill>
                <a:effectLst/>
                <a:uFillTx/>
                <a:latin typeface="Arial"/>
                <a:ea typeface="Arial"/>
              </a:rPr>
              <a:t>BLOCKCHAIN</a:t>
            </a:r>
            <a:endParaRPr b="0" lang="en-US" sz="2000" strike="noStrike" u="none">
              <a:solidFill>
                <a:srgbClr val="000000"/>
              </a:solidFill>
              <a:effectLst/>
              <a:uFillTx/>
              <a:latin typeface="Arial"/>
            </a:endParaRPr>
          </a:p>
        </p:txBody>
      </p:sp>
      <p:sp>
        <p:nvSpPr>
          <p:cNvPr id="13" name="Text 4"/>
          <p:cNvSpPr/>
          <p:nvPr/>
        </p:nvSpPr>
        <p:spPr>
          <a:xfrm>
            <a:off x="2514600" y="3858840"/>
            <a:ext cx="3017160" cy="8683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100" strike="noStrike" u="none">
                <a:solidFill>
                  <a:srgbClr val="243447"/>
                </a:solidFill>
                <a:effectLst/>
                <a:uFillTx/>
                <a:latin typeface="Arial"/>
                <a:ea typeface="Arial"/>
              </a:rPr>
              <a:t>Sinh viên: Lâm Sơn Tùng</a:t>
            </a:r>
            <a:endParaRPr b="0" lang="en-US" sz="1100" strike="noStrike" u="none">
              <a:solidFill>
                <a:srgbClr val="000000"/>
              </a:solidFill>
              <a:effectLst/>
              <a:uFillTx/>
              <a:latin typeface="Arial"/>
            </a:endParaRPr>
          </a:p>
          <a:p>
            <a:pPr defTabSz="914400">
              <a:lnSpc>
                <a:spcPct val="100000"/>
              </a:lnSpc>
              <a:tabLst>
                <a:tab algn="l" pos="0"/>
              </a:tabLst>
            </a:pPr>
            <a:r>
              <a:rPr b="0" lang="en-US" sz="1100" strike="noStrike" u="none">
                <a:solidFill>
                  <a:srgbClr val="243447"/>
                </a:solidFill>
                <a:effectLst/>
                <a:uFillTx/>
                <a:latin typeface="Arial"/>
                <a:ea typeface="Arial"/>
              </a:rPr>
              <a:t>Lớp: DA21TTC</a:t>
            </a:r>
            <a:endParaRPr b="0" lang="en-US" sz="1100" strike="noStrike" u="none">
              <a:solidFill>
                <a:srgbClr val="000000"/>
              </a:solidFill>
              <a:effectLst/>
              <a:uFillTx/>
              <a:latin typeface="Arial"/>
            </a:endParaRPr>
          </a:p>
          <a:p>
            <a:pPr defTabSz="914400">
              <a:lnSpc>
                <a:spcPct val="100000"/>
              </a:lnSpc>
              <a:tabLst>
                <a:tab algn="l" pos="0"/>
              </a:tabLst>
            </a:pPr>
            <a:r>
              <a:rPr b="0" lang="en-US" sz="1100" strike="noStrike" u="none">
                <a:solidFill>
                  <a:srgbClr val="243447"/>
                </a:solidFill>
                <a:effectLst/>
                <a:uFillTx/>
                <a:latin typeface="Arial"/>
                <a:ea typeface="Arial"/>
              </a:rPr>
              <a:t>MSSV: 110121155</a:t>
            </a:r>
            <a:endParaRPr b="0" lang="en-US" sz="1100" strike="noStrike" u="none">
              <a:solidFill>
                <a:srgbClr val="000000"/>
              </a:solidFill>
              <a:effectLst/>
              <a:uFillTx/>
              <a:latin typeface="Arial"/>
            </a:endParaRPr>
          </a:p>
          <a:p>
            <a:pPr defTabSz="914400">
              <a:lnSpc>
                <a:spcPct val="100000"/>
              </a:lnSpc>
              <a:tabLst>
                <a:tab algn="l" pos="0"/>
              </a:tabLst>
            </a:pPr>
            <a:r>
              <a:rPr b="0" lang="en-US" sz="1100" strike="noStrike" u="none">
                <a:solidFill>
                  <a:srgbClr val="243447"/>
                </a:solidFill>
                <a:effectLst/>
                <a:uFillTx/>
                <a:latin typeface="Arial"/>
                <a:ea typeface="Arial"/>
              </a:rPr>
              <a:t>GVHD: …</a:t>
            </a:r>
            <a:endParaRPr b="0" lang="en-US" sz="1100" strike="noStrike" u="none">
              <a:solidFill>
                <a:srgbClr val="000000"/>
              </a:solidFill>
              <a:effectLst/>
              <a:uFillTx/>
              <a:latin typeface="Arial"/>
            </a:endParaRPr>
          </a:p>
        </p:txBody>
      </p:sp>
      <p:pic>
        <p:nvPicPr>
          <p:cNvPr id="14" name="Image 1" descr="/mnt/data/docx_media/word/media/image8.png"/>
          <p:cNvPicPr/>
          <p:nvPr/>
        </p:nvPicPr>
        <p:blipFill>
          <a:blip r:embed="rId2"/>
          <a:stretch/>
        </p:blipFill>
        <p:spPr>
          <a:xfrm>
            <a:off x="7104960" y="3611880"/>
            <a:ext cx="3026520" cy="1782720"/>
          </a:xfrm>
          <a:prstGeom prst="rect">
            <a:avLst/>
          </a:prstGeom>
          <a:noFill/>
          <a:ln w="0">
            <a:noFill/>
          </a:ln>
        </p:spPr>
      </p:pic>
      <p:sp>
        <p:nvSpPr>
          <p:cNvPr id="15" name="Text 5"/>
          <p:cNvSpPr/>
          <p:nvPr/>
        </p:nvSpPr>
        <p:spPr>
          <a:xfrm>
            <a:off x="4114800" y="5989320"/>
            <a:ext cx="393156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00" strike="noStrike" u="none">
                <a:solidFill>
                  <a:srgbClr val="0b2d4d"/>
                </a:solidFill>
                <a:effectLst/>
                <a:uFillTx/>
                <a:latin typeface="Arial"/>
                <a:ea typeface="Arial"/>
              </a:rPr>
              <a:t>Vĩnh Long, năm 2026</a:t>
            </a:r>
            <a:endParaRPr b="0" lang="en-US" sz="1000" strike="noStrike" u="none">
              <a:solidFill>
                <a:srgbClr val="000000"/>
              </a:solidFill>
              <a:effectLst/>
              <a:uFillTx/>
              <a:latin typeface="Arial"/>
            </a:endParaRPr>
          </a:p>
        </p:txBody>
      </p:sp>
      <p:sp>
        <p:nvSpPr>
          <p:cNvPr id="16" name="Shape 6"/>
          <p:cNvSpPr/>
          <p:nvPr/>
        </p:nvSpPr>
        <p:spPr>
          <a:xfrm>
            <a:off x="9921240" y="1188720"/>
            <a:ext cx="822600" cy="822600"/>
          </a:xfrm>
          <a:prstGeom prst="hexagon">
            <a:avLst>
              <a:gd name="adj" fmla="val 25000"/>
              <a:gd name="vf" fmla="val 115470"/>
            </a:avLst>
          </a:prstGeom>
          <a:solidFill>
            <a:srgbClr val="f6b76e">
              <a:alpha val="88000"/>
            </a:srgbClr>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7" name="Shape 7"/>
          <p:cNvSpPr/>
          <p:nvPr/>
        </p:nvSpPr>
        <p:spPr>
          <a:xfrm>
            <a:off x="10927080" y="868680"/>
            <a:ext cx="548280" cy="548280"/>
          </a:xfrm>
          <a:prstGeom prst="hexagon">
            <a:avLst>
              <a:gd name="adj" fmla="val 25000"/>
              <a:gd name="vf" fmla="val 115470"/>
            </a:avLst>
          </a:prstGeom>
          <a:solidFill>
            <a:srgbClr val="afc3d8"/>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 name="Shape 8"/>
          <p:cNvSpPr/>
          <p:nvPr/>
        </p:nvSpPr>
        <p:spPr>
          <a:xfrm>
            <a:off x="10972800" y="2240280"/>
            <a:ext cx="319680" cy="319680"/>
          </a:xfrm>
          <a:prstGeom prst="hexagon">
            <a:avLst>
              <a:gd name="adj" fmla="val 25000"/>
              <a:gd name="vf" fmla="val 115470"/>
            </a:avLst>
          </a:prstGeom>
          <a:solidFill>
            <a:srgbClr val="ffe5c2"/>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 name="Shape 9"/>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0" name="Text 10"/>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KHÓA LUẬN TỐT NGHIỆP NGÀNH CÔNG NGHỆ THÔNG TIN</a:t>
            </a:r>
            <a:endParaRPr b="0" lang="en-US" sz="419" strike="noStrike" u="none">
              <a:solidFill>
                <a:srgbClr val="000000"/>
              </a:solidFill>
              <a:effectLst/>
              <a:uFillTx/>
              <a:latin typeface="Arial"/>
            </a:endParaRPr>
          </a:p>
        </p:txBody>
      </p:sp>
      <p:sp>
        <p:nvSpPr>
          <p:cNvPr id="21" name="Text 11"/>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1</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pic>
        <p:nvPicPr>
          <p:cNvPr id="22"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23" name="Text 0"/>
          <p:cNvSpPr/>
          <p:nvPr/>
        </p:nvSpPr>
        <p:spPr>
          <a:xfrm>
            <a:off x="914400" y="2103120"/>
            <a:ext cx="20113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500" strike="noStrike" u="none">
                <a:solidFill>
                  <a:srgbClr val="0b2d4d"/>
                </a:solidFill>
                <a:effectLst/>
                <a:uFillTx/>
                <a:latin typeface="Arial"/>
                <a:ea typeface="Arial"/>
              </a:rPr>
              <a:t>NỘI DUNG</a:t>
            </a:r>
            <a:endParaRPr b="0" lang="en-US" sz="2500" strike="noStrike" u="none">
              <a:solidFill>
                <a:srgbClr val="000000"/>
              </a:solidFill>
              <a:effectLst/>
              <a:uFillTx/>
              <a:latin typeface="Arial"/>
            </a:endParaRPr>
          </a:p>
        </p:txBody>
      </p:sp>
      <p:sp>
        <p:nvSpPr>
          <p:cNvPr id="24" name="Shape 1"/>
          <p:cNvSpPr/>
          <p:nvPr/>
        </p:nvSpPr>
        <p:spPr>
          <a:xfrm>
            <a:off x="5577840" y="932760"/>
            <a:ext cx="1234080" cy="914040"/>
          </a:xfrm>
          <a:prstGeom prst="hexagon">
            <a:avLst>
              <a:gd name="adj" fmla="val 25000"/>
              <a:gd name="vf" fmla="val 115470"/>
            </a:avLst>
          </a:prstGeom>
          <a:solidFill>
            <a:srgbClr val="f6b76e"/>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 name="Text 2"/>
          <p:cNvSpPr/>
          <p:nvPr/>
        </p:nvSpPr>
        <p:spPr>
          <a:xfrm>
            <a:off x="5696640" y="1134000"/>
            <a:ext cx="10054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0b2d4d"/>
                </a:solidFill>
                <a:effectLst/>
                <a:uFillTx/>
                <a:latin typeface="Arial"/>
                <a:ea typeface="Arial"/>
              </a:rPr>
              <a:t>1. TỔNG QUAN ĐỀ TÀI</a:t>
            </a:r>
            <a:endParaRPr b="0" lang="en-US" sz="900" strike="noStrike" u="none">
              <a:solidFill>
                <a:srgbClr val="000000"/>
              </a:solidFill>
              <a:effectLst/>
              <a:uFillTx/>
              <a:latin typeface="Arial"/>
            </a:endParaRPr>
          </a:p>
        </p:txBody>
      </p:sp>
      <p:sp>
        <p:nvSpPr>
          <p:cNvPr id="26" name="Text 3"/>
          <p:cNvSpPr/>
          <p:nvPr/>
        </p:nvSpPr>
        <p:spPr>
          <a:xfrm>
            <a:off x="6903720" y="1078920"/>
            <a:ext cx="205704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trike="noStrike" u="none">
                <a:solidFill>
                  <a:srgbClr val="243447"/>
                </a:solidFill>
                <a:effectLst/>
                <a:uFillTx/>
                <a:latin typeface="Arial"/>
                <a:ea typeface="Arial"/>
              </a:rPr>
              <a:t>Bối cảnh, mục tiêu và phương pháp nghiên cứu</a:t>
            </a:r>
            <a:endParaRPr b="0" lang="en-US" sz="850" strike="noStrike" u="none">
              <a:solidFill>
                <a:srgbClr val="000000"/>
              </a:solidFill>
              <a:effectLst/>
              <a:uFillTx/>
              <a:latin typeface="Arial"/>
            </a:endParaRPr>
          </a:p>
        </p:txBody>
      </p:sp>
      <p:sp>
        <p:nvSpPr>
          <p:cNvPr id="27" name="Shape 4"/>
          <p:cNvSpPr/>
          <p:nvPr/>
        </p:nvSpPr>
        <p:spPr>
          <a:xfrm>
            <a:off x="7269480" y="1892880"/>
            <a:ext cx="1234080" cy="914040"/>
          </a:xfrm>
          <a:prstGeom prst="hexagon">
            <a:avLst>
              <a:gd name="adj" fmla="val 25000"/>
              <a:gd name="vf" fmla="val 115470"/>
            </a:avLst>
          </a:prstGeom>
          <a:solidFill>
            <a:srgbClr val="afc3d8">
              <a:alpha val="80000"/>
            </a:srgbClr>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 name="Text 5"/>
          <p:cNvSpPr/>
          <p:nvPr/>
        </p:nvSpPr>
        <p:spPr>
          <a:xfrm>
            <a:off x="7388280" y="2094120"/>
            <a:ext cx="10054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0b2d4d"/>
                </a:solidFill>
                <a:effectLst/>
                <a:uFillTx/>
                <a:latin typeface="Arial"/>
                <a:ea typeface="Arial"/>
              </a:rPr>
              <a:t>2. CƠ SỞ LÝ THUYẾT</a:t>
            </a:r>
            <a:endParaRPr b="0" lang="en-US" sz="900" strike="noStrike" u="none">
              <a:solidFill>
                <a:srgbClr val="000000"/>
              </a:solidFill>
              <a:effectLst/>
              <a:uFillTx/>
              <a:latin typeface="Arial"/>
            </a:endParaRPr>
          </a:p>
        </p:txBody>
      </p:sp>
      <p:sp>
        <p:nvSpPr>
          <p:cNvPr id="29" name="Text 6"/>
          <p:cNvSpPr/>
          <p:nvPr/>
        </p:nvSpPr>
        <p:spPr>
          <a:xfrm>
            <a:off x="8595360" y="2039040"/>
            <a:ext cx="205704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trike="noStrike" u="none">
                <a:solidFill>
                  <a:srgbClr val="243447"/>
                </a:solidFill>
                <a:effectLst/>
                <a:uFillTx/>
                <a:latin typeface="Arial"/>
                <a:ea typeface="Arial"/>
              </a:rPr>
              <a:t>Văn bằng số, hash, Blockchain và công nghệ triển khai</a:t>
            </a:r>
            <a:endParaRPr b="0" lang="en-US" sz="850" strike="noStrike" u="none">
              <a:solidFill>
                <a:srgbClr val="000000"/>
              </a:solidFill>
              <a:effectLst/>
              <a:uFillTx/>
              <a:latin typeface="Arial"/>
            </a:endParaRPr>
          </a:p>
        </p:txBody>
      </p:sp>
      <p:sp>
        <p:nvSpPr>
          <p:cNvPr id="30" name="Shape 7"/>
          <p:cNvSpPr/>
          <p:nvPr/>
        </p:nvSpPr>
        <p:spPr>
          <a:xfrm>
            <a:off x="5577840" y="2853000"/>
            <a:ext cx="1234080" cy="914040"/>
          </a:xfrm>
          <a:prstGeom prst="hexagon">
            <a:avLst>
              <a:gd name="adj" fmla="val 25000"/>
              <a:gd name="vf" fmla="val 115470"/>
            </a:avLst>
          </a:prstGeom>
          <a:solidFill>
            <a:srgbClr val="f6b76e"/>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1" name="Text 8"/>
          <p:cNvSpPr/>
          <p:nvPr/>
        </p:nvSpPr>
        <p:spPr>
          <a:xfrm>
            <a:off x="5696640" y="3054240"/>
            <a:ext cx="1005480" cy="319680"/>
          </a:xfrm>
          <a:prstGeom prst="rect">
            <a:avLst/>
          </a:prstGeom>
          <a:noFill/>
          <a:ln w="0">
            <a:noFill/>
          </a:ln>
        </p:spPr>
        <p:style>
          <a:lnRef idx="0"/>
          <a:fillRef idx="0"/>
          <a:effectRef idx="0"/>
          <a:fontRef idx="minor"/>
        </p:style>
        <p:txBody>
          <a:bodyPr lIns="0" rIns="0" tIns="0" bIns="0" anchor="ctr">
            <a:normAutofit fontScale="92500" lnSpcReduction="9999"/>
          </a:bodyPr>
          <a:p>
            <a:pPr algn="ctr" defTabSz="914400">
              <a:lnSpc>
                <a:spcPct val="100000"/>
              </a:lnSpc>
              <a:tabLst>
                <a:tab algn="l" pos="0"/>
              </a:tabLst>
            </a:pPr>
            <a:r>
              <a:rPr b="1" lang="en-US" sz="900" strike="noStrike" u="none">
                <a:solidFill>
                  <a:srgbClr val="0b2d4d"/>
                </a:solidFill>
                <a:effectLst/>
                <a:uFillTx/>
                <a:latin typeface="Arial"/>
                <a:ea typeface="Arial"/>
              </a:rPr>
              <a:t>3. PHÂN TÍCH THIẾT KẾ HỆ THỐNG</a:t>
            </a:r>
            <a:endParaRPr b="0" lang="en-US" sz="900" strike="noStrike" u="none">
              <a:solidFill>
                <a:srgbClr val="000000"/>
              </a:solidFill>
              <a:effectLst/>
              <a:uFillTx/>
              <a:latin typeface="Arial"/>
            </a:endParaRPr>
          </a:p>
        </p:txBody>
      </p:sp>
      <p:sp>
        <p:nvSpPr>
          <p:cNvPr id="32" name="Text 9"/>
          <p:cNvSpPr/>
          <p:nvPr/>
        </p:nvSpPr>
        <p:spPr>
          <a:xfrm>
            <a:off x="6903720" y="2999160"/>
            <a:ext cx="205704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trike="noStrike" u="none">
                <a:solidFill>
                  <a:srgbClr val="243447"/>
                </a:solidFill>
                <a:effectLst/>
                <a:uFillTx/>
                <a:latin typeface="Arial"/>
                <a:ea typeface="Arial"/>
              </a:rPr>
              <a:t>Yêu cầu, mô hình đề xuất, cơ sở dữ liệu và luồng nghiệp vụ</a:t>
            </a:r>
            <a:endParaRPr b="0" lang="en-US" sz="850" strike="noStrike" u="none">
              <a:solidFill>
                <a:srgbClr val="000000"/>
              </a:solidFill>
              <a:effectLst/>
              <a:uFillTx/>
              <a:latin typeface="Arial"/>
            </a:endParaRPr>
          </a:p>
        </p:txBody>
      </p:sp>
      <p:sp>
        <p:nvSpPr>
          <p:cNvPr id="33" name="Shape 10"/>
          <p:cNvSpPr/>
          <p:nvPr/>
        </p:nvSpPr>
        <p:spPr>
          <a:xfrm>
            <a:off x="7269480" y="3813120"/>
            <a:ext cx="1234080" cy="914040"/>
          </a:xfrm>
          <a:prstGeom prst="hexagon">
            <a:avLst>
              <a:gd name="adj" fmla="val 25000"/>
              <a:gd name="vf" fmla="val 115470"/>
            </a:avLst>
          </a:prstGeom>
          <a:solidFill>
            <a:srgbClr val="afc3d8">
              <a:alpha val="80000"/>
            </a:srgbClr>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 name="Text 11"/>
          <p:cNvSpPr/>
          <p:nvPr/>
        </p:nvSpPr>
        <p:spPr>
          <a:xfrm>
            <a:off x="7388280" y="4014360"/>
            <a:ext cx="1005480" cy="319680"/>
          </a:xfrm>
          <a:prstGeom prst="rect">
            <a:avLst/>
          </a:prstGeom>
          <a:noFill/>
          <a:ln w="0">
            <a:noFill/>
          </a:ln>
        </p:spPr>
        <p:style>
          <a:lnRef idx="0"/>
          <a:fillRef idx="0"/>
          <a:effectRef idx="0"/>
          <a:fontRef idx="minor"/>
        </p:style>
        <p:txBody>
          <a:bodyPr lIns="0" rIns="0" tIns="0" bIns="0" anchor="ctr">
            <a:normAutofit fontScale="92500" lnSpcReduction="9999"/>
          </a:bodyPr>
          <a:p>
            <a:pPr algn="ctr" defTabSz="914400">
              <a:lnSpc>
                <a:spcPct val="100000"/>
              </a:lnSpc>
              <a:tabLst>
                <a:tab algn="l" pos="0"/>
              </a:tabLst>
            </a:pPr>
            <a:r>
              <a:rPr b="1" lang="en-US" sz="900" strike="noStrike" u="none">
                <a:solidFill>
                  <a:srgbClr val="0b2d4d"/>
                </a:solidFill>
                <a:effectLst/>
                <a:uFillTx/>
                <a:latin typeface="Arial"/>
                <a:ea typeface="Arial"/>
              </a:rPr>
              <a:t>4. HIỆN THỰC HÓA NGHIÊN CỨU</a:t>
            </a:r>
            <a:endParaRPr b="0" lang="en-US" sz="900" strike="noStrike" u="none">
              <a:solidFill>
                <a:srgbClr val="000000"/>
              </a:solidFill>
              <a:effectLst/>
              <a:uFillTx/>
              <a:latin typeface="Arial"/>
            </a:endParaRPr>
          </a:p>
        </p:txBody>
      </p:sp>
      <p:sp>
        <p:nvSpPr>
          <p:cNvPr id="35" name="Text 12"/>
          <p:cNvSpPr/>
          <p:nvPr/>
        </p:nvSpPr>
        <p:spPr>
          <a:xfrm>
            <a:off x="8595360" y="3959280"/>
            <a:ext cx="205704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trike="noStrike" u="none">
                <a:solidFill>
                  <a:srgbClr val="243447"/>
                </a:solidFill>
                <a:effectLst/>
                <a:uFillTx/>
                <a:latin typeface="Arial"/>
                <a:ea typeface="Arial"/>
              </a:rPr>
              <a:t>Dữ liệu, giao diện và chức năng nghiệp vụ</a:t>
            </a:r>
            <a:endParaRPr b="0" lang="en-US" sz="850" strike="noStrike" u="none">
              <a:solidFill>
                <a:srgbClr val="000000"/>
              </a:solidFill>
              <a:effectLst/>
              <a:uFillTx/>
              <a:latin typeface="Arial"/>
            </a:endParaRPr>
          </a:p>
        </p:txBody>
      </p:sp>
      <p:sp>
        <p:nvSpPr>
          <p:cNvPr id="36" name="Shape 13"/>
          <p:cNvSpPr/>
          <p:nvPr/>
        </p:nvSpPr>
        <p:spPr>
          <a:xfrm>
            <a:off x="5577840" y="4773240"/>
            <a:ext cx="1234080" cy="914040"/>
          </a:xfrm>
          <a:prstGeom prst="hexagon">
            <a:avLst>
              <a:gd name="adj" fmla="val 25000"/>
              <a:gd name="vf" fmla="val 115470"/>
            </a:avLst>
          </a:prstGeom>
          <a:solidFill>
            <a:srgbClr val="f6b76e"/>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7" name="Text 14"/>
          <p:cNvSpPr/>
          <p:nvPr/>
        </p:nvSpPr>
        <p:spPr>
          <a:xfrm>
            <a:off x="5696640" y="4974480"/>
            <a:ext cx="100548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00" strike="noStrike" u="none">
                <a:solidFill>
                  <a:srgbClr val="0b2d4d"/>
                </a:solidFill>
                <a:effectLst/>
                <a:uFillTx/>
                <a:latin typeface="Arial"/>
                <a:ea typeface="Arial"/>
              </a:rPr>
              <a:t>5. KẾT LUẬN VÀ PHÁT TRIỂN</a:t>
            </a:r>
            <a:endParaRPr b="0" lang="en-US" sz="900" strike="noStrike" u="none">
              <a:solidFill>
                <a:srgbClr val="000000"/>
              </a:solidFill>
              <a:effectLst/>
              <a:uFillTx/>
              <a:latin typeface="Arial"/>
            </a:endParaRPr>
          </a:p>
        </p:txBody>
      </p:sp>
      <p:sp>
        <p:nvSpPr>
          <p:cNvPr id="38" name="Text 15"/>
          <p:cNvSpPr/>
          <p:nvPr/>
        </p:nvSpPr>
        <p:spPr>
          <a:xfrm>
            <a:off x="6903720" y="4919400"/>
            <a:ext cx="2057040" cy="420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850" strike="noStrike" u="none">
                <a:solidFill>
                  <a:srgbClr val="243447"/>
                </a:solidFill>
                <a:effectLst/>
                <a:uFillTx/>
                <a:latin typeface="Arial"/>
                <a:ea typeface="Arial"/>
              </a:rPr>
              <a:t>Kết quả đạt được, hạn chế và hướng mở rộng</a:t>
            </a:r>
            <a:endParaRPr b="0" lang="en-US" sz="850" strike="noStrike" u="none">
              <a:solidFill>
                <a:srgbClr val="000000"/>
              </a:solidFill>
              <a:effectLst/>
              <a:uFillTx/>
              <a:latin typeface="Arial"/>
            </a:endParaRPr>
          </a:p>
        </p:txBody>
      </p:sp>
      <p:sp>
        <p:nvSpPr>
          <p:cNvPr id="39" name="Shape 16"/>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0" name="Text 17"/>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41" name="Text 18"/>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2</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Shape 0"/>
          <p:cNvSpPr/>
          <p:nvPr/>
        </p:nvSpPr>
        <p:spPr>
          <a:xfrm>
            <a:off x="9829800" y="502920"/>
            <a:ext cx="868320" cy="868320"/>
          </a:xfrm>
          <a:prstGeom prst="hexagon">
            <a:avLst>
              <a:gd name="adj" fmla="val 25000"/>
              <a:gd name="vf" fmla="val 115470"/>
            </a:avLst>
          </a:prstGeom>
          <a:solidFill>
            <a:srgbClr val="f6b76e">
              <a:alpha val="90000"/>
            </a:srgbClr>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3" name="Shape 1"/>
          <p:cNvSpPr/>
          <p:nvPr/>
        </p:nvSpPr>
        <p:spPr>
          <a:xfrm>
            <a:off x="10835640" y="320040"/>
            <a:ext cx="502560" cy="502560"/>
          </a:xfrm>
          <a:prstGeom prst="hexagon">
            <a:avLst>
              <a:gd name="adj" fmla="val 25000"/>
              <a:gd name="vf" fmla="val 115470"/>
            </a:avLst>
          </a:prstGeom>
          <a:solidFill>
            <a:srgbClr val="afc3d8"/>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4" name="Shape 2"/>
          <p:cNvSpPr/>
          <p:nvPr/>
        </p:nvSpPr>
        <p:spPr>
          <a:xfrm>
            <a:off x="9144000" y="1417320"/>
            <a:ext cx="383760" cy="383760"/>
          </a:xfrm>
          <a:prstGeom prst="hexagon">
            <a:avLst>
              <a:gd name="adj" fmla="val 25000"/>
              <a:gd name="vf" fmla="val 115470"/>
            </a:avLst>
          </a:prstGeom>
          <a:noFill/>
          <a:ln w="12700">
            <a:solidFill>
              <a:srgbClr val="afc3d8">
                <a:alpha val="8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 name="Shape 3"/>
          <p:cNvSpPr/>
          <p:nvPr/>
        </p:nvSpPr>
        <p:spPr>
          <a:xfrm>
            <a:off x="10607040" y="1737360"/>
            <a:ext cx="319680" cy="319680"/>
          </a:xfrm>
          <a:prstGeom prst="hexagon">
            <a:avLst>
              <a:gd name="adj" fmla="val 25000"/>
              <a:gd name="vf" fmla="val 115470"/>
            </a:avLst>
          </a:prstGeom>
          <a:solidFill>
            <a:srgbClr val="ffe5c2"/>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46"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47" name="Text 4"/>
          <p:cNvSpPr/>
          <p:nvPr/>
        </p:nvSpPr>
        <p:spPr>
          <a:xfrm>
            <a:off x="2148840" y="1965960"/>
            <a:ext cx="4663080" cy="11426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300" strike="noStrike" u="none">
                <a:solidFill>
                  <a:srgbClr val="0b2d4d"/>
                </a:solidFill>
                <a:effectLst/>
                <a:uFillTx/>
                <a:latin typeface="Arial"/>
                <a:ea typeface="Arial"/>
              </a:rPr>
              <a:t>XÂY DỰNG HỆ THỐNG QUẢN LÝ</a:t>
            </a:r>
            <a:endParaRPr b="0" lang="en-US" sz="2300" strike="noStrike" u="none">
              <a:solidFill>
                <a:srgbClr val="000000"/>
              </a:solidFill>
              <a:effectLst/>
              <a:uFillTx/>
              <a:latin typeface="Arial"/>
            </a:endParaRPr>
          </a:p>
          <a:p>
            <a:pPr algn="ctr" defTabSz="914400">
              <a:lnSpc>
                <a:spcPct val="100000"/>
              </a:lnSpc>
              <a:tabLst>
                <a:tab algn="l" pos="0"/>
              </a:tabLst>
            </a:pPr>
            <a:r>
              <a:rPr b="1" lang="en-US" sz="2300" strike="noStrike" u="none">
                <a:solidFill>
                  <a:srgbClr val="0b2d4d"/>
                </a:solidFill>
                <a:effectLst/>
                <a:uFillTx/>
                <a:latin typeface="Arial"/>
                <a:ea typeface="Arial"/>
              </a:rPr>
              <a:t>VÀ XÁC THỰC VĂN BẰNG SỐ</a:t>
            </a:r>
            <a:endParaRPr b="0" lang="en-US" sz="2300" strike="noStrike" u="none">
              <a:solidFill>
                <a:srgbClr val="000000"/>
              </a:solidFill>
              <a:effectLst/>
              <a:uFillTx/>
              <a:latin typeface="Arial"/>
            </a:endParaRPr>
          </a:p>
          <a:p>
            <a:pPr algn="ctr" defTabSz="914400">
              <a:lnSpc>
                <a:spcPct val="100000"/>
              </a:lnSpc>
              <a:tabLst>
                <a:tab algn="l" pos="0"/>
              </a:tabLst>
            </a:pPr>
            <a:r>
              <a:rPr b="1" lang="en-US" sz="2300" strike="noStrike" u="none">
                <a:solidFill>
                  <a:srgbClr val="0b2d4d"/>
                </a:solidFill>
                <a:effectLst/>
                <a:uFillTx/>
                <a:latin typeface="Arial"/>
                <a:ea typeface="Arial"/>
              </a:rPr>
              <a:t>DỰA TRÊN BLOCKCHAIN</a:t>
            </a:r>
            <a:endParaRPr b="0" lang="en-US" sz="2300" strike="noStrike" u="none">
              <a:solidFill>
                <a:srgbClr val="000000"/>
              </a:solidFill>
              <a:effectLst/>
              <a:uFillTx/>
              <a:latin typeface="Arial"/>
            </a:endParaRPr>
          </a:p>
        </p:txBody>
      </p:sp>
      <p:sp>
        <p:nvSpPr>
          <p:cNvPr id="48" name="Text 5"/>
          <p:cNvSpPr/>
          <p:nvPr/>
        </p:nvSpPr>
        <p:spPr>
          <a:xfrm>
            <a:off x="2788920" y="3291840"/>
            <a:ext cx="3840120" cy="2282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f6b76e"/>
                </a:solidFill>
                <a:effectLst/>
                <a:uFillTx/>
                <a:latin typeface="Arial"/>
                <a:ea typeface="Arial"/>
              </a:rPr>
              <a:t>Sử dụng React, Express/Node.js, MongoDB, Solidity và ethers.js</a:t>
            </a:r>
            <a:endParaRPr b="0" lang="en-US" sz="920" strike="noStrike" u="none">
              <a:solidFill>
                <a:srgbClr val="000000"/>
              </a:solidFill>
              <a:effectLst/>
              <a:uFillTx/>
              <a:latin typeface="Arial"/>
            </a:endParaRPr>
          </a:p>
        </p:txBody>
      </p:sp>
      <p:pic>
        <p:nvPicPr>
          <p:cNvPr id="49" name="Image 1" descr="/mnt/data/docx_media/word/media/image24.png"/>
          <p:cNvPicPr/>
          <p:nvPr/>
        </p:nvPicPr>
        <p:blipFill>
          <a:blip r:embed="rId2"/>
          <a:stretch/>
        </p:blipFill>
        <p:spPr>
          <a:xfrm>
            <a:off x="7589520" y="1770480"/>
            <a:ext cx="3017160" cy="1442520"/>
          </a:xfrm>
          <a:prstGeom prst="rect">
            <a:avLst/>
          </a:prstGeom>
          <a:noFill/>
          <a:ln w="0">
            <a:noFill/>
          </a:ln>
        </p:spPr>
      </p:pic>
      <p:pic>
        <p:nvPicPr>
          <p:cNvPr id="50" name="Image 2" descr="/mnt/data/docx_media/word/media/image8.png"/>
          <p:cNvPicPr/>
          <p:nvPr/>
        </p:nvPicPr>
        <p:blipFill>
          <a:blip r:embed="rId3"/>
          <a:stretch/>
        </p:blipFill>
        <p:spPr>
          <a:xfrm>
            <a:off x="7593840" y="3611880"/>
            <a:ext cx="2871000" cy="1691280"/>
          </a:xfrm>
          <a:prstGeom prst="rect">
            <a:avLst/>
          </a:prstGeom>
          <a:noFill/>
          <a:ln w="0">
            <a:noFill/>
          </a:ln>
        </p:spPr>
      </p:pic>
      <p:sp>
        <p:nvSpPr>
          <p:cNvPr id="51" name="Shape 6"/>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52" name="Text 7"/>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53" name="Text 8"/>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3</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4"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55"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Giới thiệu</a:t>
            </a:r>
            <a:endParaRPr b="0" lang="en-US" sz="2000" strike="noStrike" u="none">
              <a:solidFill>
                <a:srgbClr val="000000"/>
              </a:solidFill>
              <a:effectLst/>
              <a:uFillTx/>
              <a:latin typeface="Arial"/>
            </a:endParaRPr>
          </a:p>
        </p:txBody>
      </p:sp>
      <p:sp>
        <p:nvSpPr>
          <p:cNvPr id="56"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Bối cảnh và lý do chọn đề tài</a:t>
            </a:r>
            <a:endParaRPr b="0" lang="en-US" sz="800" strike="noStrike" u="none">
              <a:solidFill>
                <a:srgbClr val="000000"/>
              </a:solidFill>
              <a:effectLst/>
              <a:uFillTx/>
              <a:latin typeface="Arial"/>
            </a:endParaRPr>
          </a:p>
        </p:txBody>
      </p:sp>
      <p:sp>
        <p:nvSpPr>
          <p:cNvPr id="57"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58" name="Text 3"/>
          <p:cNvSpPr/>
          <p:nvPr/>
        </p:nvSpPr>
        <p:spPr>
          <a:xfrm>
            <a:off x="731520" y="1325880"/>
            <a:ext cx="5851800" cy="2925720"/>
          </a:xfrm>
          <a:prstGeom prst="rect">
            <a:avLst/>
          </a:prstGeom>
          <a:noFill/>
          <a:ln w="0">
            <a:noFill/>
          </a:ln>
        </p:spPr>
        <p:style>
          <a:lnRef idx="0"/>
          <a:fillRef idx="0"/>
          <a:effectRef idx="0"/>
          <a:fontRef idx="minor"/>
        </p:style>
        <p:txBody>
          <a:bodyPr lIns="720" rIns="720" tIns="720" bIns="720" anchor="t">
            <a:normAutofit/>
          </a:bodyPr>
          <a:p>
            <a:pPr defTabSz="914400">
              <a:lnSpc>
                <a:spcPct val="100000"/>
              </a:lnSpc>
            </a:pPr>
            <a:r>
              <a:rPr b="0" lang="en-US" sz="1430" strike="noStrike" u="none">
                <a:solidFill>
                  <a:srgbClr val="243447"/>
                </a:solidFill>
                <a:effectLst/>
                <a:uFillTx/>
                <a:latin typeface="Arial"/>
                <a:ea typeface="Arial"/>
              </a:rPr>
              <a:t>Chuyển đổi số trong giáo dục làm tăng nhu cầu xác minh văn bằng trực tuyến.</a:t>
            </a:r>
            <a:endParaRPr b="0" lang="en-US" sz="1430" strike="noStrike" u="none">
              <a:solidFill>
                <a:srgbClr val="000000"/>
              </a:solidFill>
              <a:effectLst/>
              <a:uFillTx/>
              <a:latin typeface="Arial"/>
            </a:endParaRPr>
          </a:p>
          <a:p>
            <a:pPr defTabSz="914400">
              <a:lnSpc>
                <a:spcPct val="100000"/>
              </a:lnSpc>
            </a:pPr>
            <a:r>
              <a:rPr b="0" lang="en-US" sz="1430" strike="noStrike" u="none">
                <a:solidFill>
                  <a:srgbClr val="243447"/>
                </a:solidFill>
                <a:effectLst/>
                <a:uFillTx/>
                <a:latin typeface="Arial"/>
                <a:ea typeface="Arial"/>
              </a:rPr>
              <a:t>Xác minh theo bản giấy, ảnh chụp hoặc liên hệ trực tiếp còn chậm và dễ phụ thuộc vào đơn vị cấp.</a:t>
            </a:r>
            <a:endParaRPr b="0" lang="en-US" sz="1430" strike="noStrike" u="none">
              <a:solidFill>
                <a:srgbClr val="000000"/>
              </a:solidFill>
              <a:effectLst/>
              <a:uFillTx/>
              <a:latin typeface="Arial"/>
            </a:endParaRPr>
          </a:p>
          <a:p>
            <a:pPr defTabSz="914400">
              <a:lnSpc>
                <a:spcPct val="100000"/>
              </a:lnSpc>
            </a:pPr>
            <a:r>
              <a:rPr b="0" lang="en-US" sz="1430" strike="noStrike" u="none">
                <a:solidFill>
                  <a:srgbClr val="243447"/>
                </a:solidFill>
                <a:effectLst/>
                <a:uFillTx/>
                <a:latin typeface="Arial"/>
                <a:ea typeface="Arial"/>
              </a:rPr>
              <a:t>Blockchain được sử dụng như một lớp “mốc neo” cho hash văn bằng, không lưu toàn bộ dữ liệu cá nhân lên chuỗi.</a:t>
            </a:r>
            <a:endParaRPr b="0" lang="en-US" sz="1430" strike="noStrike" u="none">
              <a:solidFill>
                <a:srgbClr val="000000"/>
              </a:solidFill>
              <a:effectLst/>
              <a:uFillTx/>
              <a:latin typeface="Arial"/>
            </a:endParaRPr>
          </a:p>
          <a:p>
            <a:pPr defTabSz="914400">
              <a:lnSpc>
                <a:spcPct val="100000"/>
              </a:lnSpc>
            </a:pPr>
            <a:r>
              <a:rPr b="0" lang="en-US" sz="1430" strike="noStrike" u="none">
                <a:solidFill>
                  <a:srgbClr val="243447"/>
                </a:solidFill>
                <a:effectLst/>
                <a:uFillTx/>
                <a:latin typeface="Arial"/>
                <a:ea typeface="Arial"/>
              </a:rPr>
              <a:t>Hệ thống kết hợp MongoDB để quản lý nghiệp vụ và Smart Contract để kiểm chứng tính toàn vẹn.</a:t>
            </a:r>
            <a:endParaRPr b="0" lang="en-US" sz="1430" strike="noStrike" u="none">
              <a:solidFill>
                <a:srgbClr val="000000"/>
              </a:solidFill>
              <a:effectLst/>
              <a:uFillTx/>
              <a:latin typeface="Arial"/>
            </a:endParaRPr>
          </a:p>
        </p:txBody>
      </p:sp>
      <p:sp>
        <p:nvSpPr>
          <p:cNvPr id="59" name="Shape 4"/>
          <p:cNvSpPr/>
          <p:nvPr/>
        </p:nvSpPr>
        <p:spPr>
          <a:xfrm>
            <a:off x="6995160" y="1417320"/>
            <a:ext cx="1325520" cy="822600"/>
          </a:xfrm>
          <a:prstGeom prst="roundRect">
            <a:avLst>
              <a:gd name="adj" fmla="val 8889"/>
            </a:avLst>
          </a:prstGeom>
          <a:noFill/>
          <a:ln w="12700">
            <a:solidFill>
              <a:srgbClr val="e6ecf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0" name="Text 5"/>
          <p:cNvSpPr/>
          <p:nvPr/>
        </p:nvSpPr>
        <p:spPr>
          <a:xfrm>
            <a:off x="7104960" y="1545480"/>
            <a:ext cx="1105920" cy="328680"/>
          </a:xfrm>
          <a:prstGeom prst="rect">
            <a:avLst/>
          </a:prstGeom>
          <a:noFill/>
          <a:ln w="0">
            <a:noFill/>
          </a:ln>
        </p:spPr>
        <p:style>
          <a:lnRef idx="0"/>
          <a:fillRef idx="0"/>
          <a:effectRef idx="0"/>
          <a:fontRef idx="minor"/>
        </p:style>
        <p:txBody>
          <a:bodyPr lIns="0" rIns="0" tIns="0" bIns="0" anchor="ctr">
            <a:normAutofit fontScale="85000" lnSpcReduction="9999"/>
          </a:bodyPr>
          <a:p>
            <a:pPr algn="ctr" defTabSz="914400">
              <a:lnSpc>
                <a:spcPct val="100000"/>
              </a:lnSpc>
              <a:tabLst>
                <a:tab algn="l" pos="0"/>
              </a:tabLst>
            </a:pPr>
            <a:r>
              <a:rPr b="1" lang="en-US" sz="2000" strike="noStrike" u="none">
                <a:solidFill>
                  <a:srgbClr val="157a6e"/>
                </a:solidFill>
                <a:effectLst/>
                <a:uFillTx/>
                <a:latin typeface="Arial"/>
                <a:ea typeface="Arial"/>
              </a:rPr>
              <a:t>MongoDB</a:t>
            </a:r>
            <a:endParaRPr b="0" lang="en-US" sz="2000" strike="noStrike" u="none">
              <a:solidFill>
                <a:srgbClr val="000000"/>
              </a:solidFill>
              <a:effectLst/>
              <a:uFillTx/>
              <a:latin typeface="Arial"/>
            </a:endParaRPr>
          </a:p>
        </p:txBody>
      </p:sp>
      <p:sp>
        <p:nvSpPr>
          <p:cNvPr id="61" name="Text 6"/>
          <p:cNvSpPr/>
          <p:nvPr/>
        </p:nvSpPr>
        <p:spPr>
          <a:xfrm>
            <a:off x="7104960" y="1929240"/>
            <a:ext cx="110592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30" strike="noStrike" u="none">
                <a:solidFill>
                  <a:srgbClr val="243447"/>
                </a:solidFill>
                <a:effectLst/>
                <a:uFillTx/>
                <a:latin typeface="Arial"/>
                <a:ea typeface="Arial"/>
              </a:rPr>
              <a:t>CSDL nghiệp vụ</a:t>
            </a:r>
            <a:endParaRPr b="0" lang="en-US" sz="930" strike="noStrike" u="none">
              <a:solidFill>
                <a:srgbClr val="000000"/>
              </a:solidFill>
              <a:effectLst/>
              <a:uFillTx/>
              <a:latin typeface="Arial"/>
            </a:endParaRPr>
          </a:p>
        </p:txBody>
      </p:sp>
      <p:sp>
        <p:nvSpPr>
          <p:cNvPr id="62" name="Shape 7"/>
          <p:cNvSpPr/>
          <p:nvPr/>
        </p:nvSpPr>
        <p:spPr>
          <a:xfrm>
            <a:off x="8549640" y="1417320"/>
            <a:ext cx="1325520" cy="822600"/>
          </a:xfrm>
          <a:prstGeom prst="roundRect">
            <a:avLst>
              <a:gd name="adj" fmla="val 8889"/>
            </a:avLst>
          </a:prstGeom>
          <a:noFill/>
          <a:ln w="12700">
            <a:solidFill>
              <a:srgbClr val="e6ecf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3" name="Text 8"/>
          <p:cNvSpPr/>
          <p:nvPr/>
        </p:nvSpPr>
        <p:spPr>
          <a:xfrm>
            <a:off x="8659440" y="1545480"/>
            <a:ext cx="110592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000" strike="noStrike" u="none">
                <a:solidFill>
                  <a:srgbClr val="0e4b8b"/>
                </a:solidFill>
                <a:effectLst/>
                <a:uFillTx/>
                <a:latin typeface="Arial"/>
                <a:ea typeface="Arial"/>
              </a:rPr>
              <a:t>Hash</a:t>
            </a:r>
            <a:endParaRPr b="0" lang="en-US" sz="2000" strike="noStrike" u="none">
              <a:solidFill>
                <a:srgbClr val="000000"/>
              </a:solidFill>
              <a:effectLst/>
              <a:uFillTx/>
              <a:latin typeface="Arial"/>
            </a:endParaRPr>
          </a:p>
        </p:txBody>
      </p:sp>
      <p:sp>
        <p:nvSpPr>
          <p:cNvPr id="64" name="Text 9"/>
          <p:cNvSpPr/>
          <p:nvPr/>
        </p:nvSpPr>
        <p:spPr>
          <a:xfrm>
            <a:off x="8659440" y="1929240"/>
            <a:ext cx="110592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30" strike="noStrike" u="none">
                <a:solidFill>
                  <a:srgbClr val="243447"/>
                </a:solidFill>
                <a:effectLst/>
                <a:uFillTx/>
                <a:latin typeface="Arial"/>
                <a:ea typeface="Arial"/>
              </a:rPr>
              <a:t>Bằng chứng</a:t>
            </a:r>
            <a:endParaRPr b="0" lang="en-US" sz="930" strike="noStrike" u="none">
              <a:solidFill>
                <a:srgbClr val="000000"/>
              </a:solidFill>
              <a:effectLst/>
              <a:uFillTx/>
              <a:latin typeface="Arial"/>
            </a:endParaRPr>
          </a:p>
        </p:txBody>
      </p:sp>
      <p:sp>
        <p:nvSpPr>
          <p:cNvPr id="65" name="Shape 10"/>
          <p:cNvSpPr/>
          <p:nvPr/>
        </p:nvSpPr>
        <p:spPr>
          <a:xfrm>
            <a:off x="10104120" y="1417320"/>
            <a:ext cx="1325520" cy="822600"/>
          </a:xfrm>
          <a:prstGeom prst="roundRect">
            <a:avLst>
              <a:gd name="adj" fmla="val 8889"/>
            </a:avLst>
          </a:prstGeom>
          <a:noFill/>
          <a:ln w="12700">
            <a:solidFill>
              <a:srgbClr val="e6ecf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66" name="Text 11"/>
          <p:cNvSpPr/>
          <p:nvPr/>
        </p:nvSpPr>
        <p:spPr>
          <a:xfrm>
            <a:off x="10213920" y="1545480"/>
            <a:ext cx="110592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000" strike="noStrike" u="none">
                <a:solidFill>
                  <a:srgbClr val="f6b76e"/>
                </a:solidFill>
                <a:effectLst/>
                <a:uFillTx/>
                <a:latin typeface="Arial"/>
                <a:ea typeface="Arial"/>
              </a:rPr>
              <a:t>EVM</a:t>
            </a:r>
            <a:endParaRPr b="0" lang="en-US" sz="2000" strike="noStrike" u="none">
              <a:solidFill>
                <a:srgbClr val="000000"/>
              </a:solidFill>
              <a:effectLst/>
              <a:uFillTx/>
              <a:latin typeface="Arial"/>
            </a:endParaRPr>
          </a:p>
        </p:txBody>
      </p:sp>
      <p:sp>
        <p:nvSpPr>
          <p:cNvPr id="67" name="Text 12"/>
          <p:cNvSpPr/>
          <p:nvPr/>
        </p:nvSpPr>
        <p:spPr>
          <a:xfrm>
            <a:off x="10213920" y="1929240"/>
            <a:ext cx="110592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30" strike="noStrike" u="none">
                <a:solidFill>
                  <a:srgbClr val="243447"/>
                </a:solidFill>
                <a:effectLst/>
                <a:uFillTx/>
                <a:latin typeface="Arial"/>
                <a:ea typeface="Arial"/>
              </a:rPr>
              <a:t>Ghi nhận</a:t>
            </a:r>
            <a:endParaRPr b="0" lang="en-US" sz="930" strike="noStrike" u="none">
              <a:solidFill>
                <a:srgbClr val="000000"/>
              </a:solidFill>
              <a:effectLst/>
              <a:uFillTx/>
              <a:latin typeface="Arial"/>
            </a:endParaRPr>
          </a:p>
        </p:txBody>
      </p:sp>
      <p:pic>
        <p:nvPicPr>
          <p:cNvPr id="68" name="Image 1" descr="/mnt/data/docx_media/word/media/image8.png"/>
          <p:cNvPicPr/>
          <p:nvPr/>
        </p:nvPicPr>
        <p:blipFill>
          <a:blip r:embed="rId2"/>
          <a:stretch/>
        </p:blipFill>
        <p:spPr>
          <a:xfrm>
            <a:off x="7374960" y="2788920"/>
            <a:ext cx="3492000" cy="2057040"/>
          </a:xfrm>
          <a:prstGeom prst="rect">
            <a:avLst/>
          </a:prstGeom>
          <a:noFill/>
          <a:ln w="0">
            <a:noFill/>
          </a:ln>
        </p:spPr>
      </p:pic>
      <p:sp>
        <p:nvSpPr>
          <p:cNvPr id="69" name="Text 13"/>
          <p:cNvSpPr/>
          <p:nvPr/>
        </p:nvSpPr>
        <p:spPr>
          <a:xfrm>
            <a:off x="6995160" y="4919400"/>
            <a:ext cx="42516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Phác thảo màn hình tra cứu và xác thực văn bằng</a:t>
            </a:r>
            <a:endParaRPr b="0" lang="en-US" sz="750" strike="noStrike" u="none">
              <a:solidFill>
                <a:srgbClr val="000000"/>
              </a:solidFill>
              <a:effectLst/>
              <a:uFillTx/>
              <a:latin typeface="Arial"/>
            </a:endParaRPr>
          </a:p>
        </p:txBody>
      </p:sp>
      <p:sp>
        <p:nvSpPr>
          <p:cNvPr id="70" name="Shape 14"/>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71" name="Text 15"/>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72" name="Text 16"/>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4</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3"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74"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Mục tiêu và phương pháp nghiên cứu</a:t>
            </a:r>
            <a:endParaRPr b="0" lang="en-US" sz="2000" strike="noStrike" u="none">
              <a:solidFill>
                <a:srgbClr val="000000"/>
              </a:solidFill>
              <a:effectLst/>
              <a:uFillTx/>
              <a:latin typeface="Arial"/>
            </a:endParaRPr>
          </a:p>
        </p:txBody>
      </p:sp>
      <p:sp>
        <p:nvSpPr>
          <p:cNvPr id="75"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Định hướng học thuật của khóa luận</a:t>
            </a:r>
            <a:endParaRPr b="0" lang="en-US" sz="800" strike="noStrike" u="none">
              <a:solidFill>
                <a:srgbClr val="000000"/>
              </a:solidFill>
              <a:effectLst/>
              <a:uFillTx/>
              <a:latin typeface="Arial"/>
            </a:endParaRPr>
          </a:p>
        </p:txBody>
      </p:sp>
      <p:sp>
        <p:nvSpPr>
          <p:cNvPr id="76"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77" name="Text 3"/>
          <p:cNvSpPr/>
          <p:nvPr/>
        </p:nvSpPr>
        <p:spPr>
          <a:xfrm>
            <a:off x="777240" y="1325880"/>
            <a:ext cx="32000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0b2d4d"/>
                </a:solidFill>
                <a:effectLst/>
                <a:uFillTx/>
                <a:latin typeface="Arial"/>
                <a:ea typeface="Arial"/>
              </a:rPr>
              <a:t>Mục tiêu nghiên cứu</a:t>
            </a:r>
            <a:endParaRPr b="0" lang="en-US" sz="1700" strike="noStrike" u="none">
              <a:solidFill>
                <a:srgbClr val="000000"/>
              </a:solidFill>
              <a:effectLst/>
              <a:uFillTx/>
              <a:latin typeface="Arial"/>
            </a:endParaRPr>
          </a:p>
        </p:txBody>
      </p:sp>
      <p:sp>
        <p:nvSpPr>
          <p:cNvPr id="78" name="Text 4"/>
          <p:cNvSpPr/>
          <p:nvPr/>
        </p:nvSpPr>
        <p:spPr>
          <a:xfrm>
            <a:off x="822960" y="1719000"/>
            <a:ext cx="4754520" cy="1919880"/>
          </a:xfrm>
          <a:prstGeom prst="rect">
            <a:avLst/>
          </a:prstGeom>
          <a:noFill/>
          <a:ln w="0">
            <a:noFill/>
          </a:ln>
        </p:spPr>
        <p:style>
          <a:lnRef idx="0"/>
          <a:fillRef idx="0"/>
          <a:effectRef idx="0"/>
          <a:fontRef idx="minor"/>
        </p:style>
        <p:txBody>
          <a:bodyPr lIns="720" rIns="720" tIns="720" bIns="720" anchor="t">
            <a:normAutofit/>
          </a:bodyPr>
          <a:p>
            <a:pPr defTabSz="914400">
              <a:lnSpc>
                <a:spcPct val="100000"/>
              </a:lnSpc>
            </a:pPr>
            <a:r>
              <a:rPr b="0" lang="en-US" sz="1420" strike="noStrike" u="none">
                <a:solidFill>
                  <a:srgbClr val="243447"/>
                </a:solidFill>
                <a:effectLst/>
                <a:uFillTx/>
                <a:latin typeface="Arial"/>
                <a:ea typeface="Arial"/>
              </a:rPr>
              <a:t>Xây dựng hệ thống quản lý và xác thực văn bằng số trên nền tảng web.</a:t>
            </a:r>
            <a:endParaRPr b="0" lang="en-US" sz="1420" strike="noStrike" u="none">
              <a:solidFill>
                <a:srgbClr val="000000"/>
              </a:solidFill>
              <a:effectLst/>
              <a:uFillTx/>
              <a:latin typeface="Arial"/>
            </a:endParaRPr>
          </a:p>
          <a:p>
            <a:pPr defTabSz="914400">
              <a:lnSpc>
                <a:spcPct val="100000"/>
              </a:lnSpc>
            </a:pPr>
            <a:r>
              <a:rPr b="0" lang="en-US" sz="1420" strike="noStrike" u="none">
                <a:solidFill>
                  <a:srgbClr val="243447"/>
                </a:solidFill>
                <a:effectLst/>
                <a:uFillTx/>
                <a:latin typeface="Arial"/>
                <a:ea typeface="Arial"/>
              </a:rPr>
              <a:t>Nâng cao tính minh bạch, hỗ trợ phát hiện chỉnh sửa dữ liệu sau khi cấp.</a:t>
            </a:r>
            <a:endParaRPr b="0" lang="en-US" sz="1420" strike="noStrike" u="none">
              <a:solidFill>
                <a:srgbClr val="000000"/>
              </a:solidFill>
              <a:effectLst/>
              <a:uFillTx/>
              <a:latin typeface="Arial"/>
            </a:endParaRPr>
          </a:p>
          <a:p>
            <a:pPr defTabSz="914400">
              <a:lnSpc>
                <a:spcPct val="100000"/>
              </a:lnSpc>
            </a:pPr>
            <a:r>
              <a:rPr b="0" lang="en-US" sz="1420" strike="noStrike" u="none">
                <a:solidFill>
                  <a:srgbClr val="243447"/>
                </a:solidFill>
                <a:effectLst/>
                <a:uFillTx/>
                <a:latin typeface="Arial"/>
                <a:ea typeface="Arial"/>
              </a:rPr>
              <a:t>Hỗ trợ xác minh qua mã văn bằng hoặc QR Code.</a:t>
            </a:r>
            <a:endParaRPr b="0" lang="en-US" sz="1420" strike="noStrike" u="none">
              <a:solidFill>
                <a:srgbClr val="000000"/>
              </a:solidFill>
              <a:effectLst/>
              <a:uFillTx/>
              <a:latin typeface="Arial"/>
            </a:endParaRPr>
          </a:p>
        </p:txBody>
      </p:sp>
      <p:sp>
        <p:nvSpPr>
          <p:cNvPr id="79" name="Text 5"/>
          <p:cNvSpPr/>
          <p:nvPr/>
        </p:nvSpPr>
        <p:spPr>
          <a:xfrm>
            <a:off x="6355080" y="1325880"/>
            <a:ext cx="338292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700" strike="noStrike" u="none">
                <a:solidFill>
                  <a:srgbClr val="0b2d4d"/>
                </a:solidFill>
                <a:effectLst/>
                <a:uFillTx/>
                <a:latin typeface="Arial"/>
                <a:ea typeface="Arial"/>
              </a:rPr>
              <a:t>Phương pháp nghiên cứu</a:t>
            </a:r>
            <a:endParaRPr b="0" lang="en-US" sz="1700" strike="noStrike" u="none">
              <a:solidFill>
                <a:srgbClr val="000000"/>
              </a:solidFill>
              <a:effectLst/>
              <a:uFillTx/>
              <a:latin typeface="Arial"/>
            </a:endParaRPr>
          </a:p>
        </p:txBody>
      </p:sp>
      <p:sp>
        <p:nvSpPr>
          <p:cNvPr id="80" name="Text 6"/>
          <p:cNvSpPr/>
          <p:nvPr/>
        </p:nvSpPr>
        <p:spPr>
          <a:xfrm>
            <a:off x="6400800" y="1719000"/>
            <a:ext cx="4754520" cy="2285640"/>
          </a:xfrm>
          <a:prstGeom prst="rect">
            <a:avLst/>
          </a:prstGeom>
          <a:noFill/>
          <a:ln w="0">
            <a:noFill/>
          </a:ln>
        </p:spPr>
        <p:style>
          <a:lnRef idx="0"/>
          <a:fillRef idx="0"/>
          <a:effectRef idx="0"/>
          <a:fontRef idx="minor"/>
        </p:style>
        <p:txBody>
          <a:bodyPr lIns="720" rIns="720" tIns="720" bIns="720" anchor="t">
            <a:normAutofit/>
          </a:bodyPr>
          <a:p>
            <a:pPr defTabSz="914400">
              <a:lnSpc>
                <a:spcPct val="100000"/>
              </a:lnSpc>
            </a:pPr>
            <a:r>
              <a:rPr b="0" lang="en-US" sz="1420" strike="noStrike" u="none">
                <a:solidFill>
                  <a:srgbClr val="243447"/>
                </a:solidFill>
                <a:effectLst/>
                <a:uFillTx/>
                <a:latin typeface="Arial"/>
                <a:ea typeface="Arial"/>
              </a:rPr>
              <a:t>Nghiên cứu lý thuyết về văn bằng số, hash dữ liệu, Smart Contract và phân quyền.</a:t>
            </a:r>
            <a:endParaRPr b="0" lang="en-US" sz="1420" strike="noStrike" u="none">
              <a:solidFill>
                <a:srgbClr val="000000"/>
              </a:solidFill>
              <a:effectLst/>
              <a:uFillTx/>
              <a:latin typeface="Arial"/>
            </a:endParaRPr>
          </a:p>
          <a:p>
            <a:pPr defTabSz="914400">
              <a:lnSpc>
                <a:spcPct val="100000"/>
              </a:lnSpc>
            </a:pPr>
            <a:r>
              <a:rPr b="0" lang="en-US" sz="1420" strike="noStrike" u="none">
                <a:solidFill>
                  <a:srgbClr val="243447"/>
                </a:solidFill>
                <a:effectLst/>
                <a:uFillTx/>
                <a:latin typeface="Arial"/>
                <a:ea typeface="Arial"/>
              </a:rPr>
              <a:t>Thực nghiệm xây dựng backend Express/TypeScript, frontend React và tích hợp Blockchain qua ethers.js.</a:t>
            </a:r>
            <a:endParaRPr b="0" lang="en-US" sz="1420" strike="noStrike" u="none">
              <a:solidFill>
                <a:srgbClr val="000000"/>
              </a:solidFill>
              <a:effectLst/>
              <a:uFillTx/>
              <a:latin typeface="Arial"/>
            </a:endParaRPr>
          </a:p>
          <a:p>
            <a:pPr defTabSz="914400">
              <a:lnSpc>
                <a:spcPct val="100000"/>
              </a:lnSpc>
            </a:pPr>
            <a:r>
              <a:rPr b="0" lang="en-US" sz="1420" strike="noStrike" u="none">
                <a:solidFill>
                  <a:srgbClr val="243447"/>
                </a:solidFill>
                <a:effectLst/>
                <a:uFillTx/>
                <a:latin typeface="Arial"/>
                <a:ea typeface="Arial"/>
              </a:rPr>
              <a:t>Kiểm thử luồng cấp, xác minh, thu hồi và retry khi giao dịch thất bại.</a:t>
            </a:r>
            <a:endParaRPr b="0" lang="en-US" sz="1420" strike="noStrike" u="none">
              <a:solidFill>
                <a:srgbClr val="000000"/>
              </a:solidFill>
              <a:effectLst/>
              <a:uFillTx/>
              <a:latin typeface="Arial"/>
            </a:endParaRPr>
          </a:p>
        </p:txBody>
      </p:sp>
      <p:sp>
        <p:nvSpPr>
          <p:cNvPr id="81" name="Shape 7"/>
          <p:cNvSpPr/>
          <p:nvPr/>
        </p:nvSpPr>
        <p:spPr>
          <a:xfrm>
            <a:off x="868680" y="4709160"/>
            <a:ext cx="411120" cy="411120"/>
          </a:xfrm>
          <a:prstGeom prst="hexagon">
            <a:avLst>
              <a:gd name="adj" fmla="val 25000"/>
              <a:gd name="vf" fmla="val 115470"/>
            </a:avLst>
          </a:prstGeom>
          <a:solidFill>
            <a:srgbClr val="f6b76e">
              <a:alpha val="92000"/>
            </a:srgbClr>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2" name="Text 8"/>
          <p:cNvSpPr/>
          <p:nvPr/>
        </p:nvSpPr>
        <p:spPr>
          <a:xfrm>
            <a:off x="2011680" y="4663440"/>
            <a:ext cx="8137800" cy="502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50" strike="noStrike" u="none">
                <a:solidFill>
                  <a:srgbClr val="243447"/>
                </a:solidFill>
                <a:effectLst/>
                <a:uFillTx/>
                <a:latin typeface="Arial"/>
                <a:ea typeface="Arial"/>
              </a:rPr>
              <a:t>Phạm vi: hệ thống web xác thực văn bằng số, dữ liệu nghiệp vụ lưu off-chain, hash và trạng thái cần thiết lưu on-chain.</a:t>
            </a:r>
            <a:endParaRPr b="0" lang="en-US" sz="1350" strike="noStrike" u="none">
              <a:solidFill>
                <a:srgbClr val="000000"/>
              </a:solidFill>
              <a:effectLst/>
              <a:uFillTx/>
              <a:latin typeface="Arial"/>
            </a:endParaRPr>
          </a:p>
        </p:txBody>
      </p:sp>
      <p:sp>
        <p:nvSpPr>
          <p:cNvPr id="83" name="Shape 9"/>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84" name="Text 10"/>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85" name="Text 11"/>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5</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86" name="Shape 0"/>
          <p:cNvSpPr/>
          <p:nvPr/>
        </p:nvSpPr>
        <p:spPr>
          <a:xfrm>
            <a:off x="9829800" y="502920"/>
            <a:ext cx="868320" cy="868320"/>
          </a:xfrm>
          <a:prstGeom prst="hexagon">
            <a:avLst>
              <a:gd name="adj" fmla="val 25000"/>
              <a:gd name="vf" fmla="val 115470"/>
            </a:avLst>
          </a:prstGeom>
          <a:solidFill>
            <a:srgbClr val="f6b76e">
              <a:alpha val="90000"/>
            </a:srgbClr>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7" name="Shape 1"/>
          <p:cNvSpPr/>
          <p:nvPr/>
        </p:nvSpPr>
        <p:spPr>
          <a:xfrm>
            <a:off x="10835640" y="320040"/>
            <a:ext cx="502560" cy="502560"/>
          </a:xfrm>
          <a:prstGeom prst="hexagon">
            <a:avLst>
              <a:gd name="adj" fmla="val 25000"/>
              <a:gd name="vf" fmla="val 115470"/>
            </a:avLst>
          </a:prstGeom>
          <a:solidFill>
            <a:srgbClr val="afc3d8"/>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8" name="Shape 2"/>
          <p:cNvSpPr/>
          <p:nvPr/>
        </p:nvSpPr>
        <p:spPr>
          <a:xfrm>
            <a:off x="9144000" y="1417320"/>
            <a:ext cx="383760" cy="383760"/>
          </a:xfrm>
          <a:prstGeom prst="hexagon">
            <a:avLst>
              <a:gd name="adj" fmla="val 25000"/>
              <a:gd name="vf" fmla="val 115470"/>
            </a:avLst>
          </a:prstGeom>
          <a:noFill/>
          <a:ln w="12700">
            <a:solidFill>
              <a:srgbClr val="afc3d8">
                <a:alpha val="8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89" name="Shape 3"/>
          <p:cNvSpPr/>
          <p:nvPr/>
        </p:nvSpPr>
        <p:spPr>
          <a:xfrm>
            <a:off x="10607040" y="1737360"/>
            <a:ext cx="319680" cy="319680"/>
          </a:xfrm>
          <a:prstGeom prst="hexagon">
            <a:avLst>
              <a:gd name="adj" fmla="val 25000"/>
              <a:gd name="vf" fmla="val 115470"/>
            </a:avLst>
          </a:prstGeom>
          <a:solidFill>
            <a:srgbClr val="ffe5c2"/>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90" name="Shape 4"/>
          <p:cNvSpPr/>
          <p:nvPr/>
        </p:nvSpPr>
        <p:spPr>
          <a:xfrm>
            <a:off x="457200" y="5120640"/>
            <a:ext cx="502560" cy="502560"/>
          </a:xfrm>
          <a:prstGeom prst="hexagon">
            <a:avLst>
              <a:gd name="adj" fmla="val 25000"/>
              <a:gd name="vf" fmla="val 115470"/>
            </a:avLst>
          </a:prstGeom>
          <a:noFill/>
          <a:ln w="12700">
            <a:solidFill>
              <a:srgbClr val="afc3d8">
                <a:alpha val="8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91" name="Shape 5"/>
          <p:cNvSpPr/>
          <p:nvPr/>
        </p:nvSpPr>
        <p:spPr>
          <a:xfrm>
            <a:off x="1051560" y="4617720"/>
            <a:ext cx="1234080" cy="1234080"/>
          </a:xfrm>
          <a:prstGeom prst="hexagon">
            <a:avLst>
              <a:gd name="adj" fmla="val 25000"/>
              <a:gd name="vf" fmla="val 115470"/>
            </a:avLst>
          </a:prstGeom>
          <a:solidFill>
            <a:srgbClr val="f6b76e">
              <a:alpha val="88000"/>
            </a:srgbClr>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92" name="Shape 6"/>
          <p:cNvSpPr/>
          <p:nvPr/>
        </p:nvSpPr>
        <p:spPr>
          <a:xfrm>
            <a:off x="2423160" y="4754880"/>
            <a:ext cx="621360" cy="621360"/>
          </a:xfrm>
          <a:prstGeom prst="hexagon">
            <a:avLst>
              <a:gd name="adj" fmla="val 25000"/>
              <a:gd name="vf" fmla="val 115470"/>
            </a:avLst>
          </a:prstGeom>
          <a:solidFill>
            <a:srgbClr val="afc3d8"/>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93" name="Text 7"/>
          <p:cNvSpPr/>
          <p:nvPr/>
        </p:nvSpPr>
        <p:spPr>
          <a:xfrm>
            <a:off x="5074920" y="2816280"/>
            <a:ext cx="530316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0b2d4d"/>
                </a:solidFill>
                <a:effectLst/>
                <a:uFillTx/>
                <a:latin typeface="Arial"/>
                <a:ea typeface="Arial"/>
              </a:rPr>
              <a:t>1. CƠ SỞ LÝ THUYẾT</a:t>
            </a:r>
            <a:endParaRPr b="0" lang="en-US" sz="2100" strike="noStrike" u="none">
              <a:solidFill>
                <a:srgbClr val="000000"/>
              </a:solidFill>
              <a:effectLst/>
              <a:uFillTx/>
              <a:latin typeface="Arial"/>
            </a:endParaRPr>
          </a:p>
        </p:txBody>
      </p:sp>
      <p:sp>
        <p:nvSpPr>
          <p:cNvPr id="94" name="Text 8"/>
          <p:cNvSpPr/>
          <p:nvPr/>
        </p:nvSpPr>
        <p:spPr>
          <a:xfrm>
            <a:off x="5120640" y="3246120"/>
            <a:ext cx="502884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Văn bằng số, hash, Blockchain và công nghệ triển khai</a:t>
            </a:r>
            <a:endParaRPr b="0" lang="en-US" sz="800" strike="noStrike" u="none">
              <a:solidFill>
                <a:srgbClr val="000000"/>
              </a:solidFill>
              <a:effectLst/>
              <a:uFillTx/>
              <a:latin typeface="Arial"/>
            </a:endParaRPr>
          </a:p>
        </p:txBody>
      </p:sp>
      <p:sp>
        <p:nvSpPr>
          <p:cNvPr id="95" name="Shape 9"/>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96" name="Text 10"/>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97" name="Text 11"/>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6</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98"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99"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1.1 Văn bằng số và xác thực văn bằng</a:t>
            </a:r>
            <a:endParaRPr b="0" lang="en-US" sz="2000" strike="noStrike" u="none">
              <a:solidFill>
                <a:srgbClr val="000000"/>
              </a:solidFill>
              <a:effectLst/>
              <a:uFillTx/>
              <a:latin typeface="Arial"/>
            </a:endParaRPr>
          </a:p>
        </p:txBody>
      </p:sp>
      <p:sp>
        <p:nvSpPr>
          <p:cNvPr id="100"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Khái niệm nền tảng</a:t>
            </a:r>
            <a:endParaRPr b="0" lang="en-US" sz="800" strike="noStrike" u="none">
              <a:solidFill>
                <a:srgbClr val="000000"/>
              </a:solidFill>
              <a:effectLst/>
              <a:uFillTx/>
              <a:latin typeface="Arial"/>
            </a:endParaRPr>
          </a:p>
        </p:txBody>
      </p:sp>
      <p:sp>
        <p:nvSpPr>
          <p:cNvPr id="101"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02" name="Text 3"/>
          <p:cNvSpPr/>
          <p:nvPr/>
        </p:nvSpPr>
        <p:spPr>
          <a:xfrm>
            <a:off x="731520" y="1325880"/>
            <a:ext cx="5348880" cy="3200040"/>
          </a:xfrm>
          <a:prstGeom prst="rect">
            <a:avLst/>
          </a:prstGeom>
          <a:noFill/>
          <a:ln w="0">
            <a:noFill/>
          </a:ln>
        </p:spPr>
        <p:style>
          <a:lnRef idx="0"/>
          <a:fillRef idx="0"/>
          <a:effectRef idx="0"/>
          <a:fontRef idx="minor"/>
        </p:style>
        <p:txBody>
          <a:bodyPr lIns="720" rIns="720" tIns="720" bIns="720" anchor="t">
            <a:normAutofit/>
          </a:bodyPr>
          <a:p>
            <a:pPr defTabSz="914400">
              <a:lnSpc>
                <a:spcPct val="100000"/>
              </a:lnSpc>
            </a:pPr>
            <a:r>
              <a:rPr b="0" lang="en-US" sz="1430" strike="noStrike" u="none">
                <a:solidFill>
                  <a:srgbClr val="243447"/>
                </a:solidFill>
                <a:effectLst/>
                <a:uFillTx/>
                <a:latin typeface="Arial"/>
                <a:ea typeface="Arial"/>
              </a:rPr>
              <a:t>Văn bằng số biểu diễn thông tin văn bằng trên môi trường điện tử: mã văn bằng, người được cấp, ngành, ngày cấp và cơ sở đào tạo.</a:t>
            </a:r>
            <a:endParaRPr b="0" lang="en-US" sz="1430" strike="noStrike" u="none">
              <a:solidFill>
                <a:srgbClr val="000000"/>
              </a:solidFill>
              <a:effectLst/>
              <a:uFillTx/>
              <a:latin typeface="Arial"/>
            </a:endParaRPr>
          </a:p>
          <a:p>
            <a:pPr defTabSz="914400">
              <a:lnSpc>
                <a:spcPct val="100000"/>
              </a:lnSpc>
            </a:pPr>
            <a:r>
              <a:rPr b="0" lang="en-US" sz="1430" strike="noStrike" u="none">
                <a:solidFill>
                  <a:srgbClr val="243447"/>
                </a:solidFill>
                <a:effectLst/>
                <a:uFillTx/>
                <a:latin typeface="Arial"/>
                <a:ea typeface="Arial"/>
              </a:rPr>
              <a:t>DocumentHash đóng vai trò như dấu vân tay dữ liệu, thay đổi khi dữ liệu lõi bị chỉnh sửa.</a:t>
            </a:r>
            <a:endParaRPr b="0" lang="en-US" sz="1430" strike="noStrike" u="none">
              <a:solidFill>
                <a:srgbClr val="000000"/>
              </a:solidFill>
              <a:effectLst/>
              <a:uFillTx/>
              <a:latin typeface="Arial"/>
            </a:endParaRPr>
          </a:p>
          <a:p>
            <a:pPr defTabSz="914400">
              <a:lnSpc>
                <a:spcPct val="100000"/>
              </a:lnSpc>
            </a:pPr>
            <a:r>
              <a:rPr b="0" lang="en-US" sz="1430" strike="noStrike" u="none">
                <a:solidFill>
                  <a:srgbClr val="243447"/>
                </a:solidFill>
                <a:effectLst/>
                <a:uFillTx/>
                <a:latin typeface="Arial"/>
                <a:ea typeface="Arial"/>
              </a:rPr>
              <a:t>Xác thực văn bằng là quá trình đối chiếu dữ liệu hiện tại với bằng chứng đã ghi nhận để đưa ra kết quả hợp lệ hoặc không hợp lệ.</a:t>
            </a:r>
            <a:endParaRPr b="0" lang="en-US" sz="1430" strike="noStrike" u="none">
              <a:solidFill>
                <a:srgbClr val="000000"/>
              </a:solidFill>
              <a:effectLst/>
              <a:uFillTx/>
              <a:latin typeface="Arial"/>
            </a:endParaRPr>
          </a:p>
        </p:txBody>
      </p:sp>
      <p:pic>
        <p:nvPicPr>
          <p:cNvPr id="103" name="Image 1" descr="/mnt/data/docx_media/word/media/image6.png"/>
          <p:cNvPicPr/>
          <p:nvPr/>
        </p:nvPicPr>
        <p:blipFill>
          <a:blip r:embed="rId2"/>
          <a:stretch/>
        </p:blipFill>
        <p:spPr>
          <a:xfrm>
            <a:off x="6629400" y="1265040"/>
            <a:ext cx="4388760" cy="2462400"/>
          </a:xfrm>
          <a:prstGeom prst="rect">
            <a:avLst/>
          </a:prstGeom>
          <a:noFill/>
          <a:ln w="0">
            <a:noFill/>
          </a:ln>
        </p:spPr>
      </p:pic>
      <p:sp>
        <p:nvSpPr>
          <p:cNvPr id="104" name="Text 4"/>
          <p:cNvSpPr/>
          <p:nvPr/>
        </p:nvSpPr>
        <p:spPr>
          <a:xfrm>
            <a:off x="6629400" y="3803760"/>
            <a:ext cx="43887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Phác thảo trang xác minh công khai</a:t>
            </a:r>
            <a:endParaRPr b="0" lang="en-US" sz="750" strike="noStrike" u="none">
              <a:solidFill>
                <a:srgbClr val="000000"/>
              </a:solidFill>
              <a:effectLst/>
              <a:uFillTx/>
              <a:latin typeface="Arial"/>
            </a:endParaRPr>
          </a:p>
        </p:txBody>
      </p:sp>
      <p:sp>
        <p:nvSpPr>
          <p:cNvPr id="105" name="Text 5"/>
          <p:cNvSpPr/>
          <p:nvPr/>
        </p:nvSpPr>
        <p:spPr>
          <a:xfrm>
            <a:off x="6675120" y="4160520"/>
            <a:ext cx="210276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0b2d4d"/>
                </a:solidFill>
                <a:effectLst/>
                <a:uFillTx/>
                <a:latin typeface="Arial"/>
                <a:ea typeface="Arial"/>
              </a:rPr>
              <a:t>Tư duy xác thực</a:t>
            </a:r>
            <a:endParaRPr b="0" lang="en-US" sz="1400" strike="noStrike" u="none">
              <a:solidFill>
                <a:srgbClr val="000000"/>
              </a:solidFill>
              <a:effectLst/>
              <a:uFillTx/>
              <a:latin typeface="Arial"/>
            </a:endParaRPr>
          </a:p>
        </p:txBody>
      </p:sp>
      <p:sp>
        <p:nvSpPr>
          <p:cNvPr id="106" name="Text 6"/>
          <p:cNvSpPr/>
          <p:nvPr/>
        </p:nvSpPr>
        <p:spPr>
          <a:xfrm>
            <a:off x="6720840" y="4526280"/>
            <a:ext cx="4205880" cy="1005480"/>
          </a:xfrm>
          <a:prstGeom prst="rect">
            <a:avLst/>
          </a:prstGeom>
          <a:noFill/>
          <a:ln w="0">
            <a:noFill/>
          </a:ln>
        </p:spPr>
        <p:style>
          <a:lnRef idx="0"/>
          <a:fillRef idx="0"/>
          <a:effectRef idx="0"/>
          <a:fontRef idx="minor"/>
        </p:style>
        <p:txBody>
          <a:bodyPr lIns="720" rIns="720" tIns="720" bIns="720" anchor="t">
            <a:normAutofit/>
          </a:bodyPr>
          <a:p>
            <a:pPr defTabSz="914400">
              <a:lnSpc>
                <a:spcPct val="100000"/>
              </a:lnSpc>
            </a:pPr>
            <a:r>
              <a:rPr b="0" lang="en-US" sz="1320" strike="noStrike" u="none">
                <a:solidFill>
                  <a:srgbClr val="243447"/>
                </a:solidFill>
                <a:effectLst/>
                <a:uFillTx/>
                <a:latin typeface="Arial"/>
                <a:ea typeface="Arial"/>
              </a:rPr>
              <a:t>Chuẩn hóa dữ liệu lõi</a:t>
            </a:r>
            <a:endParaRPr b="0" lang="en-US" sz="1320" strike="noStrike" u="none">
              <a:solidFill>
                <a:srgbClr val="000000"/>
              </a:solidFill>
              <a:effectLst/>
              <a:uFillTx/>
              <a:latin typeface="Arial"/>
            </a:endParaRPr>
          </a:p>
          <a:p>
            <a:pPr defTabSz="914400">
              <a:lnSpc>
                <a:spcPct val="100000"/>
              </a:lnSpc>
            </a:pPr>
            <a:r>
              <a:rPr b="0" lang="en-US" sz="1320" strike="noStrike" u="none">
                <a:solidFill>
                  <a:srgbClr val="243447"/>
                </a:solidFill>
                <a:effectLst/>
                <a:uFillTx/>
                <a:latin typeface="Arial"/>
                <a:ea typeface="Arial"/>
              </a:rPr>
              <a:t>Tạo hash Keccak-256</a:t>
            </a:r>
            <a:endParaRPr b="0" lang="en-US" sz="1320" strike="noStrike" u="none">
              <a:solidFill>
                <a:srgbClr val="000000"/>
              </a:solidFill>
              <a:effectLst/>
              <a:uFillTx/>
              <a:latin typeface="Arial"/>
            </a:endParaRPr>
          </a:p>
          <a:p>
            <a:pPr defTabSz="914400">
              <a:lnSpc>
                <a:spcPct val="100000"/>
              </a:lnSpc>
            </a:pPr>
            <a:r>
              <a:rPr b="0" lang="en-US" sz="1320" strike="noStrike" u="none">
                <a:solidFill>
                  <a:srgbClr val="243447"/>
                </a:solidFill>
                <a:effectLst/>
                <a:uFillTx/>
                <a:latin typeface="Arial"/>
                <a:ea typeface="Arial"/>
              </a:rPr>
              <a:t>Đối chiếu với Smart Contract</a:t>
            </a:r>
            <a:endParaRPr b="0" lang="en-US" sz="1320" strike="noStrike" u="none">
              <a:solidFill>
                <a:srgbClr val="000000"/>
              </a:solidFill>
              <a:effectLst/>
              <a:uFillTx/>
              <a:latin typeface="Arial"/>
            </a:endParaRPr>
          </a:p>
        </p:txBody>
      </p:sp>
      <p:sp>
        <p:nvSpPr>
          <p:cNvPr id="107" name="Shape 7"/>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08" name="Text 8"/>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109" name="Text 9"/>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7</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10"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111"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1.2 Blockchain trong xác thực văn bằng</a:t>
            </a:r>
            <a:endParaRPr b="0" lang="en-US" sz="2000" strike="noStrike" u="none">
              <a:solidFill>
                <a:srgbClr val="000000"/>
              </a:solidFill>
              <a:effectLst/>
              <a:uFillTx/>
              <a:latin typeface="Arial"/>
            </a:endParaRPr>
          </a:p>
        </p:txBody>
      </p:sp>
      <p:sp>
        <p:nvSpPr>
          <p:cNvPr id="112"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Vai trò của on-chain proof</a:t>
            </a:r>
            <a:endParaRPr b="0" lang="en-US" sz="800" strike="noStrike" u="none">
              <a:solidFill>
                <a:srgbClr val="000000"/>
              </a:solidFill>
              <a:effectLst/>
              <a:uFillTx/>
              <a:latin typeface="Arial"/>
            </a:endParaRPr>
          </a:p>
        </p:txBody>
      </p:sp>
      <p:sp>
        <p:nvSpPr>
          <p:cNvPr id="113"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14" name="Text 3"/>
          <p:cNvSpPr/>
          <p:nvPr/>
        </p:nvSpPr>
        <p:spPr>
          <a:xfrm>
            <a:off x="731520" y="1325880"/>
            <a:ext cx="5074560" cy="2925720"/>
          </a:xfrm>
          <a:prstGeom prst="rect">
            <a:avLst/>
          </a:prstGeom>
          <a:noFill/>
          <a:ln w="0">
            <a:noFill/>
          </a:ln>
        </p:spPr>
        <p:style>
          <a:lnRef idx="0"/>
          <a:fillRef idx="0"/>
          <a:effectRef idx="0"/>
          <a:fontRef idx="minor"/>
        </p:style>
        <p:txBody>
          <a:bodyPr lIns="720" rIns="720" tIns="720" bIns="720" anchor="t">
            <a:normAutofit/>
          </a:bodyPr>
          <a:p>
            <a:pPr defTabSz="914400">
              <a:lnSpc>
                <a:spcPct val="100000"/>
              </a:lnSpc>
            </a:pPr>
            <a:r>
              <a:rPr b="0" lang="en-US" sz="1430" strike="noStrike" u="none">
                <a:solidFill>
                  <a:srgbClr val="243447"/>
                </a:solidFill>
                <a:effectLst/>
                <a:uFillTx/>
                <a:latin typeface="Arial"/>
                <a:ea typeface="Arial"/>
              </a:rPr>
              <a:t>Blockchain lưu các thông tin cần thiết: mã văn bằng, documentHash, thời điểm cấp, địa chỉ đơn vị cấp và trạng thái thu hồi.</a:t>
            </a:r>
            <a:endParaRPr b="0" lang="en-US" sz="1430" strike="noStrike" u="none">
              <a:solidFill>
                <a:srgbClr val="000000"/>
              </a:solidFill>
              <a:effectLst/>
              <a:uFillTx/>
              <a:latin typeface="Arial"/>
            </a:endParaRPr>
          </a:p>
          <a:p>
            <a:pPr defTabSz="914400">
              <a:lnSpc>
                <a:spcPct val="100000"/>
              </a:lnSpc>
            </a:pPr>
            <a:r>
              <a:rPr b="0" lang="en-US" sz="1430" strike="noStrike" u="none">
                <a:solidFill>
                  <a:srgbClr val="243447"/>
                </a:solidFill>
                <a:effectLst/>
                <a:uFillTx/>
                <a:latin typeface="Arial"/>
                <a:ea typeface="Arial"/>
              </a:rPr>
              <a:t>Smart Contract hỗ trợ các nghiệp vụ cấp, xác minh và thu hồi văn bằng.</a:t>
            </a:r>
            <a:endParaRPr b="0" lang="en-US" sz="1430" strike="noStrike" u="none">
              <a:solidFill>
                <a:srgbClr val="000000"/>
              </a:solidFill>
              <a:effectLst/>
              <a:uFillTx/>
              <a:latin typeface="Arial"/>
            </a:endParaRPr>
          </a:p>
          <a:p>
            <a:pPr defTabSz="914400">
              <a:lnSpc>
                <a:spcPct val="100000"/>
              </a:lnSpc>
            </a:pPr>
            <a:r>
              <a:rPr b="0" lang="en-US" sz="1430" strike="noStrike" u="none">
                <a:solidFill>
                  <a:srgbClr val="243447"/>
                </a:solidFill>
                <a:effectLst/>
                <a:uFillTx/>
                <a:latin typeface="Arial"/>
                <a:ea typeface="Arial"/>
              </a:rPr>
              <a:t>Dữ liệu cá nhân và hồ sơ nghiệp vụ đầy đủ vẫn lưu tại MongoDB để giảm dữ liệu on-chain và bảo vệ riêng tư.</a:t>
            </a:r>
            <a:endParaRPr b="0" lang="en-US" sz="1430" strike="noStrike" u="none">
              <a:solidFill>
                <a:srgbClr val="000000"/>
              </a:solidFill>
              <a:effectLst/>
              <a:uFillTx/>
              <a:latin typeface="Arial"/>
            </a:endParaRPr>
          </a:p>
        </p:txBody>
      </p:sp>
      <p:sp>
        <p:nvSpPr>
          <p:cNvPr id="115" name="Shape 4"/>
          <p:cNvSpPr/>
          <p:nvPr/>
        </p:nvSpPr>
        <p:spPr>
          <a:xfrm>
            <a:off x="6675120" y="1920240"/>
            <a:ext cx="1051560" cy="360"/>
          </a:xfrm>
          <a:prstGeom prst="line">
            <a:avLst/>
          </a:prstGeom>
          <a:ln w="15240">
            <a:solidFill>
              <a:srgbClr val="0e4b8b"/>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16" name="Shape 5"/>
          <p:cNvSpPr/>
          <p:nvPr/>
        </p:nvSpPr>
        <p:spPr>
          <a:xfrm>
            <a:off x="8503920" y="1920240"/>
            <a:ext cx="1005840" cy="360"/>
          </a:xfrm>
          <a:prstGeom prst="line">
            <a:avLst/>
          </a:prstGeom>
          <a:ln w="15240">
            <a:solidFill>
              <a:srgbClr val="0e4b8b"/>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17" name="Shape 6"/>
          <p:cNvSpPr/>
          <p:nvPr/>
        </p:nvSpPr>
        <p:spPr>
          <a:xfrm>
            <a:off x="10195560" y="1920240"/>
            <a:ext cx="868680" cy="360"/>
          </a:xfrm>
          <a:prstGeom prst="line">
            <a:avLst/>
          </a:prstGeom>
          <a:ln w="15240">
            <a:solidFill>
              <a:srgbClr val="0e4b8b"/>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18" name="Shape 7"/>
          <p:cNvSpPr/>
          <p:nvPr/>
        </p:nvSpPr>
        <p:spPr>
          <a:xfrm>
            <a:off x="5989320" y="1536120"/>
            <a:ext cx="822600" cy="749520"/>
          </a:xfrm>
          <a:prstGeom prst="roundRect">
            <a:avLst>
              <a:gd name="adj" fmla="val 9756"/>
            </a:avLst>
          </a:prstGeom>
          <a:noFill/>
          <a:ln w="15240">
            <a:solidFill>
              <a:srgbClr val="d8dee6"/>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19" name="Text 8"/>
          <p:cNvSpPr/>
          <p:nvPr/>
        </p:nvSpPr>
        <p:spPr>
          <a:xfrm>
            <a:off x="6080760" y="1609200"/>
            <a:ext cx="639720" cy="6030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0b2d4d"/>
                </a:solidFill>
                <a:effectLst/>
                <a:uFillTx/>
                <a:latin typeface="Arial"/>
                <a:ea typeface="Arial"/>
              </a:rPr>
              <a:t>Dữ liệu</a:t>
            </a:r>
            <a:endParaRPr b="0" lang="en-US" sz="920" strike="noStrike" u="none">
              <a:solidFill>
                <a:srgbClr val="000000"/>
              </a:solidFill>
              <a:effectLst/>
              <a:uFillTx/>
              <a:latin typeface="Arial"/>
            </a:endParaRPr>
          </a:p>
          <a:p>
            <a:pPr algn="ctr" defTabSz="914400">
              <a:lnSpc>
                <a:spcPct val="100000"/>
              </a:lnSpc>
              <a:tabLst>
                <a:tab algn="l" pos="0"/>
              </a:tabLst>
            </a:pPr>
            <a:r>
              <a:rPr b="1" lang="en-US" sz="920" strike="noStrike" u="none">
                <a:solidFill>
                  <a:srgbClr val="0b2d4d"/>
                </a:solidFill>
                <a:effectLst/>
                <a:uFillTx/>
                <a:latin typeface="Arial"/>
                <a:ea typeface="Arial"/>
              </a:rPr>
              <a:t>lõi</a:t>
            </a:r>
            <a:endParaRPr b="0" lang="en-US" sz="920" strike="noStrike" u="none">
              <a:solidFill>
                <a:srgbClr val="000000"/>
              </a:solidFill>
              <a:effectLst/>
              <a:uFillTx/>
              <a:latin typeface="Arial"/>
            </a:endParaRPr>
          </a:p>
        </p:txBody>
      </p:sp>
      <p:sp>
        <p:nvSpPr>
          <p:cNvPr id="120" name="Shape 9"/>
          <p:cNvSpPr/>
          <p:nvPr/>
        </p:nvSpPr>
        <p:spPr>
          <a:xfrm>
            <a:off x="7818120" y="1536120"/>
            <a:ext cx="822600" cy="749520"/>
          </a:xfrm>
          <a:prstGeom prst="roundRect">
            <a:avLst>
              <a:gd name="adj" fmla="val 9756"/>
            </a:avLst>
          </a:prstGeom>
          <a:noFill/>
          <a:ln w="15240">
            <a:solidFill>
              <a:srgbClr val="f6b76e"/>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1" name="Text 10"/>
          <p:cNvSpPr/>
          <p:nvPr/>
        </p:nvSpPr>
        <p:spPr>
          <a:xfrm>
            <a:off x="7909560" y="1609200"/>
            <a:ext cx="639720" cy="6030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0b2d4d"/>
                </a:solidFill>
                <a:effectLst/>
                <a:uFillTx/>
                <a:latin typeface="Arial"/>
                <a:ea typeface="Arial"/>
              </a:rPr>
              <a:t>Hash</a:t>
            </a:r>
            <a:endParaRPr b="0" lang="en-US" sz="920" strike="noStrike" u="none">
              <a:solidFill>
                <a:srgbClr val="000000"/>
              </a:solidFill>
              <a:effectLst/>
              <a:uFillTx/>
              <a:latin typeface="Arial"/>
            </a:endParaRPr>
          </a:p>
        </p:txBody>
      </p:sp>
      <p:sp>
        <p:nvSpPr>
          <p:cNvPr id="122" name="Shape 11"/>
          <p:cNvSpPr/>
          <p:nvPr/>
        </p:nvSpPr>
        <p:spPr>
          <a:xfrm>
            <a:off x="9555480" y="1536120"/>
            <a:ext cx="822600" cy="749520"/>
          </a:xfrm>
          <a:prstGeom prst="roundRect">
            <a:avLst>
              <a:gd name="adj" fmla="val 9756"/>
            </a:avLst>
          </a:prstGeom>
          <a:noFill/>
          <a:ln w="15240">
            <a:solidFill>
              <a:srgbClr val="0e4b8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3" name="Text 12"/>
          <p:cNvSpPr/>
          <p:nvPr/>
        </p:nvSpPr>
        <p:spPr>
          <a:xfrm>
            <a:off x="9646920" y="1609200"/>
            <a:ext cx="639720" cy="6030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0b2d4d"/>
                </a:solidFill>
                <a:effectLst/>
                <a:uFillTx/>
                <a:latin typeface="Arial"/>
                <a:ea typeface="Arial"/>
              </a:rPr>
              <a:t>Smart</a:t>
            </a:r>
            <a:endParaRPr b="0" lang="en-US" sz="920" strike="noStrike" u="none">
              <a:solidFill>
                <a:srgbClr val="000000"/>
              </a:solidFill>
              <a:effectLst/>
              <a:uFillTx/>
              <a:latin typeface="Arial"/>
            </a:endParaRPr>
          </a:p>
          <a:p>
            <a:pPr algn="ctr" defTabSz="914400">
              <a:lnSpc>
                <a:spcPct val="100000"/>
              </a:lnSpc>
              <a:tabLst>
                <a:tab algn="l" pos="0"/>
              </a:tabLst>
            </a:pPr>
            <a:r>
              <a:rPr b="1" lang="en-US" sz="920" strike="noStrike" u="none">
                <a:solidFill>
                  <a:srgbClr val="0b2d4d"/>
                </a:solidFill>
                <a:effectLst/>
                <a:uFillTx/>
                <a:latin typeface="Arial"/>
                <a:ea typeface="Arial"/>
              </a:rPr>
              <a:t>Contract</a:t>
            </a:r>
            <a:endParaRPr b="0" lang="en-US" sz="920" strike="noStrike" u="none">
              <a:solidFill>
                <a:srgbClr val="000000"/>
              </a:solidFill>
              <a:effectLst/>
              <a:uFillTx/>
              <a:latin typeface="Arial"/>
            </a:endParaRPr>
          </a:p>
        </p:txBody>
      </p:sp>
      <p:sp>
        <p:nvSpPr>
          <p:cNvPr id="124" name="Shape 13"/>
          <p:cNvSpPr/>
          <p:nvPr/>
        </p:nvSpPr>
        <p:spPr>
          <a:xfrm>
            <a:off x="11109960" y="1536120"/>
            <a:ext cx="822600" cy="749520"/>
          </a:xfrm>
          <a:prstGeom prst="roundRect">
            <a:avLst>
              <a:gd name="adj" fmla="val 9756"/>
            </a:avLst>
          </a:prstGeom>
          <a:noFill/>
          <a:ln w="15240">
            <a:solidFill>
              <a:srgbClr val="157a6e"/>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25" name="Text 14"/>
          <p:cNvSpPr/>
          <p:nvPr/>
        </p:nvSpPr>
        <p:spPr>
          <a:xfrm>
            <a:off x="11201400" y="1609200"/>
            <a:ext cx="639720" cy="6030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0b2d4d"/>
                </a:solidFill>
                <a:effectLst/>
                <a:uFillTx/>
                <a:latin typeface="Arial"/>
                <a:ea typeface="Arial"/>
              </a:rPr>
              <a:t>Kết quả</a:t>
            </a:r>
            <a:endParaRPr b="0" lang="en-US" sz="920" strike="noStrike" u="none">
              <a:solidFill>
                <a:srgbClr val="000000"/>
              </a:solidFill>
              <a:effectLst/>
              <a:uFillTx/>
              <a:latin typeface="Arial"/>
            </a:endParaRPr>
          </a:p>
          <a:p>
            <a:pPr algn="ctr" defTabSz="914400">
              <a:lnSpc>
                <a:spcPct val="100000"/>
              </a:lnSpc>
              <a:tabLst>
                <a:tab algn="l" pos="0"/>
              </a:tabLst>
            </a:pPr>
            <a:r>
              <a:rPr b="1" lang="en-US" sz="920" strike="noStrike" u="none">
                <a:solidFill>
                  <a:srgbClr val="0b2d4d"/>
                </a:solidFill>
                <a:effectLst/>
                <a:uFillTx/>
                <a:latin typeface="Arial"/>
                <a:ea typeface="Arial"/>
              </a:rPr>
              <a:t>xác minh</a:t>
            </a:r>
            <a:endParaRPr b="0" lang="en-US" sz="920" strike="noStrike" u="none">
              <a:solidFill>
                <a:srgbClr val="000000"/>
              </a:solidFill>
              <a:effectLst/>
              <a:uFillTx/>
              <a:latin typeface="Arial"/>
            </a:endParaRPr>
          </a:p>
        </p:txBody>
      </p:sp>
      <p:pic>
        <p:nvPicPr>
          <p:cNvPr id="126" name="Image 1" descr="/mnt/data/docx_media/word/media/image34.png"/>
          <p:cNvPicPr/>
          <p:nvPr/>
        </p:nvPicPr>
        <p:blipFill>
          <a:blip r:embed="rId2"/>
          <a:stretch/>
        </p:blipFill>
        <p:spPr>
          <a:xfrm>
            <a:off x="6714000" y="2999160"/>
            <a:ext cx="4356720" cy="2057040"/>
          </a:xfrm>
          <a:prstGeom prst="rect">
            <a:avLst/>
          </a:prstGeom>
          <a:noFill/>
          <a:ln w="0">
            <a:noFill/>
          </a:ln>
        </p:spPr>
      </p:pic>
      <p:sp>
        <p:nvSpPr>
          <p:cNvPr id="127" name="Text 15"/>
          <p:cNvSpPr/>
          <p:nvPr/>
        </p:nvSpPr>
        <p:spPr>
          <a:xfrm>
            <a:off x="6629400" y="5129640"/>
            <a:ext cx="45259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Giao diện quản lý giao dịch qua Blockchain</a:t>
            </a:r>
            <a:endParaRPr b="0" lang="en-US" sz="750" strike="noStrike" u="none">
              <a:solidFill>
                <a:srgbClr val="000000"/>
              </a:solidFill>
              <a:effectLst/>
              <a:uFillTx/>
              <a:latin typeface="Arial"/>
            </a:endParaRPr>
          </a:p>
        </p:txBody>
      </p:sp>
      <p:sp>
        <p:nvSpPr>
          <p:cNvPr id="128" name="Shape 16"/>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29" name="Text 17"/>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130" name="Text 18"/>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8</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1"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132"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1.3 Công nghệ sử dụng</a:t>
            </a:r>
            <a:endParaRPr b="0" lang="en-US" sz="2000" strike="noStrike" u="none">
              <a:solidFill>
                <a:srgbClr val="000000"/>
              </a:solidFill>
              <a:effectLst/>
              <a:uFillTx/>
              <a:latin typeface="Arial"/>
            </a:endParaRPr>
          </a:p>
        </p:txBody>
      </p:sp>
      <p:sp>
        <p:nvSpPr>
          <p:cNvPr id="133"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Kiến trúc web và Blockchain EVM</a:t>
            </a:r>
            <a:endParaRPr b="0" lang="en-US" sz="800" strike="noStrike" u="none">
              <a:solidFill>
                <a:srgbClr val="000000"/>
              </a:solidFill>
              <a:effectLst/>
              <a:uFillTx/>
              <a:latin typeface="Arial"/>
            </a:endParaRPr>
          </a:p>
        </p:txBody>
      </p:sp>
      <p:sp>
        <p:nvSpPr>
          <p:cNvPr id="134"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35" name="Shape 3"/>
          <p:cNvSpPr/>
          <p:nvPr/>
        </p:nvSpPr>
        <p:spPr>
          <a:xfrm>
            <a:off x="822960" y="1234440"/>
            <a:ext cx="4983120" cy="785880"/>
          </a:xfrm>
          <a:prstGeom prst="roundRect">
            <a:avLst>
              <a:gd name="adj" fmla="val 11628"/>
            </a:avLst>
          </a:prstGeom>
          <a:noFill/>
          <a:ln w="12700">
            <a:solidFill>
              <a:srgbClr val="f6b76e"/>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36" name="Text 4"/>
          <p:cNvSpPr/>
          <p:nvPr/>
        </p:nvSpPr>
        <p:spPr>
          <a:xfrm>
            <a:off x="1024200" y="1362600"/>
            <a:ext cx="20570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0b2d4d"/>
                </a:solidFill>
                <a:effectLst/>
                <a:uFillTx/>
                <a:latin typeface="Arial"/>
                <a:ea typeface="Arial"/>
              </a:rPr>
              <a:t>React + Ant Design</a:t>
            </a:r>
            <a:endParaRPr b="0" lang="en-US" sz="1300" strike="noStrike" u="none">
              <a:solidFill>
                <a:srgbClr val="000000"/>
              </a:solidFill>
              <a:effectLst/>
              <a:uFillTx/>
              <a:latin typeface="Arial"/>
            </a:endParaRPr>
          </a:p>
        </p:txBody>
      </p:sp>
      <p:sp>
        <p:nvSpPr>
          <p:cNvPr id="137" name="Text 5"/>
          <p:cNvSpPr/>
          <p:nvPr/>
        </p:nvSpPr>
        <p:spPr>
          <a:xfrm>
            <a:off x="1024200" y="1627560"/>
            <a:ext cx="44802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50" strike="noStrike" u="none">
                <a:solidFill>
                  <a:srgbClr val="243447"/>
                </a:solidFill>
                <a:effectLst/>
                <a:uFillTx/>
                <a:latin typeface="Arial"/>
                <a:ea typeface="Arial"/>
              </a:rPr>
              <a:t>Xây dựng giao diện quản trị và tra cứu trực quan.</a:t>
            </a:r>
            <a:endParaRPr b="0" lang="en-US" sz="950" strike="noStrike" u="none">
              <a:solidFill>
                <a:srgbClr val="000000"/>
              </a:solidFill>
              <a:effectLst/>
              <a:uFillTx/>
              <a:latin typeface="Arial"/>
            </a:endParaRPr>
          </a:p>
        </p:txBody>
      </p:sp>
      <p:sp>
        <p:nvSpPr>
          <p:cNvPr id="138" name="Shape 6"/>
          <p:cNvSpPr/>
          <p:nvPr/>
        </p:nvSpPr>
        <p:spPr>
          <a:xfrm>
            <a:off x="822960" y="2212920"/>
            <a:ext cx="4983120" cy="785880"/>
          </a:xfrm>
          <a:prstGeom prst="roundRect">
            <a:avLst>
              <a:gd name="adj" fmla="val 11628"/>
            </a:avLst>
          </a:prstGeom>
          <a:noFill/>
          <a:ln w="12700">
            <a:solidFill>
              <a:srgbClr val="e6ecf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39" name="Text 7"/>
          <p:cNvSpPr/>
          <p:nvPr/>
        </p:nvSpPr>
        <p:spPr>
          <a:xfrm>
            <a:off x="1024200" y="2340720"/>
            <a:ext cx="20570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0b2d4d"/>
                </a:solidFill>
                <a:effectLst/>
                <a:uFillTx/>
                <a:latin typeface="Arial"/>
                <a:ea typeface="Arial"/>
              </a:rPr>
              <a:t>Express / Node.js</a:t>
            </a:r>
            <a:endParaRPr b="0" lang="en-US" sz="1300" strike="noStrike" u="none">
              <a:solidFill>
                <a:srgbClr val="000000"/>
              </a:solidFill>
              <a:effectLst/>
              <a:uFillTx/>
              <a:latin typeface="Arial"/>
            </a:endParaRPr>
          </a:p>
        </p:txBody>
      </p:sp>
      <p:sp>
        <p:nvSpPr>
          <p:cNvPr id="140" name="Text 8"/>
          <p:cNvSpPr/>
          <p:nvPr/>
        </p:nvSpPr>
        <p:spPr>
          <a:xfrm>
            <a:off x="1024200" y="2606040"/>
            <a:ext cx="44802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50" strike="noStrike" u="none">
                <a:solidFill>
                  <a:srgbClr val="243447"/>
                </a:solidFill>
                <a:effectLst/>
                <a:uFillTx/>
                <a:latin typeface="Arial"/>
                <a:ea typeface="Arial"/>
              </a:rPr>
              <a:t>Xử lý nghiệp vụ, API RESTful, phân quyền và tích hợp hệ thống.</a:t>
            </a:r>
            <a:endParaRPr b="0" lang="en-US" sz="950" strike="noStrike" u="none">
              <a:solidFill>
                <a:srgbClr val="000000"/>
              </a:solidFill>
              <a:effectLst/>
              <a:uFillTx/>
              <a:latin typeface="Arial"/>
            </a:endParaRPr>
          </a:p>
        </p:txBody>
      </p:sp>
      <p:sp>
        <p:nvSpPr>
          <p:cNvPr id="141" name="Shape 9"/>
          <p:cNvSpPr/>
          <p:nvPr/>
        </p:nvSpPr>
        <p:spPr>
          <a:xfrm>
            <a:off x="822960" y="3191400"/>
            <a:ext cx="4983120" cy="785880"/>
          </a:xfrm>
          <a:prstGeom prst="roundRect">
            <a:avLst>
              <a:gd name="adj" fmla="val 11628"/>
            </a:avLst>
          </a:prstGeom>
          <a:noFill/>
          <a:ln w="12700">
            <a:solidFill>
              <a:srgbClr val="f6b76e"/>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2" name="Text 10"/>
          <p:cNvSpPr/>
          <p:nvPr/>
        </p:nvSpPr>
        <p:spPr>
          <a:xfrm>
            <a:off x="1024200" y="3319200"/>
            <a:ext cx="20570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0b2d4d"/>
                </a:solidFill>
                <a:effectLst/>
                <a:uFillTx/>
                <a:latin typeface="Arial"/>
                <a:ea typeface="Arial"/>
              </a:rPr>
              <a:t>MongoDB</a:t>
            </a:r>
            <a:endParaRPr b="0" lang="en-US" sz="1300" strike="noStrike" u="none">
              <a:solidFill>
                <a:srgbClr val="000000"/>
              </a:solidFill>
              <a:effectLst/>
              <a:uFillTx/>
              <a:latin typeface="Arial"/>
            </a:endParaRPr>
          </a:p>
        </p:txBody>
      </p:sp>
      <p:sp>
        <p:nvSpPr>
          <p:cNvPr id="143" name="Text 11"/>
          <p:cNvSpPr/>
          <p:nvPr/>
        </p:nvSpPr>
        <p:spPr>
          <a:xfrm>
            <a:off x="1024200" y="3584520"/>
            <a:ext cx="44802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50" strike="noStrike" u="none">
                <a:solidFill>
                  <a:srgbClr val="243447"/>
                </a:solidFill>
                <a:effectLst/>
                <a:uFillTx/>
                <a:latin typeface="Arial"/>
                <a:ea typeface="Arial"/>
              </a:rPr>
              <a:t>Lưu dữ liệu người dùng, sinh viên, văn bằng, giao dịch và lịch sử xác minh.</a:t>
            </a:r>
            <a:endParaRPr b="0" lang="en-US" sz="950" strike="noStrike" u="none">
              <a:solidFill>
                <a:srgbClr val="000000"/>
              </a:solidFill>
              <a:effectLst/>
              <a:uFillTx/>
              <a:latin typeface="Arial"/>
            </a:endParaRPr>
          </a:p>
        </p:txBody>
      </p:sp>
      <p:sp>
        <p:nvSpPr>
          <p:cNvPr id="144" name="Shape 12"/>
          <p:cNvSpPr/>
          <p:nvPr/>
        </p:nvSpPr>
        <p:spPr>
          <a:xfrm>
            <a:off x="822960" y="4169520"/>
            <a:ext cx="4983120" cy="785880"/>
          </a:xfrm>
          <a:prstGeom prst="roundRect">
            <a:avLst>
              <a:gd name="adj" fmla="val 11628"/>
            </a:avLst>
          </a:prstGeom>
          <a:noFill/>
          <a:ln w="12700">
            <a:solidFill>
              <a:srgbClr val="e6ecf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45" name="Text 13"/>
          <p:cNvSpPr/>
          <p:nvPr/>
        </p:nvSpPr>
        <p:spPr>
          <a:xfrm>
            <a:off x="1024200" y="4297680"/>
            <a:ext cx="2057040" cy="20088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0b2d4d"/>
                </a:solidFill>
                <a:effectLst/>
                <a:uFillTx/>
                <a:latin typeface="Arial"/>
                <a:ea typeface="Arial"/>
              </a:rPr>
              <a:t>Solidity + ethers.js</a:t>
            </a:r>
            <a:endParaRPr b="0" lang="en-US" sz="1300" strike="noStrike" u="none">
              <a:solidFill>
                <a:srgbClr val="000000"/>
              </a:solidFill>
              <a:effectLst/>
              <a:uFillTx/>
              <a:latin typeface="Arial"/>
            </a:endParaRPr>
          </a:p>
        </p:txBody>
      </p:sp>
      <p:sp>
        <p:nvSpPr>
          <p:cNvPr id="146" name="Text 14"/>
          <p:cNvSpPr/>
          <p:nvPr/>
        </p:nvSpPr>
        <p:spPr>
          <a:xfrm>
            <a:off x="1024200" y="4563000"/>
            <a:ext cx="448020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950" strike="noStrike" u="none">
                <a:solidFill>
                  <a:srgbClr val="243447"/>
                </a:solidFill>
                <a:effectLst/>
                <a:uFillTx/>
                <a:latin typeface="Arial"/>
                <a:ea typeface="Arial"/>
              </a:rPr>
              <a:t>Triển khai Smart Contract và kết nối backend với mạng EVM.</a:t>
            </a:r>
            <a:endParaRPr b="0" lang="en-US" sz="950" strike="noStrike" u="none">
              <a:solidFill>
                <a:srgbClr val="000000"/>
              </a:solidFill>
              <a:effectLst/>
              <a:uFillTx/>
              <a:latin typeface="Arial"/>
            </a:endParaRPr>
          </a:p>
        </p:txBody>
      </p:sp>
      <p:pic>
        <p:nvPicPr>
          <p:cNvPr id="147" name="Image 1" descr="/mnt/data/docx_media/word/media/image25.png"/>
          <p:cNvPicPr/>
          <p:nvPr/>
        </p:nvPicPr>
        <p:blipFill>
          <a:blip r:embed="rId2"/>
          <a:stretch/>
        </p:blipFill>
        <p:spPr>
          <a:xfrm>
            <a:off x="6582960" y="1417320"/>
            <a:ext cx="4207320" cy="2011320"/>
          </a:xfrm>
          <a:prstGeom prst="rect">
            <a:avLst/>
          </a:prstGeom>
          <a:noFill/>
          <a:ln w="0">
            <a:noFill/>
          </a:ln>
        </p:spPr>
      </p:pic>
      <p:sp>
        <p:nvSpPr>
          <p:cNvPr id="148" name="Text 15"/>
          <p:cNvSpPr/>
          <p:nvPr/>
        </p:nvSpPr>
        <p:spPr>
          <a:xfrm>
            <a:off x="6492240" y="3502080"/>
            <a:ext cx="43887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Giao diện trang chủ Certificate Chain</a:t>
            </a:r>
            <a:endParaRPr b="0" lang="en-US" sz="750" strike="noStrike" u="none">
              <a:solidFill>
                <a:srgbClr val="000000"/>
              </a:solidFill>
              <a:effectLst/>
              <a:uFillTx/>
              <a:latin typeface="Arial"/>
            </a:endParaRPr>
          </a:p>
        </p:txBody>
      </p:sp>
      <p:pic>
        <p:nvPicPr>
          <p:cNvPr id="149" name="Image 2" descr="/mnt/data/docx_media/word/media/image27.png"/>
          <p:cNvPicPr/>
          <p:nvPr/>
        </p:nvPicPr>
        <p:blipFill>
          <a:blip r:embed="rId3"/>
          <a:stretch/>
        </p:blipFill>
        <p:spPr>
          <a:xfrm>
            <a:off x="7360920" y="3943080"/>
            <a:ext cx="2559960" cy="1211400"/>
          </a:xfrm>
          <a:prstGeom prst="rect">
            <a:avLst/>
          </a:prstGeom>
          <a:noFill/>
          <a:ln w="0">
            <a:noFill/>
          </a:ln>
        </p:spPr>
      </p:pic>
      <p:sp>
        <p:nvSpPr>
          <p:cNvPr id="150" name="Text 16"/>
          <p:cNvSpPr/>
          <p:nvPr/>
        </p:nvSpPr>
        <p:spPr>
          <a:xfrm>
            <a:off x="7360920" y="5376600"/>
            <a:ext cx="25599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Giao diện đăng nhập</a:t>
            </a:r>
            <a:endParaRPr b="0" lang="en-US" sz="750" strike="noStrike" u="none">
              <a:solidFill>
                <a:srgbClr val="000000"/>
              </a:solidFill>
              <a:effectLst/>
              <a:uFillTx/>
              <a:latin typeface="Arial"/>
            </a:endParaRPr>
          </a:p>
        </p:txBody>
      </p:sp>
      <p:sp>
        <p:nvSpPr>
          <p:cNvPr id="151" name="Shape 17"/>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52" name="Text 18"/>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153" name="Text 19"/>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9</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154" name="Shape 0"/>
          <p:cNvSpPr/>
          <p:nvPr/>
        </p:nvSpPr>
        <p:spPr>
          <a:xfrm>
            <a:off x="9829800" y="502920"/>
            <a:ext cx="868320" cy="868320"/>
          </a:xfrm>
          <a:prstGeom prst="hexagon">
            <a:avLst>
              <a:gd name="adj" fmla="val 25000"/>
              <a:gd name="vf" fmla="val 115470"/>
            </a:avLst>
          </a:prstGeom>
          <a:solidFill>
            <a:srgbClr val="f6b76e">
              <a:alpha val="90000"/>
            </a:srgbClr>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5" name="Shape 1"/>
          <p:cNvSpPr/>
          <p:nvPr/>
        </p:nvSpPr>
        <p:spPr>
          <a:xfrm>
            <a:off x="10835640" y="320040"/>
            <a:ext cx="502560" cy="502560"/>
          </a:xfrm>
          <a:prstGeom prst="hexagon">
            <a:avLst>
              <a:gd name="adj" fmla="val 25000"/>
              <a:gd name="vf" fmla="val 115470"/>
            </a:avLst>
          </a:prstGeom>
          <a:solidFill>
            <a:srgbClr val="afc3d8"/>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6" name="Shape 2"/>
          <p:cNvSpPr/>
          <p:nvPr/>
        </p:nvSpPr>
        <p:spPr>
          <a:xfrm>
            <a:off x="9144000" y="1417320"/>
            <a:ext cx="383760" cy="383760"/>
          </a:xfrm>
          <a:prstGeom prst="hexagon">
            <a:avLst>
              <a:gd name="adj" fmla="val 25000"/>
              <a:gd name="vf" fmla="val 115470"/>
            </a:avLst>
          </a:prstGeom>
          <a:noFill/>
          <a:ln w="12700">
            <a:solidFill>
              <a:srgbClr val="afc3d8">
                <a:alpha val="8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7" name="Shape 3"/>
          <p:cNvSpPr/>
          <p:nvPr/>
        </p:nvSpPr>
        <p:spPr>
          <a:xfrm>
            <a:off x="10607040" y="1737360"/>
            <a:ext cx="319680" cy="319680"/>
          </a:xfrm>
          <a:prstGeom prst="hexagon">
            <a:avLst>
              <a:gd name="adj" fmla="val 25000"/>
              <a:gd name="vf" fmla="val 115470"/>
            </a:avLst>
          </a:prstGeom>
          <a:solidFill>
            <a:srgbClr val="ffe5c2"/>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8" name="Shape 4"/>
          <p:cNvSpPr/>
          <p:nvPr/>
        </p:nvSpPr>
        <p:spPr>
          <a:xfrm>
            <a:off x="457200" y="5120640"/>
            <a:ext cx="502560" cy="502560"/>
          </a:xfrm>
          <a:prstGeom prst="hexagon">
            <a:avLst>
              <a:gd name="adj" fmla="val 25000"/>
              <a:gd name="vf" fmla="val 115470"/>
            </a:avLst>
          </a:prstGeom>
          <a:noFill/>
          <a:ln w="12700">
            <a:solidFill>
              <a:srgbClr val="afc3d8">
                <a:alpha val="8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59" name="Shape 5"/>
          <p:cNvSpPr/>
          <p:nvPr/>
        </p:nvSpPr>
        <p:spPr>
          <a:xfrm>
            <a:off x="1051560" y="4617720"/>
            <a:ext cx="1234080" cy="1234080"/>
          </a:xfrm>
          <a:prstGeom prst="hexagon">
            <a:avLst>
              <a:gd name="adj" fmla="val 25000"/>
              <a:gd name="vf" fmla="val 115470"/>
            </a:avLst>
          </a:prstGeom>
          <a:solidFill>
            <a:srgbClr val="f6b76e">
              <a:alpha val="88000"/>
            </a:srgbClr>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0" name="Shape 6"/>
          <p:cNvSpPr/>
          <p:nvPr/>
        </p:nvSpPr>
        <p:spPr>
          <a:xfrm>
            <a:off x="2423160" y="4754880"/>
            <a:ext cx="621360" cy="621360"/>
          </a:xfrm>
          <a:prstGeom prst="hexagon">
            <a:avLst>
              <a:gd name="adj" fmla="val 25000"/>
              <a:gd name="vf" fmla="val 115470"/>
            </a:avLst>
          </a:prstGeom>
          <a:solidFill>
            <a:srgbClr val="afc3d8"/>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61" name="Text 7"/>
          <p:cNvSpPr/>
          <p:nvPr/>
        </p:nvSpPr>
        <p:spPr>
          <a:xfrm>
            <a:off x="5074920" y="2816280"/>
            <a:ext cx="530316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0b2d4d"/>
                </a:solidFill>
                <a:effectLst/>
                <a:uFillTx/>
                <a:latin typeface="Arial"/>
                <a:ea typeface="Arial"/>
              </a:rPr>
              <a:t>2. PHÂN TÍCH THIẾT KẾ HỆ THỐNG</a:t>
            </a:r>
            <a:endParaRPr b="0" lang="en-US" sz="2100" strike="noStrike" u="none">
              <a:solidFill>
                <a:srgbClr val="000000"/>
              </a:solidFill>
              <a:effectLst/>
              <a:uFillTx/>
              <a:latin typeface="Arial"/>
            </a:endParaRPr>
          </a:p>
        </p:txBody>
      </p:sp>
      <p:sp>
        <p:nvSpPr>
          <p:cNvPr id="162" name="Text 8"/>
          <p:cNvSpPr/>
          <p:nvPr/>
        </p:nvSpPr>
        <p:spPr>
          <a:xfrm>
            <a:off x="5120640" y="3246120"/>
            <a:ext cx="502884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Yêu cầu, mô hình đề xuất và thiết kế dữ liệu</a:t>
            </a:r>
            <a:endParaRPr b="0" lang="en-US" sz="800" strike="noStrike" u="none">
              <a:solidFill>
                <a:srgbClr val="000000"/>
              </a:solidFill>
              <a:effectLst/>
              <a:uFillTx/>
              <a:latin typeface="Arial"/>
            </a:endParaRPr>
          </a:p>
        </p:txBody>
      </p:sp>
      <p:sp>
        <p:nvSpPr>
          <p:cNvPr id="163" name="Shape 9"/>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64" name="Text 10"/>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165" name="Text 11"/>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10</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66"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167"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2.1 Mô tả hệ thống</a:t>
            </a:r>
            <a:endParaRPr b="0" lang="en-US" sz="2000" strike="noStrike" u="none">
              <a:solidFill>
                <a:srgbClr val="000000"/>
              </a:solidFill>
              <a:effectLst/>
              <a:uFillTx/>
              <a:latin typeface="Arial"/>
            </a:endParaRPr>
          </a:p>
        </p:txBody>
      </p:sp>
      <p:sp>
        <p:nvSpPr>
          <p:cNvPr id="168"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Nền tảng web quản lý và xác thực văn bằng</a:t>
            </a:r>
            <a:endParaRPr b="0" lang="en-US" sz="800" strike="noStrike" u="none">
              <a:solidFill>
                <a:srgbClr val="000000"/>
              </a:solidFill>
              <a:effectLst/>
              <a:uFillTx/>
              <a:latin typeface="Arial"/>
            </a:endParaRPr>
          </a:p>
        </p:txBody>
      </p:sp>
      <p:sp>
        <p:nvSpPr>
          <p:cNvPr id="169"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70" name="Text 3"/>
          <p:cNvSpPr/>
          <p:nvPr/>
        </p:nvSpPr>
        <p:spPr>
          <a:xfrm>
            <a:off x="777240" y="1325880"/>
            <a:ext cx="5211720" cy="959760"/>
          </a:xfrm>
          <a:prstGeom prst="rect">
            <a:avLst/>
          </a:prstGeom>
          <a:noFill/>
          <a:ln w="0">
            <a:noFill/>
          </a:ln>
        </p:spPr>
        <p:style>
          <a:lnRef idx="0"/>
          <a:fillRef idx="0"/>
          <a:effectRef idx="0"/>
          <a:fontRef idx="minor"/>
        </p:style>
        <p:txBody>
          <a:bodyPr lIns="720" rIns="720" tIns="720" bIns="720" anchor="ctr">
            <a:normAutofit/>
          </a:bodyPr>
          <a:p>
            <a:pPr defTabSz="914400">
              <a:lnSpc>
                <a:spcPct val="100000"/>
              </a:lnSpc>
              <a:tabLst>
                <a:tab algn="l" pos="0"/>
              </a:tabLst>
            </a:pPr>
            <a:r>
              <a:rPr b="0" lang="en-US" sz="1450" strike="noStrike" u="none">
                <a:solidFill>
                  <a:srgbClr val="243447"/>
                </a:solidFill>
                <a:effectLst/>
                <a:uFillTx/>
                <a:latin typeface="Arial"/>
                <a:ea typeface="Arial"/>
              </a:rPr>
              <a:t>Hệ thống hỗ trợ cơ sở đào tạo quản lý sinh viên, cấp văn bằng, tra cứu, xác minh và thu hồi văn bằng số. CSDL lưu nghiệp vụ đầy đủ, Blockchain lưu hash và trạng thái cần thiết để kiểm tra tính toàn vẹn.</a:t>
            </a:r>
            <a:endParaRPr b="0" lang="en-US" sz="1450" strike="noStrike" u="none">
              <a:solidFill>
                <a:srgbClr val="000000"/>
              </a:solidFill>
              <a:effectLst/>
              <a:uFillTx/>
              <a:latin typeface="Arial"/>
            </a:endParaRPr>
          </a:p>
        </p:txBody>
      </p:sp>
      <p:sp>
        <p:nvSpPr>
          <p:cNvPr id="171" name="Text 4"/>
          <p:cNvSpPr/>
          <p:nvPr/>
        </p:nvSpPr>
        <p:spPr>
          <a:xfrm>
            <a:off x="822960" y="2514600"/>
            <a:ext cx="5074560" cy="1919880"/>
          </a:xfrm>
          <a:prstGeom prst="rect">
            <a:avLst/>
          </a:prstGeom>
          <a:noFill/>
          <a:ln w="0">
            <a:noFill/>
          </a:ln>
        </p:spPr>
        <p:style>
          <a:lnRef idx="0"/>
          <a:fillRef idx="0"/>
          <a:effectRef idx="0"/>
          <a:fontRef idx="minor"/>
        </p:style>
        <p:txBody>
          <a:bodyPr lIns="720" rIns="720" tIns="720" bIns="720" anchor="t">
            <a:normAutofit/>
          </a:bodyPr>
          <a:p>
            <a:pPr defTabSz="914400">
              <a:lnSpc>
                <a:spcPct val="100000"/>
              </a:lnSpc>
            </a:pPr>
            <a:r>
              <a:rPr b="0" lang="en-US" sz="1420" strike="noStrike" u="none">
                <a:solidFill>
                  <a:srgbClr val="243447"/>
                </a:solidFill>
                <a:effectLst/>
                <a:uFillTx/>
                <a:latin typeface="Arial"/>
                <a:ea typeface="Arial"/>
              </a:rPr>
              <a:t>Quản trị viên quản lý dữ liệu và xử lý nghiệp vụ văn bằng.</a:t>
            </a:r>
            <a:endParaRPr b="0" lang="en-US" sz="1420" strike="noStrike" u="none">
              <a:solidFill>
                <a:srgbClr val="000000"/>
              </a:solidFill>
              <a:effectLst/>
              <a:uFillTx/>
              <a:latin typeface="Arial"/>
            </a:endParaRPr>
          </a:p>
          <a:p>
            <a:pPr defTabSz="914400">
              <a:lnSpc>
                <a:spcPct val="100000"/>
              </a:lnSpc>
            </a:pPr>
            <a:r>
              <a:rPr b="0" lang="en-US" sz="1420" strike="noStrike" u="none">
                <a:solidFill>
                  <a:srgbClr val="243447"/>
                </a:solidFill>
                <a:effectLst/>
                <a:uFillTx/>
                <a:latin typeface="Arial"/>
                <a:ea typeface="Arial"/>
              </a:rPr>
              <a:t>Sinh viên xem hồ sơ và văn bằng thuộc tài khoản của mình.</a:t>
            </a:r>
            <a:endParaRPr b="0" lang="en-US" sz="1420" strike="noStrike" u="none">
              <a:solidFill>
                <a:srgbClr val="000000"/>
              </a:solidFill>
              <a:effectLst/>
              <a:uFillTx/>
              <a:latin typeface="Arial"/>
            </a:endParaRPr>
          </a:p>
          <a:p>
            <a:pPr defTabSz="914400">
              <a:lnSpc>
                <a:spcPct val="100000"/>
              </a:lnSpc>
            </a:pPr>
            <a:r>
              <a:rPr b="0" lang="en-US" sz="1420" strike="noStrike" u="none">
                <a:solidFill>
                  <a:srgbClr val="243447"/>
                </a:solidFill>
                <a:effectLst/>
                <a:uFillTx/>
                <a:latin typeface="Arial"/>
                <a:ea typeface="Arial"/>
              </a:rPr>
              <a:t>Người dùng công khai xác minh bằng mã văn bằng hoặc QR Code.</a:t>
            </a:r>
            <a:endParaRPr b="0" lang="en-US" sz="1420" strike="noStrike" u="none">
              <a:solidFill>
                <a:srgbClr val="000000"/>
              </a:solidFill>
              <a:effectLst/>
              <a:uFillTx/>
              <a:latin typeface="Arial"/>
            </a:endParaRPr>
          </a:p>
        </p:txBody>
      </p:sp>
      <p:pic>
        <p:nvPicPr>
          <p:cNvPr id="172" name="Image 1" descr="/mnt/data/docx_media/word/media/image2.png"/>
          <p:cNvPicPr/>
          <p:nvPr/>
        </p:nvPicPr>
        <p:blipFill>
          <a:blip r:embed="rId2"/>
          <a:stretch/>
        </p:blipFill>
        <p:spPr>
          <a:xfrm>
            <a:off x="6400800" y="1293480"/>
            <a:ext cx="4937400" cy="3493440"/>
          </a:xfrm>
          <a:prstGeom prst="rect">
            <a:avLst/>
          </a:prstGeom>
          <a:noFill/>
          <a:ln w="0">
            <a:noFill/>
          </a:ln>
        </p:spPr>
      </p:pic>
      <p:sp>
        <p:nvSpPr>
          <p:cNvPr id="173" name="Text 5"/>
          <p:cNvSpPr/>
          <p:nvPr/>
        </p:nvSpPr>
        <p:spPr>
          <a:xfrm>
            <a:off x="6400800" y="4873680"/>
            <a:ext cx="49374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Mô hình đề xuất quản lý và xác thực văn bằng bằng Blockchain</a:t>
            </a:r>
            <a:endParaRPr b="0" lang="en-US" sz="750" strike="noStrike" u="none">
              <a:solidFill>
                <a:srgbClr val="000000"/>
              </a:solidFill>
              <a:effectLst/>
              <a:uFillTx/>
              <a:latin typeface="Arial"/>
            </a:endParaRPr>
          </a:p>
        </p:txBody>
      </p:sp>
      <p:sp>
        <p:nvSpPr>
          <p:cNvPr id="174" name="Shape 6"/>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75" name="Text 7"/>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176" name="Text 8"/>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11</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77"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178"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2.2 Yêu cầu chức năng</a:t>
            </a:r>
            <a:endParaRPr b="0" lang="en-US" sz="2000" strike="noStrike" u="none">
              <a:solidFill>
                <a:srgbClr val="000000"/>
              </a:solidFill>
              <a:effectLst/>
              <a:uFillTx/>
              <a:latin typeface="Arial"/>
            </a:endParaRPr>
          </a:p>
        </p:txBody>
      </p:sp>
      <p:sp>
        <p:nvSpPr>
          <p:cNvPr id="179"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Phân quyền theo nhóm người dùng</a:t>
            </a:r>
            <a:endParaRPr b="0" lang="en-US" sz="800" strike="noStrike" u="none">
              <a:solidFill>
                <a:srgbClr val="000000"/>
              </a:solidFill>
              <a:effectLst/>
              <a:uFillTx/>
              <a:latin typeface="Arial"/>
            </a:endParaRPr>
          </a:p>
        </p:txBody>
      </p:sp>
      <p:sp>
        <p:nvSpPr>
          <p:cNvPr id="180"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81" name="Shape 3"/>
          <p:cNvSpPr/>
          <p:nvPr/>
        </p:nvSpPr>
        <p:spPr>
          <a:xfrm>
            <a:off x="731520" y="1417320"/>
            <a:ext cx="3337200" cy="4160160"/>
          </a:xfrm>
          <a:prstGeom prst="roundRect">
            <a:avLst>
              <a:gd name="adj" fmla="val 2740"/>
            </a:avLst>
          </a:prstGeom>
          <a:noFill/>
          <a:ln w="12700">
            <a:solidFill>
              <a:srgbClr val="f6b76e"/>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2" name="Text 4"/>
          <p:cNvSpPr/>
          <p:nvPr/>
        </p:nvSpPr>
        <p:spPr>
          <a:xfrm>
            <a:off x="914400" y="1645920"/>
            <a:ext cx="297144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800" strike="noStrike" u="none">
                <a:solidFill>
                  <a:srgbClr val="0b2d4d"/>
                </a:solidFill>
                <a:effectLst/>
                <a:uFillTx/>
                <a:latin typeface="Arial"/>
                <a:ea typeface="Arial"/>
              </a:rPr>
              <a:t>ADMIN</a:t>
            </a:r>
            <a:endParaRPr b="0" lang="en-US" sz="1800" strike="noStrike" u="none">
              <a:solidFill>
                <a:srgbClr val="000000"/>
              </a:solidFill>
              <a:effectLst/>
              <a:uFillTx/>
              <a:latin typeface="Arial"/>
            </a:endParaRPr>
          </a:p>
        </p:txBody>
      </p:sp>
      <p:sp>
        <p:nvSpPr>
          <p:cNvPr id="183" name="Text 5"/>
          <p:cNvSpPr/>
          <p:nvPr/>
        </p:nvSpPr>
        <p:spPr>
          <a:xfrm>
            <a:off x="1033200" y="2240280"/>
            <a:ext cx="2742840" cy="2514240"/>
          </a:xfrm>
          <a:prstGeom prst="rect">
            <a:avLst/>
          </a:prstGeom>
          <a:noFill/>
          <a:ln w="0">
            <a:noFill/>
          </a:ln>
        </p:spPr>
        <p:style>
          <a:lnRef idx="0"/>
          <a:fillRef idx="0"/>
          <a:effectRef idx="0"/>
          <a:fontRef idx="minor"/>
        </p:style>
        <p:txBody>
          <a:bodyPr lIns="720" rIns="720" tIns="720" bIns="720" anchor="t">
            <a:normAutofit/>
          </a:bodyPr>
          <a:p>
            <a:pPr defTabSz="914400">
              <a:lnSpc>
                <a:spcPct val="100000"/>
              </a:lnSpc>
            </a:pPr>
            <a:r>
              <a:rPr b="0" lang="en-US" sz="1150" strike="noStrike" u="none">
                <a:solidFill>
                  <a:srgbClr val="243447"/>
                </a:solidFill>
                <a:effectLst/>
                <a:uFillTx/>
                <a:latin typeface="Arial"/>
                <a:ea typeface="Arial"/>
              </a:rPr>
              <a:t>Quản lý tài khoản, sinh viên, cơ sở đào tạo</a:t>
            </a:r>
            <a:endParaRPr b="0" lang="en-US" sz="1150" strike="noStrike" u="none">
              <a:solidFill>
                <a:srgbClr val="000000"/>
              </a:solidFill>
              <a:effectLst/>
              <a:uFillTx/>
              <a:latin typeface="Arial"/>
            </a:endParaRPr>
          </a:p>
          <a:p>
            <a:pPr defTabSz="914400">
              <a:lnSpc>
                <a:spcPct val="100000"/>
              </a:lnSpc>
            </a:pPr>
            <a:r>
              <a:rPr b="0" lang="en-US" sz="1150" strike="noStrike" u="none">
                <a:solidFill>
                  <a:srgbClr val="243447"/>
                </a:solidFill>
                <a:effectLst/>
                <a:uFillTx/>
                <a:latin typeface="Arial"/>
                <a:ea typeface="Arial"/>
              </a:rPr>
              <a:t>Quản lý ngành, khóa, lớp và văn bằng</a:t>
            </a:r>
            <a:endParaRPr b="0" lang="en-US" sz="1150" strike="noStrike" u="none">
              <a:solidFill>
                <a:srgbClr val="000000"/>
              </a:solidFill>
              <a:effectLst/>
              <a:uFillTx/>
              <a:latin typeface="Arial"/>
            </a:endParaRPr>
          </a:p>
          <a:p>
            <a:pPr defTabSz="914400">
              <a:lnSpc>
                <a:spcPct val="100000"/>
              </a:lnSpc>
            </a:pPr>
            <a:r>
              <a:rPr b="0" lang="en-US" sz="1150" strike="noStrike" u="none">
                <a:solidFill>
                  <a:srgbClr val="243447"/>
                </a:solidFill>
                <a:effectLst/>
                <a:uFillTx/>
                <a:latin typeface="Arial"/>
                <a:ea typeface="Arial"/>
              </a:rPr>
              <a:t>Cấp, thu hồi văn bằng</a:t>
            </a:r>
            <a:endParaRPr b="0" lang="en-US" sz="1150" strike="noStrike" u="none">
              <a:solidFill>
                <a:srgbClr val="000000"/>
              </a:solidFill>
              <a:effectLst/>
              <a:uFillTx/>
              <a:latin typeface="Arial"/>
            </a:endParaRPr>
          </a:p>
          <a:p>
            <a:pPr defTabSz="914400">
              <a:lnSpc>
                <a:spcPct val="100000"/>
              </a:lnSpc>
            </a:pPr>
            <a:r>
              <a:rPr b="0" lang="en-US" sz="1150" strike="noStrike" u="none">
                <a:solidFill>
                  <a:srgbClr val="243447"/>
                </a:solidFill>
                <a:effectLst/>
                <a:uFillTx/>
                <a:latin typeface="Arial"/>
                <a:ea typeface="Arial"/>
              </a:rPr>
              <a:t>Theo dõi giao dịch Blockchain</a:t>
            </a:r>
            <a:endParaRPr b="0" lang="en-US" sz="1150" strike="noStrike" u="none">
              <a:solidFill>
                <a:srgbClr val="000000"/>
              </a:solidFill>
              <a:effectLst/>
              <a:uFillTx/>
              <a:latin typeface="Arial"/>
            </a:endParaRPr>
          </a:p>
        </p:txBody>
      </p:sp>
      <p:sp>
        <p:nvSpPr>
          <p:cNvPr id="184" name="Shape 6"/>
          <p:cNvSpPr/>
          <p:nvPr/>
        </p:nvSpPr>
        <p:spPr>
          <a:xfrm>
            <a:off x="4526280" y="1417320"/>
            <a:ext cx="3337200" cy="4160160"/>
          </a:xfrm>
          <a:prstGeom prst="roundRect">
            <a:avLst>
              <a:gd name="adj" fmla="val 2740"/>
            </a:avLst>
          </a:prstGeom>
          <a:noFill/>
          <a:ln w="12700">
            <a:solidFill>
              <a:srgbClr val="d8dee6"/>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5" name="Text 7"/>
          <p:cNvSpPr/>
          <p:nvPr/>
        </p:nvSpPr>
        <p:spPr>
          <a:xfrm>
            <a:off x="4709160" y="1645920"/>
            <a:ext cx="297144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800" strike="noStrike" u="none">
                <a:solidFill>
                  <a:srgbClr val="0b2d4d"/>
                </a:solidFill>
                <a:effectLst/>
                <a:uFillTx/>
                <a:latin typeface="Arial"/>
                <a:ea typeface="Arial"/>
              </a:rPr>
              <a:t>STUDENT</a:t>
            </a:r>
            <a:endParaRPr b="0" lang="en-US" sz="1800" strike="noStrike" u="none">
              <a:solidFill>
                <a:srgbClr val="000000"/>
              </a:solidFill>
              <a:effectLst/>
              <a:uFillTx/>
              <a:latin typeface="Arial"/>
            </a:endParaRPr>
          </a:p>
        </p:txBody>
      </p:sp>
      <p:sp>
        <p:nvSpPr>
          <p:cNvPr id="186" name="Text 8"/>
          <p:cNvSpPr/>
          <p:nvPr/>
        </p:nvSpPr>
        <p:spPr>
          <a:xfrm>
            <a:off x="4827960" y="2240280"/>
            <a:ext cx="2742840" cy="2514240"/>
          </a:xfrm>
          <a:prstGeom prst="rect">
            <a:avLst/>
          </a:prstGeom>
          <a:noFill/>
          <a:ln w="0">
            <a:noFill/>
          </a:ln>
        </p:spPr>
        <p:style>
          <a:lnRef idx="0"/>
          <a:fillRef idx="0"/>
          <a:effectRef idx="0"/>
          <a:fontRef idx="minor"/>
        </p:style>
        <p:txBody>
          <a:bodyPr lIns="720" rIns="720" tIns="720" bIns="720" anchor="t">
            <a:normAutofit/>
          </a:bodyPr>
          <a:p>
            <a:pPr defTabSz="914400">
              <a:lnSpc>
                <a:spcPct val="100000"/>
              </a:lnSpc>
            </a:pPr>
            <a:r>
              <a:rPr b="0" lang="en-US" sz="1150" strike="noStrike" u="none">
                <a:solidFill>
                  <a:srgbClr val="243447"/>
                </a:solidFill>
                <a:effectLst/>
                <a:uFillTx/>
                <a:latin typeface="Arial"/>
                <a:ea typeface="Arial"/>
              </a:rPr>
              <a:t>Đăng nhập hệ thống</a:t>
            </a:r>
            <a:endParaRPr b="0" lang="en-US" sz="1150" strike="noStrike" u="none">
              <a:solidFill>
                <a:srgbClr val="000000"/>
              </a:solidFill>
              <a:effectLst/>
              <a:uFillTx/>
              <a:latin typeface="Arial"/>
            </a:endParaRPr>
          </a:p>
          <a:p>
            <a:pPr defTabSz="914400">
              <a:lnSpc>
                <a:spcPct val="100000"/>
              </a:lnSpc>
            </a:pPr>
            <a:r>
              <a:rPr b="0" lang="en-US" sz="1150" strike="noStrike" u="none">
                <a:solidFill>
                  <a:srgbClr val="243447"/>
                </a:solidFill>
                <a:effectLst/>
                <a:uFillTx/>
                <a:latin typeface="Arial"/>
                <a:ea typeface="Arial"/>
              </a:rPr>
              <a:t>Xem thông tin cá nhân</a:t>
            </a:r>
            <a:endParaRPr b="0" lang="en-US" sz="1150" strike="noStrike" u="none">
              <a:solidFill>
                <a:srgbClr val="000000"/>
              </a:solidFill>
              <a:effectLst/>
              <a:uFillTx/>
              <a:latin typeface="Arial"/>
            </a:endParaRPr>
          </a:p>
          <a:p>
            <a:pPr defTabSz="914400">
              <a:lnSpc>
                <a:spcPct val="100000"/>
              </a:lnSpc>
            </a:pPr>
            <a:r>
              <a:rPr b="0" lang="en-US" sz="1150" strike="noStrike" u="none">
                <a:solidFill>
                  <a:srgbClr val="243447"/>
                </a:solidFill>
                <a:effectLst/>
                <a:uFillTx/>
                <a:latin typeface="Arial"/>
                <a:ea typeface="Arial"/>
              </a:rPr>
              <a:t>Xem danh sách văn bằng được cấp</a:t>
            </a:r>
            <a:endParaRPr b="0" lang="en-US" sz="1150" strike="noStrike" u="none">
              <a:solidFill>
                <a:srgbClr val="000000"/>
              </a:solidFill>
              <a:effectLst/>
              <a:uFillTx/>
              <a:latin typeface="Arial"/>
            </a:endParaRPr>
          </a:p>
          <a:p>
            <a:pPr defTabSz="914400">
              <a:lnSpc>
                <a:spcPct val="100000"/>
              </a:lnSpc>
            </a:pPr>
            <a:r>
              <a:rPr b="0" lang="en-US" sz="1150" strike="noStrike" u="none">
                <a:solidFill>
                  <a:srgbClr val="243447"/>
                </a:solidFill>
                <a:effectLst/>
                <a:uFillTx/>
                <a:latin typeface="Arial"/>
                <a:ea typeface="Arial"/>
              </a:rPr>
              <a:t>Tra cứu trạng thái văn bằng</a:t>
            </a:r>
            <a:endParaRPr b="0" lang="en-US" sz="1150" strike="noStrike" u="none">
              <a:solidFill>
                <a:srgbClr val="000000"/>
              </a:solidFill>
              <a:effectLst/>
              <a:uFillTx/>
              <a:latin typeface="Arial"/>
            </a:endParaRPr>
          </a:p>
        </p:txBody>
      </p:sp>
      <p:sp>
        <p:nvSpPr>
          <p:cNvPr id="187" name="Shape 9"/>
          <p:cNvSpPr/>
          <p:nvPr/>
        </p:nvSpPr>
        <p:spPr>
          <a:xfrm>
            <a:off x="8321040" y="1417320"/>
            <a:ext cx="3337200" cy="4160160"/>
          </a:xfrm>
          <a:prstGeom prst="roundRect">
            <a:avLst>
              <a:gd name="adj" fmla="val 2740"/>
            </a:avLst>
          </a:prstGeom>
          <a:noFill/>
          <a:ln w="12700">
            <a:solidFill>
              <a:srgbClr val="157a6e"/>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88" name="Text 10"/>
          <p:cNvSpPr/>
          <p:nvPr/>
        </p:nvSpPr>
        <p:spPr>
          <a:xfrm>
            <a:off x="8503920" y="1645920"/>
            <a:ext cx="2971440" cy="319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800" strike="noStrike" u="none">
                <a:solidFill>
                  <a:srgbClr val="0b2d4d"/>
                </a:solidFill>
                <a:effectLst/>
                <a:uFillTx/>
                <a:latin typeface="Arial"/>
                <a:ea typeface="Arial"/>
              </a:rPr>
              <a:t>PUBLIC</a:t>
            </a:r>
            <a:endParaRPr b="0" lang="en-US" sz="1800" strike="noStrike" u="none">
              <a:solidFill>
                <a:srgbClr val="000000"/>
              </a:solidFill>
              <a:effectLst/>
              <a:uFillTx/>
              <a:latin typeface="Arial"/>
            </a:endParaRPr>
          </a:p>
        </p:txBody>
      </p:sp>
      <p:sp>
        <p:nvSpPr>
          <p:cNvPr id="189" name="Text 11"/>
          <p:cNvSpPr/>
          <p:nvPr/>
        </p:nvSpPr>
        <p:spPr>
          <a:xfrm>
            <a:off x="8622720" y="2240280"/>
            <a:ext cx="2742840" cy="2514240"/>
          </a:xfrm>
          <a:prstGeom prst="rect">
            <a:avLst/>
          </a:prstGeom>
          <a:noFill/>
          <a:ln w="0">
            <a:noFill/>
          </a:ln>
        </p:spPr>
        <p:style>
          <a:lnRef idx="0"/>
          <a:fillRef idx="0"/>
          <a:effectRef idx="0"/>
          <a:fontRef idx="minor"/>
        </p:style>
        <p:txBody>
          <a:bodyPr lIns="720" rIns="720" tIns="720" bIns="720" anchor="t">
            <a:normAutofit/>
          </a:bodyPr>
          <a:p>
            <a:pPr defTabSz="914400">
              <a:lnSpc>
                <a:spcPct val="100000"/>
              </a:lnSpc>
            </a:pPr>
            <a:r>
              <a:rPr b="0" lang="en-US" sz="1150" strike="noStrike" u="none">
                <a:solidFill>
                  <a:srgbClr val="243447"/>
                </a:solidFill>
                <a:effectLst/>
                <a:uFillTx/>
                <a:latin typeface="Arial"/>
                <a:ea typeface="Arial"/>
              </a:rPr>
              <a:t>Tra cứu theo mã văn bằng</a:t>
            </a:r>
            <a:endParaRPr b="0" lang="en-US" sz="1150" strike="noStrike" u="none">
              <a:solidFill>
                <a:srgbClr val="000000"/>
              </a:solidFill>
              <a:effectLst/>
              <a:uFillTx/>
              <a:latin typeface="Arial"/>
            </a:endParaRPr>
          </a:p>
          <a:p>
            <a:pPr defTabSz="914400">
              <a:lnSpc>
                <a:spcPct val="100000"/>
              </a:lnSpc>
            </a:pPr>
            <a:r>
              <a:rPr b="0" lang="en-US" sz="1150" strike="noStrike" u="none">
                <a:solidFill>
                  <a:srgbClr val="243447"/>
                </a:solidFill>
                <a:effectLst/>
                <a:uFillTx/>
                <a:latin typeface="Arial"/>
                <a:ea typeface="Arial"/>
              </a:rPr>
              <a:t>Quét QR để xác minh</a:t>
            </a:r>
            <a:endParaRPr b="0" lang="en-US" sz="1150" strike="noStrike" u="none">
              <a:solidFill>
                <a:srgbClr val="000000"/>
              </a:solidFill>
              <a:effectLst/>
              <a:uFillTx/>
              <a:latin typeface="Arial"/>
            </a:endParaRPr>
          </a:p>
          <a:p>
            <a:pPr defTabSz="914400">
              <a:lnSpc>
                <a:spcPct val="100000"/>
              </a:lnSpc>
            </a:pPr>
            <a:r>
              <a:rPr b="0" lang="en-US" sz="1150" strike="noStrike" u="none">
                <a:solidFill>
                  <a:srgbClr val="243447"/>
                </a:solidFill>
                <a:effectLst/>
                <a:uFillTx/>
                <a:latin typeface="Arial"/>
                <a:ea typeface="Arial"/>
              </a:rPr>
              <a:t>Xem kết quả VALID/INVALID/REVOKED/NOT_FOUND</a:t>
            </a:r>
            <a:endParaRPr b="0" lang="en-US" sz="1150" strike="noStrike" u="none">
              <a:solidFill>
                <a:srgbClr val="000000"/>
              </a:solidFill>
              <a:effectLst/>
              <a:uFillTx/>
              <a:latin typeface="Arial"/>
            </a:endParaRPr>
          </a:p>
          <a:p>
            <a:pPr defTabSz="914400">
              <a:lnSpc>
                <a:spcPct val="100000"/>
              </a:lnSpc>
            </a:pPr>
            <a:r>
              <a:rPr b="0" lang="en-US" sz="1150" strike="noStrike" u="none">
                <a:solidFill>
                  <a:srgbClr val="243447"/>
                </a:solidFill>
                <a:effectLst/>
                <a:uFillTx/>
                <a:latin typeface="Arial"/>
                <a:ea typeface="Arial"/>
              </a:rPr>
              <a:t>Gửi yêu cầu tư vấn/hỗ trợ</a:t>
            </a:r>
            <a:endParaRPr b="0" lang="en-US" sz="1150" strike="noStrike" u="none">
              <a:solidFill>
                <a:srgbClr val="000000"/>
              </a:solidFill>
              <a:effectLst/>
              <a:uFillTx/>
              <a:latin typeface="Arial"/>
            </a:endParaRPr>
          </a:p>
        </p:txBody>
      </p:sp>
      <p:sp>
        <p:nvSpPr>
          <p:cNvPr id="190" name="Shape 12"/>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91" name="Text 13"/>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192" name="Text 14"/>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12</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93"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194"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2.3 Yêu cầu phi chức năng</a:t>
            </a:r>
            <a:endParaRPr b="0" lang="en-US" sz="2000" strike="noStrike" u="none">
              <a:solidFill>
                <a:srgbClr val="000000"/>
              </a:solidFill>
              <a:effectLst/>
              <a:uFillTx/>
              <a:latin typeface="Arial"/>
            </a:endParaRPr>
          </a:p>
        </p:txBody>
      </p:sp>
      <p:sp>
        <p:nvSpPr>
          <p:cNvPr id="195"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Bảo mật, mở rộng và tính toàn vẹn dữ liệu</a:t>
            </a:r>
            <a:endParaRPr b="0" lang="en-US" sz="800" strike="noStrike" u="none">
              <a:solidFill>
                <a:srgbClr val="000000"/>
              </a:solidFill>
              <a:effectLst/>
              <a:uFillTx/>
              <a:latin typeface="Arial"/>
            </a:endParaRPr>
          </a:p>
        </p:txBody>
      </p:sp>
      <p:sp>
        <p:nvSpPr>
          <p:cNvPr id="196"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197" name="Shape 3"/>
          <p:cNvSpPr/>
          <p:nvPr/>
        </p:nvSpPr>
        <p:spPr>
          <a:xfrm>
            <a:off x="777240" y="1325880"/>
            <a:ext cx="4891680" cy="932400"/>
          </a:xfrm>
          <a:prstGeom prst="roundRect">
            <a:avLst>
              <a:gd name="adj" fmla="val 7843"/>
            </a:avLst>
          </a:prstGeom>
          <a:noFill/>
          <a:ln w="12700">
            <a:solidFill>
              <a:srgbClr val="e6ecf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198" name="Text 4"/>
          <p:cNvSpPr/>
          <p:nvPr/>
        </p:nvSpPr>
        <p:spPr>
          <a:xfrm>
            <a:off x="960120" y="1463040"/>
            <a:ext cx="14626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0b2d4d"/>
                </a:solidFill>
                <a:effectLst/>
                <a:uFillTx/>
                <a:latin typeface="Arial"/>
                <a:ea typeface="Arial"/>
              </a:rPr>
              <a:t>Bảo mật</a:t>
            </a:r>
            <a:endParaRPr b="0" lang="en-US" sz="1300" strike="noStrike" u="none">
              <a:solidFill>
                <a:srgbClr val="000000"/>
              </a:solidFill>
              <a:effectLst/>
              <a:uFillTx/>
              <a:latin typeface="Arial"/>
            </a:endParaRPr>
          </a:p>
        </p:txBody>
      </p:sp>
      <p:sp>
        <p:nvSpPr>
          <p:cNvPr id="199" name="Text 5"/>
          <p:cNvSpPr/>
          <p:nvPr/>
        </p:nvSpPr>
        <p:spPr>
          <a:xfrm>
            <a:off x="2514600" y="1435680"/>
            <a:ext cx="2880000" cy="493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20" strike="noStrike" u="none">
                <a:solidFill>
                  <a:srgbClr val="243447"/>
                </a:solidFill>
                <a:effectLst/>
                <a:uFillTx/>
                <a:latin typeface="Arial"/>
                <a:ea typeface="Arial"/>
              </a:rPr>
              <a:t>Xác thực, phân quyền; không lưu dữ liệu nhạy cảm trực tiếp trên Blockchain.</a:t>
            </a:r>
            <a:endParaRPr b="0" lang="en-US" sz="1020" strike="noStrike" u="none">
              <a:solidFill>
                <a:srgbClr val="000000"/>
              </a:solidFill>
              <a:effectLst/>
              <a:uFillTx/>
              <a:latin typeface="Arial"/>
            </a:endParaRPr>
          </a:p>
        </p:txBody>
      </p:sp>
      <p:sp>
        <p:nvSpPr>
          <p:cNvPr id="200" name="Shape 6"/>
          <p:cNvSpPr/>
          <p:nvPr/>
        </p:nvSpPr>
        <p:spPr>
          <a:xfrm>
            <a:off x="6263640" y="1325880"/>
            <a:ext cx="4891680" cy="932400"/>
          </a:xfrm>
          <a:prstGeom prst="roundRect">
            <a:avLst>
              <a:gd name="adj" fmla="val 7843"/>
            </a:avLst>
          </a:prstGeom>
          <a:noFill/>
          <a:ln w="12700">
            <a:solidFill>
              <a:srgbClr val="e6ecf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1" name="Text 7"/>
          <p:cNvSpPr/>
          <p:nvPr/>
        </p:nvSpPr>
        <p:spPr>
          <a:xfrm>
            <a:off x="6446520" y="1463040"/>
            <a:ext cx="14626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0b2d4d"/>
                </a:solidFill>
                <a:effectLst/>
                <a:uFillTx/>
                <a:latin typeface="Arial"/>
                <a:ea typeface="Arial"/>
              </a:rPr>
              <a:t>Hiệu suất</a:t>
            </a:r>
            <a:endParaRPr b="0" lang="en-US" sz="1300" strike="noStrike" u="none">
              <a:solidFill>
                <a:srgbClr val="000000"/>
              </a:solidFill>
              <a:effectLst/>
              <a:uFillTx/>
              <a:latin typeface="Arial"/>
            </a:endParaRPr>
          </a:p>
        </p:txBody>
      </p:sp>
      <p:sp>
        <p:nvSpPr>
          <p:cNvPr id="202" name="Text 8"/>
          <p:cNvSpPr/>
          <p:nvPr/>
        </p:nvSpPr>
        <p:spPr>
          <a:xfrm>
            <a:off x="8001000" y="1435680"/>
            <a:ext cx="2880000" cy="493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20" strike="noStrike" u="none">
                <a:solidFill>
                  <a:srgbClr val="243447"/>
                </a:solidFill>
                <a:effectLst/>
                <a:uFillTx/>
                <a:latin typeface="Arial"/>
                <a:ea typeface="Arial"/>
              </a:rPr>
              <a:t>Xử lý ổn định các thao tác quản lý, tra cứu và xác minh.</a:t>
            </a:r>
            <a:endParaRPr b="0" lang="en-US" sz="1020" strike="noStrike" u="none">
              <a:solidFill>
                <a:srgbClr val="000000"/>
              </a:solidFill>
              <a:effectLst/>
              <a:uFillTx/>
              <a:latin typeface="Arial"/>
            </a:endParaRPr>
          </a:p>
        </p:txBody>
      </p:sp>
      <p:sp>
        <p:nvSpPr>
          <p:cNvPr id="203" name="Shape 9"/>
          <p:cNvSpPr/>
          <p:nvPr/>
        </p:nvSpPr>
        <p:spPr>
          <a:xfrm>
            <a:off x="777240" y="2587680"/>
            <a:ext cx="4891680" cy="932400"/>
          </a:xfrm>
          <a:prstGeom prst="roundRect">
            <a:avLst>
              <a:gd name="adj" fmla="val 7843"/>
            </a:avLst>
          </a:prstGeom>
          <a:noFill/>
          <a:ln w="12700">
            <a:solidFill>
              <a:srgbClr val="e6ecf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4" name="Text 10"/>
          <p:cNvSpPr/>
          <p:nvPr/>
        </p:nvSpPr>
        <p:spPr>
          <a:xfrm>
            <a:off x="960120" y="2724840"/>
            <a:ext cx="1462680" cy="273960"/>
          </a:xfrm>
          <a:prstGeom prst="rect">
            <a:avLst/>
          </a:prstGeom>
          <a:noFill/>
          <a:ln w="0">
            <a:noFill/>
          </a:ln>
        </p:spPr>
        <p:style>
          <a:lnRef idx="0"/>
          <a:fillRef idx="0"/>
          <a:effectRef idx="0"/>
          <a:fontRef idx="minor"/>
        </p:style>
        <p:txBody>
          <a:bodyPr lIns="0" rIns="0" tIns="0" bIns="0" anchor="ctr">
            <a:normAutofit fontScale="92500" lnSpcReduction="9999"/>
          </a:bodyPr>
          <a:p>
            <a:pPr defTabSz="914400">
              <a:lnSpc>
                <a:spcPct val="100000"/>
              </a:lnSpc>
              <a:tabLst>
                <a:tab algn="l" pos="0"/>
              </a:tabLst>
            </a:pPr>
            <a:r>
              <a:rPr b="1" lang="en-US" sz="1300" strike="noStrike" u="none">
                <a:solidFill>
                  <a:srgbClr val="0b2d4d"/>
                </a:solidFill>
                <a:effectLst/>
                <a:uFillTx/>
                <a:latin typeface="Arial"/>
                <a:ea typeface="Arial"/>
              </a:rPr>
              <a:t>Khả năng mở rộng</a:t>
            </a:r>
            <a:endParaRPr b="0" lang="en-US" sz="1300" strike="noStrike" u="none">
              <a:solidFill>
                <a:srgbClr val="000000"/>
              </a:solidFill>
              <a:effectLst/>
              <a:uFillTx/>
              <a:latin typeface="Arial"/>
            </a:endParaRPr>
          </a:p>
        </p:txBody>
      </p:sp>
      <p:sp>
        <p:nvSpPr>
          <p:cNvPr id="205" name="Text 11"/>
          <p:cNvSpPr/>
          <p:nvPr/>
        </p:nvSpPr>
        <p:spPr>
          <a:xfrm>
            <a:off x="2514600" y="2697480"/>
            <a:ext cx="2880000" cy="493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20" strike="noStrike" u="none">
                <a:solidFill>
                  <a:srgbClr val="243447"/>
                </a:solidFill>
                <a:effectLst/>
                <a:uFillTx/>
                <a:latin typeface="Arial"/>
                <a:ea typeface="Arial"/>
              </a:rPr>
              <a:t>Sẵn sàng khi số lượng người dùng, văn bằng và giao dịch tăng.</a:t>
            </a:r>
            <a:endParaRPr b="0" lang="en-US" sz="1020" strike="noStrike" u="none">
              <a:solidFill>
                <a:srgbClr val="000000"/>
              </a:solidFill>
              <a:effectLst/>
              <a:uFillTx/>
              <a:latin typeface="Arial"/>
            </a:endParaRPr>
          </a:p>
        </p:txBody>
      </p:sp>
      <p:sp>
        <p:nvSpPr>
          <p:cNvPr id="206" name="Shape 12"/>
          <p:cNvSpPr/>
          <p:nvPr/>
        </p:nvSpPr>
        <p:spPr>
          <a:xfrm>
            <a:off x="6263640" y="2587680"/>
            <a:ext cx="4891680" cy="932400"/>
          </a:xfrm>
          <a:prstGeom prst="roundRect">
            <a:avLst>
              <a:gd name="adj" fmla="val 7843"/>
            </a:avLst>
          </a:prstGeom>
          <a:noFill/>
          <a:ln w="12700">
            <a:solidFill>
              <a:srgbClr val="e6ecf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07" name="Text 13"/>
          <p:cNvSpPr/>
          <p:nvPr/>
        </p:nvSpPr>
        <p:spPr>
          <a:xfrm>
            <a:off x="6446520" y="2724840"/>
            <a:ext cx="14626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0b2d4d"/>
                </a:solidFill>
                <a:effectLst/>
                <a:uFillTx/>
                <a:latin typeface="Arial"/>
                <a:ea typeface="Arial"/>
              </a:rPr>
              <a:t>Tương thích</a:t>
            </a:r>
            <a:endParaRPr b="0" lang="en-US" sz="1300" strike="noStrike" u="none">
              <a:solidFill>
                <a:srgbClr val="000000"/>
              </a:solidFill>
              <a:effectLst/>
              <a:uFillTx/>
              <a:latin typeface="Arial"/>
            </a:endParaRPr>
          </a:p>
        </p:txBody>
      </p:sp>
      <p:sp>
        <p:nvSpPr>
          <p:cNvPr id="208" name="Text 14"/>
          <p:cNvSpPr/>
          <p:nvPr/>
        </p:nvSpPr>
        <p:spPr>
          <a:xfrm>
            <a:off x="8001000" y="2697480"/>
            <a:ext cx="2880000" cy="493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20" strike="noStrike" u="none">
                <a:solidFill>
                  <a:srgbClr val="243447"/>
                </a:solidFill>
                <a:effectLst/>
                <a:uFillTx/>
                <a:latin typeface="Arial"/>
                <a:ea typeface="Arial"/>
              </a:rPr>
              <a:t>Hoạt động tốt trên nhiều trình duyệt và thiết bị.</a:t>
            </a:r>
            <a:endParaRPr b="0" lang="en-US" sz="1020" strike="noStrike" u="none">
              <a:solidFill>
                <a:srgbClr val="000000"/>
              </a:solidFill>
              <a:effectLst/>
              <a:uFillTx/>
              <a:latin typeface="Arial"/>
            </a:endParaRPr>
          </a:p>
        </p:txBody>
      </p:sp>
      <p:sp>
        <p:nvSpPr>
          <p:cNvPr id="209" name="Shape 15"/>
          <p:cNvSpPr/>
          <p:nvPr/>
        </p:nvSpPr>
        <p:spPr>
          <a:xfrm>
            <a:off x="777240" y="3849480"/>
            <a:ext cx="4891680" cy="932400"/>
          </a:xfrm>
          <a:prstGeom prst="roundRect">
            <a:avLst>
              <a:gd name="adj" fmla="val 7843"/>
            </a:avLst>
          </a:prstGeom>
          <a:noFill/>
          <a:ln w="12700">
            <a:solidFill>
              <a:srgbClr val="e6ecf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0" name="Text 16"/>
          <p:cNvSpPr/>
          <p:nvPr/>
        </p:nvSpPr>
        <p:spPr>
          <a:xfrm>
            <a:off x="960120" y="3986640"/>
            <a:ext cx="14626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0b2d4d"/>
                </a:solidFill>
                <a:effectLst/>
                <a:uFillTx/>
                <a:latin typeface="Arial"/>
                <a:ea typeface="Arial"/>
              </a:rPr>
              <a:t>Duy trì</a:t>
            </a:r>
            <a:endParaRPr b="0" lang="en-US" sz="1300" strike="noStrike" u="none">
              <a:solidFill>
                <a:srgbClr val="000000"/>
              </a:solidFill>
              <a:effectLst/>
              <a:uFillTx/>
              <a:latin typeface="Arial"/>
            </a:endParaRPr>
          </a:p>
        </p:txBody>
      </p:sp>
      <p:sp>
        <p:nvSpPr>
          <p:cNvPr id="211" name="Text 17"/>
          <p:cNvSpPr/>
          <p:nvPr/>
        </p:nvSpPr>
        <p:spPr>
          <a:xfrm>
            <a:off x="2514600" y="3959280"/>
            <a:ext cx="2880000" cy="493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20" strike="noStrike" u="none">
                <a:solidFill>
                  <a:srgbClr val="243447"/>
                </a:solidFill>
                <a:effectLst/>
                <a:uFillTx/>
                <a:latin typeface="Arial"/>
                <a:ea typeface="Arial"/>
              </a:rPr>
              <a:t>Cấu trúc rõ ràng, dễ nâng cấp theo thay đổi nghiệp vụ hoặc công nghệ.</a:t>
            </a:r>
            <a:endParaRPr b="0" lang="en-US" sz="1020" strike="noStrike" u="none">
              <a:solidFill>
                <a:srgbClr val="000000"/>
              </a:solidFill>
              <a:effectLst/>
              <a:uFillTx/>
              <a:latin typeface="Arial"/>
            </a:endParaRPr>
          </a:p>
        </p:txBody>
      </p:sp>
      <p:sp>
        <p:nvSpPr>
          <p:cNvPr id="212" name="Shape 18"/>
          <p:cNvSpPr/>
          <p:nvPr/>
        </p:nvSpPr>
        <p:spPr>
          <a:xfrm>
            <a:off x="6263640" y="3849480"/>
            <a:ext cx="4891680" cy="932400"/>
          </a:xfrm>
          <a:prstGeom prst="roundRect">
            <a:avLst>
              <a:gd name="adj" fmla="val 7843"/>
            </a:avLst>
          </a:prstGeom>
          <a:noFill/>
          <a:ln w="12700">
            <a:solidFill>
              <a:srgbClr val="e6ecf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13" name="Text 19"/>
          <p:cNvSpPr/>
          <p:nvPr/>
        </p:nvSpPr>
        <p:spPr>
          <a:xfrm>
            <a:off x="6446520" y="3986640"/>
            <a:ext cx="146268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300" strike="noStrike" u="none">
                <a:solidFill>
                  <a:srgbClr val="0b2d4d"/>
                </a:solidFill>
                <a:effectLst/>
                <a:uFillTx/>
                <a:latin typeface="Arial"/>
                <a:ea typeface="Arial"/>
              </a:rPr>
              <a:t>Toàn vẹn dữ liệu</a:t>
            </a:r>
            <a:endParaRPr b="0" lang="en-US" sz="1300" strike="noStrike" u="none">
              <a:solidFill>
                <a:srgbClr val="000000"/>
              </a:solidFill>
              <a:effectLst/>
              <a:uFillTx/>
              <a:latin typeface="Arial"/>
            </a:endParaRPr>
          </a:p>
        </p:txBody>
      </p:sp>
      <p:sp>
        <p:nvSpPr>
          <p:cNvPr id="214" name="Text 20"/>
          <p:cNvSpPr/>
          <p:nvPr/>
        </p:nvSpPr>
        <p:spPr>
          <a:xfrm>
            <a:off x="8001000" y="3959280"/>
            <a:ext cx="2880000" cy="4935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20" strike="noStrike" u="none">
                <a:solidFill>
                  <a:srgbClr val="243447"/>
                </a:solidFill>
                <a:effectLst/>
                <a:uFillTx/>
                <a:latin typeface="Arial"/>
                <a:ea typeface="Arial"/>
              </a:rPr>
              <a:t>Hash và trạng thái on-chain hỗ trợ phát hiện chỉnh sửa trái phép.</a:t>
            </a:r>
            <a:endParaRPr b="0" lang="en-US" sz="1020" strike="noStrike" u="none">
              <a:solidFill>
                <a:srgbClr val="000000"/>
              </a:solidFill>
              <a:effectLst/>
              <a:uFillTx/>
              <a:latin typeface="Arial"/>
            </a:endParaRPr>
          </a:p>
        </p:txBody>
      </p:sp>
      <p:sp>
        <p:nvSpPr>
          <p:cNvPr id="215" name="Shape 21"/>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16" name="Text 22"/>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217" name="Text 23"/>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13</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18"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219"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2.4 Mô hình đề xuất</a:t>
            </a:r>
            <a:endParaRPr b="0" lang="en-US" sz="2000" strike="noStrike" u="none">
              <a:solidFill>
                <a:srgbClr val="000000"/>
              </a:solidFill>
              <a:effectLst/>
              <a:uFillTx/>
              <a:latin typeface="Arial"/>
            </a:endParaRPr>
          </a:p>
        </p:txBody>
      </p:sp>
      <p:sp>
        <p:nvSpPr>
          <p:cNvPr id="220"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Kết hợp web application, MongoDB và Blockchain</a:t>
            </a:r>
            <a:endParaRPr b="0" lang="en-US" sz="800" strike="noStrike" u="none">
              <a:solidFill>
                <a:srgbClr val="000000"/>
              </a:solidFill>
              <a:effectLst/>
              <a:uFillTx/>
              <a:latin typeface="Arial"/>
            </a:endParaRPr>
          </a:p>
        </p:txBody>
      </p:sp>
      <p:sp>
        <p:nvSpPr>
          <p:cNvPr id="221"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pic>
        <p:nvPicPr>
          <p:cNvPr id="222" name="Image 1" descr="/mnt/data/docx_media/word/media/image2.png"/>
          <p:cNvPicPr/>
          <p:nvPr/>
        </p:nvPicPr>
        <p:blipFill>
          <a:blip r:embed="rId2"/>
          <a:stretch/>
        </p:blipFill>
        <p:spPr>
          <a:xfrm>
            <a:off x="1104840" y="1298520"/>
            <a:ext cx="6202800" cy="4388760"/>
          </a:xfrm>
          <a:prstGeom prst="rect">
            <a:avLst/>
          </a:prstGeom>
          <a:noFill/>
          <a:ln w="0">
            <a:noFill/>
          </a:ln>
        </p:spPr>
      </p:pic>
      <p:sp>
        <p:nvSpPr>
          <p:cNvPr id="223" name="Text 3"/>
          <p:cNvSpPr/>
          <p:nvPr/>
        </p:nvSpPr>
        <p:spPr>
          <a:xfrm>
            <a:off x="731520" y="5760720"/>
            <a:ext cx="69490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Hình 3.1: Mô hình đề xuất quản lý và xác thực văn bằng bằng Blockchain</a:t>
            </a:r>
            <a:endParaRPr b="0" lang="en-US" sz="750" strike="noStrike" u="none">
              <a:solidFill>
                <a:srgbClr val="000000"/>
              </a:solidFill>
              <a:effectLst/>
              <a:uFillTx/>
              <a:latin typeface="Arial"/>
            </a:endParaRPr>
          </a:p>
        </p:txBody>
      </p:sp>
      <p:sp>
        <p:nvSpPr>
          <p:cNvPr id="224" name="Text 4"/>
          <p:cNvSpPr/>
          <p:nvPr/>
        </p:nvSpPr>
        <p:spPr>
          <a:xfrm>
            <a:off x="8275320" y="1417320"/>
            <a:ext cx="22856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0b2d4d"/>
                </a:solidFill>
                <a:effectLst/>
                <a:uFillTx/>
                <a:latin typeface="Arial"/>
                <a:ea typeface="Arial"/>
              </a:rPr>
              <a:t>Điểm nhấn thiết kế</a:t>
            </a:r>
            <a:endParaRPr b="0" lang="en-US" sz="1600" strike="noStrike" u="none">
              <a:solidFill>
                <a:srgbClr val="000000"/>
              </a:solidFill>
              <a:effectLst/>
              <a:uFillTx/>
              <a:latin typeface="Arial"/>
            </a:endParaRPr>
          </a:p>
        </p:txBody>
      </p:sp>
      <p:sp>
        <p:nvSpPr>
          <p:cNvPr id="225" name="Text 5"/>
          <p:cNvSpPr/>
          <p:nvPr/>
        </p:nvSpPr>
        <p:spPr>
          <a:xfrm>
            <a:off x="8321040" y="1901880"/>
            <a:ext cx="2925720" cy="1919880"/>
          </a:xfrm>
          <a:prstGeom prst="rect">
            <a:avLst/>
          </a:prstGeom>
          <a:noFill/>
          <a:ln w="0">
            <a:noFill/>
          </a:ln>
        </p:spPr>
        <p:style>
          <a:lnRef idx="0"/>
          <a:fillRef idx="0"/>
          <a:effectRef idx="0"/>
          <a:fontRef idx="minor"/>
        </p:style>
        <p:txBody>
          <a:bodyPr lIns="720" rIns="720" tIns="720" bIns="720" anchor="t">
            <a:normAutofit/>
          </a:bodyPr>
          <a:p>
            <a:pPr defTabSz="914400">
              <a:lnSpc>
                <a:spcPct val="100000"/>
              </a:lnSpc>
            </a:pPr>
            <a:r>
              <a:rPr b="0" lang="en-US" sz="1250" strike="noStrike" u="none">
                <a:solidFill>
                  <a:srgbClr val="243447"/>
                </a:solidFill>
                <a:effectLst/>
                <a:uFillTx/>
                <a:latin typeface="Arial"/>
                <a:ea typeface="Arial"/>
              </a:rPr>
              <a:t>Dữ liệu nghiệp vụ nằm trong MongoDB.</a:t>
            </a:r>
            <a:endParaRPr b="0" lang="en-US" sz="1250" strike="noStrike" u="none">
              <a:solidFill>
                <a:srgbClr val="000000"/>
              </a:solidFill>
              <a:effectLst/>
              <a:uFillTx/>
              <a:latin typeface="Arial"/>
            </a:endParaRPr>
          </a:p>
          <a:p>
            <a:pPr defTabSz="914400">
              <a:lnSpc>
                <a:spcPct val="100000"/>
              </a:lnSpc>
            </a:pPr>
            <a:r>
              <a:rPr b="0" lang="en-US" sz="1250" strike="noStrike" u="none">
                <a:solidFill>
                  <a:srgbClr val="243447"/>
                </a:solidFill>
                <a:effectLst/>
                <a:uFillTx/>
                <a:latin typeface="Arial"/>
                <a:ea typeface="Arial"/>
              </a:rPr>
              <a:t>Hash văn bằng và trạng thái cần thiết được ghi lên Smart Contract.</a:t>
            </a:r>
            <a:endParaRPr b="0" lang="en-US" sz="1250" strike="noStrike" u="none">
              <a:solidFill>
                <a:srgbClr val="000000"/>
              </a:solidFill>
              <a:effectLst/>
              <a:uFillTx/>
              <a:latin typeface="Arial"/>
            </a:endParaRPr>
          </a:p>
          <a:p>
            <a:pPr defTabSz="914400">
              <a:lnSpc>
                <a:spcPct val="100000"/>
              </a:lnSpc>
            </a:pPr>
            <a:r>
              <a:rPr b="0" lang="en-US" sz="1250" strike="noStrike" u="none">
                <a:solidFill>
                  <a:srgbClr val="243447"/>
                </a:solidFill>
                <a:effectLst/>
                <a:uFillTx/>
                <a:latin typeface="Arial"/>
                <a:ea typeface="Arial"/>
              </a:rPr>
              <a:t>Người dùng xác minh bằng mã hoặc QR.</a:t>
            </a:r>
            <a:endParaRPr b="0" lang="en-US" sz="1250" strike="noStrike" u="none">
              <a:solidFill>
                <a:srgbClr val="000000"/>
              </a:solidFill>
              <a:effectLst/>
              <a:uFillTx/>
              <a:latin typeface="Arial"/>
            </a:endParaRPr>
          </a:p>
          <a:p>
            <a:pPr defTabSz="914400">
              <a:lnSpc>
                <a:spcPct val="100000"/>
              </a:lnSpc>
            </a:pPr>
            <a:r>
              <a:rPr b="0" lang="en-US" sz="1250" strike="noStrike" u="none">
                <a:solidFill>
                  <a:srgbClr val="243447"/>
                </a:solidFill>
                <a:effectLst/>
                <a:uFillTx/>
                <a:latin typeface="Arial"/>
                <a:ea typeface="Arial"/>
              </a:rPr>
              <a:t>Hệ thống ghi log xác minh và giao dịch Blockchain.</a:t>
            </a:r>
            <a:endParaRPr b="0" lang="en-US" sz="1250" strike="noStrike" u="none">
              <a:solidFill>
                <a:srgbClr val="000000"/>
              </a:solidFill>
              <a:effectLst/>
              <a:uFillTx/>
              <a:latin typeface="Arial"/>
            </a:endParaRPr>
          </a:p>
        </p:txBody>
      </p:sp>
      <p:sp>
        <p:nvSpPr>
          <p:cNvPr id="226" name="Shape 6"/>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27" name="Text 7"/>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228" name="Text 8"/>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14</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29"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230"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2.5 Luồng cấp văn bằng</a:t>
            </a:r>
            <a:endParaRPr b="0" lang="en-US" sz="2000" strike="noStrike" u="none">
              <a:solidFill>
                <a:srgbClr val="000000"/>
              </a:solidFill>
              <a:effectLst/>
              <a:uFillTx/>
              <a:latin typeface="Arial"/>
            </a:endParaRPr>
          </a:p>
        </p:txBody>
      </p:sp>
      <p:sp>
        <p:nvSpPr>
          <p:cNvPr id="231"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Từ dữ liệu nghiệp vụ đến ghi nhận Blockchain</a:t>
            </a:r>
            <a:endParaRPr b="0" lang="en-US" sz="800" strike="noStrike" u="none">
              <a:solidFill>
                <a:srgbClr val="000000"/>
              </a:solidFill>
              <a:effectLst/>
              <a:uFillTx/>
              <a:latin typeface="Arial"/>
            </a:endParaRPr>
          </a:p>
        </p:txBody>
      </p:sp>
      <p:sp>
        <p:nvSpPr>
          <p:cNvPr id="232"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33" name="Shape 3"/>
          <p:cNvSpPr/>
          <p:nvPr/>
        </p:nvSpPr>
        <p:spPr>
          <a:xfrm>
            <a:off x="2011680" y="2331720"/>
            <a:ext cx="914400" cy="360"/>
          </a:xfrm>
          <a:prstGeom prst="line">
            <a:avLst/>
          </a:prstGeom>
          <a:ln w="15240">
            <a:solidFill>
              <a:srgbClr val="0e4b8b"/>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34" name="Shape 4"/>
          <p:cNvSpPr/>
          <p:nvPr/>
        </p:nvSpPr>
        <p:spPr>
          <a:xfrm>
            <a:off x="4160520" y="2331720"/>
            <a:ext cx="914400" cy="360"/>
          </a:xfrm>
          <a:prstGeom prst="line">
            <a:avLst/>
          </a:prstGeom>
          <a:ln w="15240">
            <a:solidFill>
              <a:srgbClr val="0e4b8b"/>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35" name="Shape 5"/>
          <p:cNvSpPr/>
          <p:nvPr/>
        </p:nvSpPr>
        <p:spPr>
          <a:xfrm>
            <a:off x="6309360" y="2331720"/>
            <a:ext cx="914400" cy="360"/>
          </a:xfrm>
          <a:prstGeom prst="line">
            <a:avLst/>
          </a:prstGeom>
          <a:ln w="15240">
            <a:solidFill>
              <a:srgbClr val="0e4b8b"/>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36" name="Shape 6"/>
          <p:cNvSpPr/>
          <p:nvPr/>
        </p:nvSpPr>
        <p:spPr>
          <a:xfrm>
            <a:off x="8458200" y="2331720"/>
            <a:ext cx="914400" cy="360"/>
          </a:xfrm>
          <a:prstGeom prst="line">
            <a:avLst/>
          </a:prstGeom>
          <a:ln w="15240">
            <a:solidFill>
              <a:srgbClr val="0e4b8b"/>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37" name="Shape 7"/>
          <p:cNvSpPr/>
          <p:nvPr/>
        </p:nvSpPr>
        <p:spPr>
          <a:xfrm>
            <a:off x="10012680" y="2880360"/>
            <a:ext cx="360" cy="960120"/>
          </a:xfrm>
          <a:prstGeom prst="line">
            <a:avLst/>
          </a:prstGeom>
          <a:ln w="15240">
            <a:solidFill>
              <a:srgbClr val="0e4b8b"/>
            </a:solidFill>
            <a:round/>
            <a:tailEnd len="med" type="triangle" w="med"/>
          </a:ln>
        </p:spPr>
        <p:style>
          <a:lnRef idx="0"/>
          <a:fillRef idx="0"/>
          <a:effectRef idx="0"/>
          <a:fontRef idx="minor"/>
        </p:style>
        <p:txBody>
          <a:bodyPr lIns="90000" rIns="90000" tIns="45000" bIns="45000" anchor="t" anchorCtr="1">
            <a:noAutofit/>
          </a:bodyPr>
          <a:p>
            <a:endParaRPr b="0" lang="en-US" sz="1800" strike="noStrike" u="none">
              <a:solidFill>
                <a:srgbClr val="000000"/>
              </a:solidFill>
              <a:effectLst/>
              <a:uFillTx/>
              <a:latin typeface="Arial"/>
            </a:endParaRPr>
          </a:p>
        </p:txBody>
      </p:sp>
      <p:sp>
        <p:nvSpPr>
          <p:cNvPr id="238" name="Shape 8"/>
          <p:cNvSpPr/>
          <p:nvPr/>
        </p:nvSpPr>
        <p:spPr>
          <a:xfrm>
            <a:off x="777240" y="1920240"/>
            <a:ext cx="1234080" cy="822600"/>
          </a:xfrm>
          <a:prstGeom prst="roundRect">
            <a:avLst>
              <a:gd name="adj" fmla="val 8889"/>
            </a:avLst>
          </a:prstGeom>
          <a:noFill/>
          <a:ln w="15240">
            <a:solidFill>
              <a:srgbClr val="0e4b8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39" name="Text 9"/>
          <p:cNvSpPr/>
          <p:nvPr/>
        </p:nvSpPr>
        <p:spPr>
          <a:xfrm>
            <a:off x="868680" y="1993320"/>
            <a:ext cx="1051200" cy="6764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0b2d4d"/>
                </a:solidFill>
                <a:effectLst/>
                <a:uFillTx/>
                <a:latin typeface="Arial"/>
                <a:ea typeface="Arial"/>
              </a:rPr>
              <a:t>Validate</a:t>
            </a:r>
            <a:endParaRPr b="0" lang="en-US" sz="920" strike="noStrike" u="none">
              <a:solidFill>
                <a:srgbClr val="000000"/>
              </a:solidFill>
              <a:effectLst/>
              <a:uFillTx/>
              <a:latin typeface="Arial"/>
            </a:endParaRPr>
          </a:p>
          <a:p>
            <a:pPr algn="ctr" defTabSz="914400">
              <a:lnSpc>
                <a:spcPct val="100000"/>
              </a:lnSpc>
              <a:tabLst>
                <a:tab algn="l" pos="0"/>
              </a:tabLst>
            </a:pPr>
            <a:r>
              <a:rPr b="1" lang="en-US" sz="920" strike="noStrike" u="none">
                <a:solidFill>
                  <a:srgbClr val="0b2d4d"/>
                </a:solidFill>
                <a:effectLst/>
                <a:uFillTx/>
                <a:latin typeface="Arial"/>
                <a:ea typeface="Arial"/>
              </a:rPr>
              <a:t>dữ liệu</a:t>
            </a:r>
            <a:endParaRPr b="0" lang="en-US" sz="920" strike="noStrike" u="none">
              <a:solidFill>
                <a:srgbClr val="000000"/>
              </a:solidFill>
              <a:effectLst/>
              <a:uFillTx/>
              <a:latin typeface="Arial"/>
            </a:endParaRPr>
          </a:p>
        </p:txBody>
      </p:sp>
      <p:sp>
        <p:nvSpPr>
          <p:cNvPr id="240" name="Shape 10"/>
          <p:cNvSpPr/>
          <p:nvPr/>
        </p:nvSpPr>
        <p:spPr>
          <a:xfrm>
            <a:off x="2971800" y="1920240"/>
            <a:ext cx="1234080" cy="822600"/>
          </a:xfrm>
          <a:prstGeom prst="roundRect">
            <a:avLst>
              <a:gd name="adj" fmla="val 8889"/>
            </a:avLst>
          </a:prstGeom>
          <a:noFill/>
          <a:ln w="15240">
            <a:solidFill>
              <a:srgbClr val="0e4b8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1" name="Text 11"/>
          <p:cNvSpPr/>
          <p:nvPr/>
        </p:nvSpPr>
        <p:spPr>
          <a:xfrm>
            <a:off x="3063240" y="1993320"/>
            <a:ext cx="1051200" cy="6764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0b2d4d"/>
                </a:solidFill>
                <a:effectLst/>
                <a:uFillTx/>
                <a:latin typeface="Arial"/>
                <a:ea typeface="Arial"/>
              </a:rPr>
              <a:t>DB: PENDING</a:t>
            </a:r>
            <a:endParaRPr b="0" lang="en-US" sz="920" strike="noStrike" u="none">
              <a:solidFill>
                <a:srgbClr val="000000"/>
              </a:solidFill>
              <a:effectLst/>
              <a:uFillTx/>
              <a:latin typeface="Arial"/>
            </a:endParaRPr>
          </a:p>
        </p:txBody>
      </p:sp>
      <p:sp>
        <p:nvSpPr>
          <p:cNvPr id="242" name="Shape 12"/>
          <p:cNvSpPr/>
          <p:nvPr/>
        </p:nvSpPr>
        <p:spPr>
          <a:xfrm>
            <a:off x="5120640" y="1920240"/>
            <a:ext cx="1234080" cy="822600"/>
          </a:xfrm>
          <a:prstGeom prst="roundRect">
            <a:avLst>
              <a:gd name="adj" fmla="val 8889"/>
            </a:avLst>
          </a:prstGeom>
          <a:noFill/>
          <a:ln w="15240">
            <a:solidFill>
              <a:srgbClr val="0e4b8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3" name="Text 13"/>
          <p:cNvSpPr/>
          <p:nvPr/>
        </p:nvSpPr>
        <p:spPr>
          <a:xfrm>
            <a:off x="5212080" y="1993320"/>
            <a:ext cx="1051200" cy="6764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0b2d4d"/>
                </a:solidFill>
                <a:effectLst/>
                <a:uFillTx/>
                <a:latin typeface="Arial"/>
                <a:ea typeface="Arial"/>
              </a:rPr>
              <a:t>Tạo</a:t>
            </a:r>
            <a:endParaRPr b="0" lang="en-US" sz="920" strike="noStrike" u="none">
              <a:solidFill>
                <a:srgbClr val="000000"/>
              </a:solidFill>
              <a:effectLst/>
              <a:uFillTx/>
              <a:latin typeface="Arial"/>
            </a:endParaRPr>
          </a:p>
          <a:p>
            <a:pPr algn="ctr" defTabSz="914400">
              <a:lnSpc>
                <a:spcPct val="100000"/>
              </a:lnSpc>
              <a:tabLst>
                <a:tab algn="l" pos="0"/>
              </a:tabLst>
            </a:pPr>
            <a:r>
              <a:rPr b="1" lang="en-US" sz="920" strike="noStrike" u="none">
                <a:solidFill>
                  <a:srgbClr val="0b2d4d"/>
                </a:solidFill>
                <a:effectLst/>
                <a:uFillTx/>
                <a:latin typeface="Arial"/>
                <a:ea typeface="Arial"/>
              </a:rPr>
              <a:t>documentHash</a:t>
            </a:r>
            <a:endParaRPr b="0" lang="en-US" sz="920" strike="noStrike" u="none">
              <a:solidFill>
                <a:srgbClr val="000000"/>
              </a:solidFill>
              <a:effectLst/>
              <a:uFillTx/>
              <a:latin typeface="Arial"/>
            </a:endParaRPr>
          </a:p>
        </p:txBody>
      </p:sp>
      <p:sp>
        <p:nvSpPr>
          <p:cNvPr id="244" name="Shape 14"/>
          <p:cNvSpPr/>
          <p:nvPr/>
        </p:nvSpPr>
        <p:spPr>
          <a:xfrm>
            <a:off x="7269480" y="1920240"/>
            <a:ext cx="1234080" cy="822600"/>
          </a:xfrm>
          <a:prstGeom prst="roundRect">
            <a:avLst>
              <a:gd name="adj" fmla="val 8889"/>
            </a:avLst>
          </a:prstGeom>
          <a:noFill/>
          <a:ln w="15240">
            <a:solidFill>
              <a:srgbClr val="0e4b8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5" name="Text 15"/>
          <p:cNvSpPr/>
          <p:nvPr/>
        </p:nvSpPr>
        <p:spPr>
          <a:xfrm>
            <a:off x="7360920" y="1993320"/>
            <a:ext cx="1051200" cy="6764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0b2d4d"/>
                </a:solidFill>
                <a:effectLst/>
                <a:uFillTx/>
                <a:latin typeface="Arial"/>
                <a:ea typeface="Arial"/>
              </a:rPr>
              <a:t>Gọi Smart</a:t>
            </a:r>
            <a:endParaRPr b="0" lang="en-US" sz="920" strike="noStrike" u="none">
              <a:solidFill>
                <a:srgbClr val="000000"/>
              </a:solidFill>
              <a:effectLst/>
              <a:uFillTx/>
              <a:latin typeface="Arial"/>
            </a:endParaRPr>
          </a:p>
          <a:p>
            <a:pPr algn="ctr" defTabSz="914400">
              <a:lnSpc>
                <a:spcPct val="100000"/>
              </a:lnSpc>
              <a:tabLst>
                <a:tab algn="l" pos="0"/>
              </a:tabLst>
            </a:pPr>
            <a:r>
              <a:rPr b="1" lang="en-US" sz="920" strike="noStrike" u="none">
                <a:solidFill>
                  <a:srgbClr val="0b2d4d"/>
                </a:solidFill>
                <a:effectLst/>
                <a:uFillTx/>
                <a:latin typeface="Arial"/>
                <a:ea typeface="Arial"/>
              </a:rPr>
              <a:t>Contract</a:t>
            </a:r>
            <a:endParaRPr b="0" lang="en-US" sz="920" strike="noStrike" u="none">
              <a:solidFill>
                <a:srgbClr val="000000"/>
              </a:solidFill>
              <a:effectLst/>
              <a:uFillTx/>
              <a:latin typeface="Arial"/>
            </a:endParaRPr>
          </a:p>
        </p:txBody>
      </p:sp>
      <p:sp>
        <p:nvSpPr>
          <p:cNvPr id="246" name="Shape 16"/>
          <p:cNvSpPr/>
          <p:nvPr/>
        </p:nvSpPr>
        <p:spPr>
          <a:xfrm>
            <a:off x="9418320" y="1920240"/>
            <a:ext cx="1234080" cy="822600"/>
          </a:xfrm>
          <a:prstGeom prst="roundRect">
            <a:avLst>
              <a:gd name="adj" fmla="val 8889"/>
            </a:avLst>
          </a:prstGeom>
          <a:noFill/>
          <a:ln w="15240">
            <a:solidFill>
              <a:srgbClr val="0e4b8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7" name="Text 17"/>
          <p:cNvSpPr/>
          <p:nvPr/>
        </p:nvSpPr>
        <p:spPr>
          <a:xfrm>
            <a:off x="9509760" y="1993320"/>
            <a:ext cx="1051200" cy="6764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0b2d4d"/>
                </a:solidFill>
                <a:effectLst/>
                <a:uFillTx/>
                <a:latin typeface="Arial"/>
                <a:ea typeface="Arial"/>
              </a:rPr>
              <a:t>Nhận</a:t>
            </a:r>
            <a:endParaRPr b="0" lang="en-US" sz="920" strike="noStrike" u="none">
              <a:solidFill>
                <a:srgbClr val="000000"/>
              </a:solidFill>
              <a:effectLst/>
              <a:uFillTx/>
              <a:latin typeface="Arial"/>
            </a:endParaRPr>
          </a:p>
          <a:p>
            <a:pPr algn="ctr" defTabSz="914400">
              <a:lnSpc>
                <a:spcPct val="100000"/>
              </a:lnSpc>
              <a:tabLst>
                <a:tab algn="l" pos="0"/>
              </a:tabLst>
            </a:pPr>
            <a:r>
              <a:rPr b="1" lang="en-US" sz="920" strike="noStrike" u="none">
                <a:solidFill>
                  <a:srgbClr val="0b2d4d"/>
                </a:solidFill>
                <a:effectLst/>
                <a:uFillTx/>
                <a:latin typeface="Arial"/>
                <a:ea typeface="Arial"/>
              </a:rPr>
              <a:t>txHash</a:t>
            </a:r>
            <a:endParaRPr b="0" lang="en-US" sz="920" strike="noStrike" u="none">
              <a:solidFill>
                <a:srgbClr val="000000"/>
              </a:solidFill>
              <a:effectLst/>
              <a:uFillTx/>
              <a:latin typeface="Arial"/>
            </a:endParaRPr>
          </a:p>
        </p:txBody>
      </p:sp>
      <p:sp>
        <p:nvSpPr>
          <p:cNvPr id="248" name="Shape 18"/>
          <p:cNvSpPr/>
          <p:nvPr/>
        </p:nvSpPr>
        <p:spPr>
          <a:xfrm>
            <a:off x="9418320" y="3886200"/>
            <a:ext cx="1234080" cy="822600"/>
          </a:xfrm>
          <a:prstGeom prst="roundRect">
            <a:avLst>
              <a:gd name="adj" fmla="val 8889"/>
            </a:avLst>
          </a:prstGeom>
          <a:noFill/>
          <a:ln w="15240">
            <a:solidFill>
              <a:srgbClr val="157a6e"/>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49" name="Text 19"/>
          <p:cNvSpPr/>
          <p:nvPr/>
        </p:nvSpPr>
        <p:spPr>
          <a:xfrm>
            <a:off x="9509760" y="3959280"/>
            <a:ext cx="1051200" cy="6764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0b2d4d"/>
                </a:solidFill>
                <a:effectLst/>
                <a:uFillTx/>
                <a:latin typeface="Arial"/>
                <a:ea typeface="Arial"/>
              </a:rPr>
              <a:t>Receipt:</a:t>
            </a:r>
            <a:endParaRPr b="0" lang="en-US" sz="920" strike="noStrike" u="none">
              <a:solidFill>
                <a:srgbClr val="000000"/>
              </a:solidFill>
              <a:effectLst/>
              <a:uFillTx/>
              <a:latin typeface="Arial"/>
            </a:endParaRPr>
          </a:p>
          <a:p>
            <a:pPr algn="ctr" defTabSz="914400">
              <a:lnSpc>
                <a:spcPct val="100000"/>
              </a:lnSpc>
              <a:tabLst>
                <a:tab algn="l" pos="0"/>
              </a:tabLst>
            </a:pPr>
            <a:r>
              <a:rPr b="1" lang="en-US" sz="920" strike="noStrike" u="none">
                <a:solidFill>
                  <a:srgbClr val="0b2d4d"/>
                </a:solidFill>
                <a:effectLst/>
                <a:uFillTx/>
                <a:latin typeface="Arial"/>
                <a:ea typeface="Arial"/>
              </a:rPr>
              <a:t>CONFIRMED</a:t>
            </a:r>
            <a:endParaRPr b="0" lang="en-US" sz="920" strike="noStrike" u="none">
              <a:solidFill>
                <a:srgbClr val="000000"/>
              </a:solidFill>
              <a:effectLst/>
              <a:uFillTx/>
              <a:latin typeface="Arial"/>
            </a:endParaRPr>
          </a:p>
        </p:txBody>
      </p:sp>
      <p:sp>
        <p:nvSpPr>
          <p:cNvPr id="250" name="Shape 20"/>
          <p:cNvSpPr/>
          <p:nvPr/>
        </p:nvSpPr>
        <p:spPr>
          <a:xfrm>
            <a:off x="7269480" y="3886200"/>
            <a:ext cx="1234080" cy="822600"/>
          </a:xfrm>
          <a:prstGeom prst="roundRect">
            <a:avLst>
              <a:gd name="adj" fmla="val 8889"/>
            </a:avLst>
          </a:prstGeom>
          <a:noFill/>
          <a:ln w="15240">
            <a:solidFill>
              <a:srgbClr val="157a6e"/>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51" name="Text 21"/>
          <p:cNvSpPr/>
          <p:nvPr/>
        </p:nvSpPr>
        <p:spPr>
          <a:xfrm>
            <a:off x="7360920" y="3959280"/>
            <a:ext cx="1051200" cy="6764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0b2d4d"/>
                </a:solidFill>
                <a:effectLst/>
                <a:uFillTx/>
                <a:latin typeface="Arial"/>
                <a:ea typeface="Arial"/>
              </a:rPr>
              <a:t>ISSUED</a:t>
            </a:r>
            <a:endParaRPr b="0" lang="en-US" sz="920" strike="noStrike" u="none">
              <a:solidFill>
                <a:srgbClr val="000000"/>
              </a:solidFill>
              <a:effectLst/>
              <a:uFillTx/>
              <a:latin typeface="Arial"/>
            </a:endParaRPr>
          </a:p>
        </p:txBody>
      </p:sp>
      <p:sp>
        <p:nvSpPr>
          <p:cNvPr id="252" name="Shape 22"/>
          <p:cNvSpPr/>
          <p:nvPr/>
        </p:nvSpPr>
        <p:spPr>
          <a:xfrm flipH="1">
            <a:off x="8503920" y="4279320"/>
            <a:ext cx="914400" cy="360"/>
          </a:xfrm>
          <a:prstGeom prst="line">
            <a:avLst/>
          </a:prstGeom>
          <a:ln w="15240">
            <a:solidFill>
              <a:srgbClr val="0e4b8b"/>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53" name="Text 23"/>
          <p:cNvSpPr/>
          <p:nvPr/>
        </p:nvSpPr>
        <p:spPr>
          <a:xfrm>
            <a:off x="1280160" y="5102280"/>
            <a:ext cx="9509400" cy="3837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300" strike="noStrike" u="none">
                <a:solidFill>
                  <a:srgbClr val="b91c1c"/>
                </a:solidFill>
                <a:effectLst/>
                <a:uFillTx/>
                <a:latin typeface="Arial"/>
                <a:ea typeface="Arial"/>
              </a:rPr>
              <a:t>Khi giao dịch lỗi: không xóa văn bằng; chuyển trạng thái BLOCKCHAIN_FAILED để retry an toàn.</a:t>
            </a:r>
            <a:endParaRPr b="0" lang="en-US" sz="1300" strike="noStrike" u="none">
              <a:solidFill>
                <a:srgbClr val="000000"/>
              </a:solidFill>
              <a:effectLst/>
              <a:uFillTx/>
              <a:latin typeface="Arial"/>
            </a:endParaRPr>
          </a:p>
        </p:txBody>
      </p:sp>
      <p:sp>
        <p:nvSpPr>
          <p:cNvPr id="254" name="Shape 24"/>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55" name="Text 25"/>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256" name="Text 26"/>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15</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57"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258"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2.6 Luồng xác minh văn bằng</a:t>
            </a:r>
            <a:endParaRPr b="0" lang="en-US" sz="2000" strike="noStrike" u="none">
              <a:solidFill>
                <a:srgbClr val="000000"/>
              </a:solidFill>
              <a:effectLst/>
              <a:uFillTx/>
              <a:latin typeface="Arial"/>
            </a:endParaRPr>
          </a:p>
        </p:txBody>
      </p:sp>
      <p:sp>
        <p:nvSpPr>
          <p:cNvPr id="259"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Đối chiếu off-chain và on-chain</a:t>
            </a:r>
            <a:endParaRPr b="0" lang="en-US" sz="800" strike="noStrike" u="none">
              <a:solidFill>
                <a:srgbClr val="000000"/>
              </a:solidFill>
              <a:effectLst/>
              <a:uFillTx/>
              <a:latin typeface="Arial"/>
            </a:endParaRPr>
          </a:p>
        </p:txBody>
      </p:sp>
      <p:sp>
        <p:nvSpPr>
          <p:cNvPr id="260"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61" name="Shape 3"/>
          <p:cNvSpPr/>
          <p:nvPr/>
        </p:nvSpPr>
        <p:spPr>
          <a:xfrm>
            <a:off x="1828800" y="2057400"/>
            <a:ext cx="914400" cy="360"/>
          </a:xfrm>
          <a:prstGeom prst="line">
            <a:avLst/>
          </a:prstGeom>
          <a:ln w="15240">
            <a:solidFill>
              <a:srgbClr val="0e4b8b"/>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62" name="Shape 4"/>
          <p:cNvSpPr/>
          <p:nvPr/>
        </p:nvSpPr>
        <p:spPr>
          <a:xfrm>
            <a:off x="4069080" y="2057400"/>
            <a:ext cx="914400" cy="360"/>
          </a:xfrm>
          <a:prstGeom prst="line">
            <a:avLst/>
          </a:prstGeom>
          <a:ln w="15240">
            <a:solidFill>
              <a:srgbClr val="0e4b8b"/>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63" name="Shape 5"/>
          <p:cNvSpPr/>
          <p:nvPr/>
        </p:nvSpPr>
        <p:spPr>
          <a:xfrm>
            <a:off x="6309360" y="2057400"/>
            <a:ext cx="914400" cy="360"/>
          </a:xfrm>
          <a:prstGeom prst="line">
            <a:avLst/>
          </a:prstGeom>
          <a:ln w="15240">
            <a:solidFill>
              <a:srgbClr val="0e4b8b"/>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64" name="Shape 6"/>
          <p:cNvSpPr/>
          <p:nvPr/>
        </p:nvSpPr>
        <p:spPr>
          <a:xfrm>
            <a:off x="8458200" y="2057400"/>
            <a:ext cx="914400" cy="360"/>
          </a:xfrm>
          <a:prstGeom prst="line">
            <a:avLst/>
          </a:prstGeom>
          <a:ln w="15240">
            <a:solidFill>
              <a:srgbClr val="0e4b8b"/>
            </a:solidFill>
            <a:round/>
            <a:tailEnd len="med" type="triangle" w="me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65" name="Shape 7"/>
          <p:cNvSpPr/>
          <p:nvPr/>
        </p:nvSpPr>
        <p:spPr>
          <a:xfrm>
            <a:off x="685800" y="1627560"/>
            <a:ext cx="1142640" cy="868320"/>
          </a:xfrm>
          <a:prstGeom prst="roundRect">
            <a:avLst>
              <a:gd name="adj" fmla="val 8421"/>
            </a:avLst>
          </a:prstGeom>
          <a:noFill/>
          <a:ln w="15240">
            <a:solidFill>
              <a:srgbClr val="0e4b8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6" name="Text 8"/>
          <p:cNvSpPr/>
          <p:nvPr/>
        </p:nvSpPr>
        <p:spPr>
          <a:xfrm>
            <a:off x="777240" y="1700640"/>
            <a:ext cx="959760" cy="72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0b2d4d"/>
                </a:solidFill>
                <a:effectLst/>
                <a:uFillTx/>
                <a:latin typeface="Arial"/>
                <a:ea typeface="Arial"/>
              </a:rPr>
              <a:t>Nhập mã</a:t>
            </a:r>
            <a:endParaRPr b="0" lang="en-US" sz="920" strike="noStrike" u="none">
              <a:solidFill>
                <a:srgbClr val="000000"/>
              </a:solidFill>
              <a:effectLst/>
              <a:uFillTx/>
              <a:latin typeface="Arial"/>
            </a:endParaRPr>
          </a:p>
          <a:p>
            <a:pPr algn="ctr" defTabSz="914400">
              <a:lnSpc>
                <a:spcPct val="100000"/>
              </a:lnSpc>
              <a:tabLst>
                <a:tab algn="l" pos="0"/>
              </a:tabLst>
            </a:pPr>
            <a:r>
              <a:rPr b="1" lang="en-US" sz="920" strike="noStrike" u="none">
                <a:solidFill>
                  <a:srgbClr val="0b2d4d"/>
                </a:solidFill>
                <a:effectLst/>
                <a:uFillTx/>
                <a:latin typeface="Arial"/>
                <a:ea typeface="Arial"/>
              </a:rPr>
              <a:t>/ quét QR</a:t>
            </a:r>
            <a:endParaRPr b="0" lang="en-US" sz="920" strike="noStrike" u="none">
              <a:solidFill>
                <a:srgbClr val="000000"/>
              </a:solidFill>
              <a:effectLst/>
              <a:uFillTx/>
              <a:latin typeface="Arial"/>
            </a:endParaRPr>
          </a:p>
        </p:txBody>
      </p:sp>
      <p:sp>
        <p:nvSpPr>
          <p:cNvPr id="267" name="Shape 9"/>
          <p:cNvSpPr/>
          <p:nvPr/>
        </p:nvSpPr>
        <p:spPr>
          <a:xfrm>
            <a:off x="2788920" y="1627560"/>
            <a:ext cx="1325520" cy="868320"/>
          </a:xfrm>
          <a:prstGeom prst="roundRect">
            <a:avLst>
              <a:gd name="adj" fmla="val 8421"/>
            </a:avLst>
          </a:prstGeom>
          <a:noFill/>
          <a:ln w="15240">
            <a:solidFill>
              <a:srgbClr val="0e4b8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68" name="Text 10"/>
          <p:cNvSpPr/>
          <p:nvPr/>
        </p:nvSpPr>
        <p:spPr>
          <a:xfrm>
            <a:off x="2880360" y="1700640"/>
            <a:ext cx="1142640" cy="72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0b2d4d"/>
                </a:solidFill>
                <a:effectLst/>
                <a:uFillTx/>
                <a:latin typeface="Arial"/>
                <a:ea typeface="Arial"/>
              </a:rPr>
              <a:t>Đọc dữ liệu</a:t>
            </a:r>
            <a:endParaRPr b="0" lang="en-US" sz="920" strike="noStrike" u="none">
              <a:solidFill>
                <a:srgbClr val="000000"/>
              </a:solidFill>
              <a:effectLst/>
              <a:uFillTx/>
              <a:latin typeface="Arial"/>
            </a:endParaRPr>
          </a:p>
          <a:p>
            <a:pPr algn="ctr" defTabSz="914400">
              <a:lnSpc>
                <a:spcPct val="100000"/>
              </a:lnSpc>
              <a:tabLst>
                <a:tab algn="l" pos="0"/>
              </a:tabLst>
            </a:pPr>
            <a:r>
              <a:rPr b="1" lang="en-US" sz="920" strike="noStrike" u="none">
                <a:solidFill>
                  <a:srgbClr val="0b2d4d"/>
                </a:solidFill>
                <a:effectLst/>
                <a:uFillTx/>
                <a:latin typeface="Arial"/>
                <a:ea typeface="Arial"/>
              </a:rPr>
              <a:t>MongoDB</a:t>
            </a:r>
            <a:endParaRPr b="0" lang="en-US" sz="920" strike="noStrike" u="none">
              <a:solidFill>
                <a:srgbClr val="000000"/>
              </a:solidFill>
              <a:effectLst/>
              <a:uFillTx/>
              <a:latin typeface="Arial"/>
            </a:endParaRPr>
          </a:p>
        </p:txBody>
      </p:sp>
      <p:sp>
        <p:nvSpPr>
          <p:cNvPr id="269" name="Shape 11"/>
          <p:cNvSpPr/>
          <p:nvPr/>
        </p:nvSpPr>
        <p:spPr>
          <a:xfrm>
            <a:off x="5029200" y="1627560"/>
            <a:ext cx="1325520" cy="868320"/>
          </a:xfrm>
          <a:prstGeom prst="roundRect">
            <a:avLst>
              <a:gd name="adj" fmla="val 8421"/>
            </a:avLst>
          </a:prstGeom>
          <a:noFill/>
          <a:ln w="15240">
            <a:solidFill>
              <a:srgbClr val="0e4b8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0" name="Text 12"/>
          <p:cNvSpPr/>
          <p:nvPr/>
        </p:nvSpPr>
        <p:spPr>
          <a:xfrm>
            <a:off x="5120640" y="1700640"/>
            <a:ext cx="1142640" cy="72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0b2d4d"/>
                </a:solidFill>
                <a:effectLst/>
                <a:uFillTx/>
                <a:latin typeface="Arial"/>
                <a:ea typeface="Arial"/>
              </a:rPr>
              <a:t>Tái tạo</a:t>
            </a:r>
            <a:endParaRPr b="0" lang="en-US" sz="920" strike="noStrike" u="none">
              <a:solidFill>
                <a:srgbClr val="000000"/>
              </a:solidFill>
              <a:effectLst/>
              <a:uFillTx/>
              <a:latin typeface="Arial"/>
            </a:endParaRPr>
          </a:p>
          <a:p>
            <a:pPr algn="ctr" defTabSz="914400">
              <a:lnSpc>
                <a:spcPct val="100000"/>
              </a:lnSpc>
              <a:tabLst>
                <a:tab algn="l" pos="0"/>
              </a:tabLst>
            </a:pPr>
            <a:r>
              <a:rPr b="1" lang="en-US" sz="920" strike="noStrike" u="none">
                <a:solidFill>
                  <a:srgbClr val="0b2d4d"/>
                </a:solidFill>
                <a:effectLst/>
                <a:uFillTx/>
                <a:latin typeface="Arial"/>
                <a:ea typeface="Arial"/>
              </a:rPr>
              <a:t>hash</a:t>
            </a:r>
            <a:endParaRPr b="0" lang="en-US" sz="920" strike="noStrike" u="none">
              <a:solidFill>
                <a:srgbClr val="000000"/>
              </a:solidFill>
              <a:effectLst/>
              <a:uFillTx/>
              <a:latin typeface="Arial"/>
            </a:endParaRPr>
          </a:p>
        </p:txBody>
      </p:sp>
      <p:sp>
        <p:nvSpPr>
          <p:cNvPr id="271" name="Shape 13"/>
          <p:cNvSpPr/>
          <p:nvPr/>
        </p:nvSpPr>
        <p:spPr>
          <a:xfrm>
            <a:off x="7269480" y="1627560"/>
            <a:ext cx="1325520" cy="868320"/>
          </a:xfrm>
          <a:prstGeom prst="roundRect">
            <a:avLst>
              <a:gd name="adj" fmla="val 8421"/>
            </a:avLst>
          </a:prstGeom>
          <a:noFill/>
          <a:ln w="15240">
            <a:solidFill>
              <a:srgbClr val="0e4b8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2" name="Text 14"/>
          <p:cNvSpPr/>
          <p:nvPr/>
        </p:nvSpPr>
        <p:spPr>
          <a:xfrm>
            <a:off x="7360920" y="1700640"/>
            <a:ext cx="1142640" cy="72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0b2d4d"/>
                </a:solidFill>
                <a:effectLst/>
                <a:uFillTx/>
                <a:latin typeface="Arial"/>
                <a:ea typeface="Arial"/>
              </a:rPr>
              <a:t>Đọc dữ liệu</a:t>
            </a:r>
            <a:endParaRPr b="0" lang="en-US" sz="920" strike="noStrike" u="none">
              <a:solidFill>
                <a:srgbClr val="000000"/>
              </a:solidFill>
              <a:effectLst/>
              <a:uFillTx/>
              <a:latin typeface="Arial"/>
            </a:endParaRPr>
          </a:p>
          <a:p>
            <a:pPr algn="ctr" defTabSz="914400">
              <a:lnSpc>
                <a:spcPct val="100000"/>
              </a:lnSpc>
              <a:tabLst>
                <a:tab algn="l" pos="0"/>
              </a:tabLst>
            </a:pPr>
            <a:r>
              <a:rPr b="1" lang="en-US" sz="920" strike="noStrike" u="none">
                <a:solidFill>
                  <a:srgbClr val="0b2d4d"/>
                </a:solidFill>
                <a:effectLst/>
                <a:uFillTx/>
                <a:latin typeface="Arial"/>
                <a:ea typeface="Arial"/>
              </a:rPr>
              <a:t>on-chain</a:t>
            </a:r>
            <a:endParaRPr b="0" lang="en-US" sz="920" strike="noStrike" u="none">
              <a:solidFill>
                <a:srgbClr val="000000"/>
              </a:solidFill>
              <a:effectLst/>
              <a:uFillTx/>
              <a:latin typeface="Arial"/>
            </a:endParaRPr>
          </a:p>
        </p:txBody>
      </p:sp>
      <p:sp>
        <p:nvSpPr>
          <p:cNvPr id="273" name="Shape 15"/>
          <p:cNvSpPr/>
          <p:nvPr/>
        </p:nvSpPr>
        <p:spPr>
          <a:xfrm>
            <a:off x="9418320" y="1627560"/>
            <a:ext cx="1325520" cy="868320"/>
          </a:xfrm>
          <a:prstGeom prst="roundRect">
            <a:avLst>
              <a:gd name="adj" fmla="val 8421"/>
            </a:avLst>
          </a:prstGeom>
          <a:noFill/>
          <a:ln w="15240">
            <a:solidFill>
              <a:srgbClr val="0e4b8b"/>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4" name="Text 16"/>
          <p:cNvSpPr/>
          <p:nvPr/>
        </p:nvSpPr>
        <p:spPr>
          <a:xfrm>
            <a:off x="9509760" y="1700640"/>
            <a:ext cx="1142640" cy="7221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920" strike="noStrike" u="none">
                <a:solidFill>
                  <a:srgbClr val="0b2d4d"/>
                </a:solidFill>
                <a:effectLst/>
                <a:uFillTx/>
                <a:latin typeface="Arial"/>
                <a:ea typeface="Arial"/>
              </a:rPr>
              <a:t>Trả kết quả</a:t>
            </a:r>
            <a:endParaRPr b="0" lang="en-US" sz="920" strike="noStrike" u="none">
              <a:solidFill>
                <a:srgbClr val="000000"/>
              </a:solidFill>
              <a:effectLst/>
              <a:uFillTx/>
              <a:latin typeface="Arial"/>
            </a:endParaRPr>
          </a:p>
          <a:p>
            <a:pPr algn="ctr" defTabSz="914400">
              <a:lnSpc>
                <a:spcPct val="100000"/>
              </a:lnSpc>
              <a:tabLst>
                <a:tab algn="l" pos="0"/>
              </a:tabLst>
            </a:pPr>
            <a:r>
              <a:rPr b="1" lang="en-US" sz="920" strike="noStrike" u="none">
                <a:solidFill>
                  <a:srgbClr val="0b2d4d"/>
                </a:solidFill>
                <a:effectLst/>
                <a:uFillTx/>
                <a:latin typeface="Arial"/>
                <a:ea typeface="Arial"/>
              </a:rPr>
              <a:t>xác minh</a:t>
            </a:r>
            <a:endParaRPr b="0" lang="en-US" sz="920" strike="noStrike" u="none">
              <a:solidFill>
                <a:srgbClr val="000000"/>
              </a:solidFill>
              <a:effectLst/>
              <a:uFillTx/>
              <a:latin typeface="Arial"/>
            </a:endParaRPr>
          </a:p>
        </p:txBody>
      </p:sp>
      <p:sp>
        <p:nvSpPr>
          <p:cNvPr id="275" name="Shape 17"/>
          <p:cNvSpPr/>
          <p:nvPr/>
        </p:nvSpPr>
        <p:spPr>
          <a:xfrm>
            <a:off x="914400" y="3703320"/>
            <a:ext cx="1828440" cy="914040"/>
          </a:xfrm>
          <a:prstGeom prst="roundRect">
            <a:avLst>
              <a:gd name="adj" fmla="val 8000"/>
            </a:avLst>
          </a:prstGeom>
          <a:noFill/>
          <a:ln w="12700">
            <a:solidFill>
              <a:srgbClr val="e6ecf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6" name="Text 18"/>
          <p:cNvSpPr/>
          <p:nvPr/>
        </p:nvSpPr>
        <p:spPr>
          <a:xfrm>
            <a:off x="1024200" y="3831480"/>
            <a:ext cx="160884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000" strike="noStrike" u="none">
                <a:solidFill>
                  <a:srgbClr val="157a6e"/>
                </a:solidFill>
                <a:effectLst/>
                <a:uFillTx/>
                <a:latin typeface="Arial"/>
                <a:ea typeface="Arial"/>
              </a:rPr>
              <a:t>VALID</a:t>
            </a:r>
            <a:endParaRPr b="0" lang="en-US" sz="2000" strike="noStrike" u="none">
              <a:solidFill>
                <a:srgbClr val="000000"/>
              </a:solidFill>
              <a:effectLst/>
              <a:uFillTx/>
              <a:latin typeface="Arial"/>
            </a:endParaRPr>
          </a:p>
        </p:txBody>
      </p:sp>
      <p:sp>
        <p:nvSpPr>
          <p:cNvPr id="277" name="Text 19"/>
          <p:cNvSpPr/>
          <p:nvPr/>
        </p:nvSpPr>
        <p:spPr>
          <a:xfrm>
            <a:off x="1024200" y="4215240"/>
            <a:ext cx="160884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30" strike="noStrike" u="none">
                <a:solidFill>
                  <a:srgbClr val="243447"/>
                </a:solidFill>
                <a:effectLst/>
                <a:uFillTx/>
                <a:latin typeface="Arial"/>
                <a:ea typeface="Arial"/>
              </a:rPr>
              <a:t>Khớp hash và chưa thu hồi</a:t>
            </a:r>
            <a:endParaRPr b="0" lang="en-US" sz="930" strike="noStrike" u="none">
              <a:solidFill>
                <a:srgbClr val="000000"/>
              </a:solidFill>
              <a:effectLst/>
              <a:uFillTx/>
              <a:latin typeface="Arial"/>
            </a:endParaRPr>
          </a:p>
        </p:txBody>
      </p:sp>
      <p:sp>
        <p:nvSpPr>
          <p:cNvPr id="278" name="Shape 20"/>
          <p:cNvSpPr/>
          <p:nvPr/>
        </p:nvSpPr>
        <p:spPr>
          <a:xfrm>
            <a:off x="3246120" y="3703320"/>
            <a:ext cx="1828440" cy="914040"/>
          </a:xfrm>
          <a:prstGeom prst="roundRect">
            <a:avLst>
              <a:gd name="adj" fmla="val 8000"/>
            </a:avLst>
          </a:prstGeom>
          <a:noFill/>
          <a:ln w="12700">
            <a:solidFill>
              <a:srgbClr val="e6ecf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79" name="Text 21"/>
          <p:cNvSpPr/>
          <p:nvPr/>
        </p:nvSpPr>
        <p:spPr>
          <a:xfrm>
            <a:off x="3355920" y="3831480"/>
            <a:ext cx="160884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000" strike="noStrike" u="none">
                <a:solidFill>
                  <a:srgbClr val="b91c1c"/>
                </a:solidFill>
                <a:effectLst/>
                <a:uFillTx/>
                <a:latin typeface="Arial"/>
                <a:ea typeface="Arial"/>
              </a:rPr>
              <a:t>INVALID</a:t>
            </a:r>
            <a:endParaRPr b="0" lang="en-US" sz="2000" strike="noStrike" u="none">
              <a:solidFill>
                <a:srgbClr val="000000"/>
              </a:solidFill>
              <a:effectLst/>
              <a:uFillTx/>
              <a:latin typeface="Arial"/>
            </a:endParaRPr>
          </a:p>
        </p:txBody>
      </p:sp>
      <p:sp>
        <p:nvSpPr>
          <p:cNvPr id="280" name="Text 22"/>
          <p:cNvSpPr/>
          <p:nvPr/>
        </p:nvSpPr>
        <p:spPr>
          <a:xfrm>
            <a:off x="3355920" y="4215240"/>
            <a:ext cx="160884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30" strike="noStrike" u="none">
                <a:solidFill>
                  <a:srgbClr val="243447"/>
                </a:solidFill>
                <a:effectLst/>
                <a:uFillTx/>
                <a:latin typeface="Arial"/>
                <a:ea typeface="Arial"/>
              </a:rPr>
              <a:t>Không khớp dữ liệu</a:t>
            </a:r>
            <a:endParaRPr b="0" lang="en-US" sz="930" strike="noStrike" u="none">
              <a:solidFill>
                <a:srgbClr val="000000"/>
              </a:solidFill>
              <a:effectLst/>
              <a:uFillTx/>
              <a:latin typeface="Arial"/>
            </a:endParaRPr>
          </a:p>
        </p:txBody>
      </p:sp>
      <p:sp>
        <p:nvSpPr>
          <p:cNvPr id="281" name="Shape 23"/>
          <p:cNvSpPr/>
          <p:nvPr/>
        </p:nvSpPr>
        <p:spPr>
          <a:xfrm>
            <a:off x="5577840" y="3703320"/>
            <a:ext cx="1828440" cy="914040"/>
          </a:xfrm>
          <a:prstGeom prst="roundRect">
            <a:avLst>
              <a:gd name="adj" fmla="val 8000"/>
            </a:avLst>
          </a:prstGeom>
          <a:noFill/>
          <a:ln w="12700">
            <a:solidFill>
              <a:srgbClr val="e6ecf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2" name="Text 24"/>
          <p:cNvSpPr/>
          <p:nvPr/>
        </p:nvSpPr>
        <p:spPr>
          <a:xfrm>
            <a:off x="5687640" y="3831480"/>
            <a:ext cx="160884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000" strike="noStrike" u="none">
                <a:solidFill>
                  <a:srgbClr val="f6b76e"/>
                </a:solidFill>
                <a:effectLst/>
                <a:uFillTx/>
                <a:latin typeface="Arial"/>
                <a:ea typeface="Arial"/>
              </a:rPr>
              <a:t>REVOKED</a:t>
            </a:r>
            <a:endParaRPr b="0" lang="en-US" sz="2000" strike="noStrike" u="none">
              <a:solidFill>
                <a:srgbClr val="000000"/>
              </a:solidFill>
              <a:effectLst/>
              <a:uFillTx/>
              <a:latin typeface="Arial"/>
            </a:endParaRPr>
          </a:p>
        </p:txBody>
      </p:sp>
      <p:sp>
        <p:nvSpPr>
          <p:cNvPr id="283" name="Text 25"/>
          <p:cNvSpPr/>
          <p:nvPr/>
        </p:nvSpPr>
        <p:spPr>
          <a:xfrm>
            <a:off x="5687640" y="4215240"/>
            <a:ext cx="160884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30" strike="noStrike" u="none">
                <a:solidFill>
                  <a:srgbClr val="243447"/>
                </a:solidFill>
                <a:effectLst/>
                <a:uFillTx/>
                <a:latin typeface="Arial"/>
                <a:ea typeface="Arial"/>
              </a:rPr>
              <a:t>Đã bị thu hồi</a:t>
            </a:r>
            <a:endParaRPr b="0" lang="en-US" sz="930" strike="noStrike" u="none">
              <a:solidFill>
                <a:srgbClr val="000000"/>
              </a:solidFill>
              <a:effectLst/>
              <a:uFillTx/>
              <a:latin typeface="Arial"/>
            </a:endParaRPr>
          </a:p>
        </p:txBody>
      </p:sp>
      <p:sp>
        <p:nvSpPr>
          <p:cNvPr id="284" name="Shape 26"/>
          <p:cNvSpPr/>
          <p:nvPr/>
        </p:nvSpPr>
        <p:spPr>
          <a:xfrm>
            <a:off x="7909560" y="3703320"/>
            <a:ext cx="1828440" cy="914040"/>
          </a:xfrm>
          <a:prstGeom prst="roundRect">
            <a:avLst>
              <a:gd name="adj" fmla="val 8000"/>
            </a:avLst>
          </a:prstGeom>
          <a:noFill/>
          <a:ln w="12700">
            <a:solidFill>
              <a:srgbClr val="e6ecf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85" name="Text 27"/>
          <p:cNvSpPr/>
          <p:nvPr/>
        </p:nvSpPr>
        <p:spPr>
          <a:xfrm>
            <a:off x="8019360" y="3831480"/>
            <a:ext cx="1608840" cy="328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2000" strike="noStrike" u="none">
                <a:solidFill>
                  <a:srgbClr val="0e4b8b"/>
                </a:solidFill>
                <a:effectLst/>
                <a:uFillTx/>
                <a:latin typeface="Arial"/>
                <a:ea typeface="Arial"/>
              </a:rPr>
              <a:t>NOT_FOUND</a:t>
            </a:r>
            <a:endParaRPr b="0" lang="en-US" sz="2000" strike="noStrike" u="none">
              <a:solidFill>
                <a:srgbClr val="000000"/>
              </a:solidFill>
              <a:effectLst/>
              <a:uFillTx/>
              <a:latin typeface="Arial"/>
            </a:endParaRPr>
          </a:p>
        </p:txBody>
      </p:sp>
      <p:sp>
        <p:nvSpPr>
          <p:cNvPr id="286" name="Text 28"/>
          <p:cNvSpPr/>
          <p:nvPr/>
        </p:nvSpPr>
        <p:spPr>
          <a:xfrm>
            <a:off x="8019360" y="4215240"/>
            <a:ext cx="1608840" cy="3470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30" strike="noStrike" u="none">
                <a:solidFill>
                  <a:srgbClr val="243447"/>
                </a:solidFill>
                <a:effectLst/>
                <a:uFillTx/>
                <a:latin typeface="Arial"/>
                <a:ea typeface="Arial"/>
              </a:rPr>
              <a:t>Không tìm thấy</a:t>
            </a:r>
            <a:endParaRPr b="0" lang="en-US" sz="930" strike="noStrike" u="none">
              <a:solidFill>
                <a:srgbClr val="000000"/>
              </a:solidFill>
              <a:effectLst/>
              <a:uFillTx/>
              <a:latin typeface="Arial"/>
            </a:endParaRPr>
          </a:p>
        </p:txBody>
      </p:sp>
      <p:sp>
        <p:nvSpPr>
          <p:cNvPr id="287" name="Shape 29"/>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288" name="Text 30"/>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289" name="Text 31"/>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16</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290" name="Shape 0"/>
          <p:cNvSpPr/>
          <p:nvPr/>
        </p:nvSpPr>
        <p:spPr>
          <a:xfrm>
            <a:off x="9829800" y="502920"/>
            <a:ext cx="868320" cy="868320"/>
          </a:xfrm>
          <a:prstGeom prst="hexagon">
            <a:avLst>
              <a:gd name="adj" fmla="val 25000"/>
              <a:gd name="vf" fmla="val 115470"/>
            </a:avLst>
          </a:prstGeom>
          <a:solidFill>
            <a:srgbClr val="f6b76e">
              <a:alpha val="90000"/>
            </a:srgbClr>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1" name="Shape 1"/>
          <p:cNvSpPr/>
          <p:nvPr/>
        </p:nvSpPr>
        <p:spPr>
          <a:xfrm>
            <a:off x="10835640" y="320040"/>
            <a:ext cx="502560" cy="502560"/>
          </a:xfrm>
          <a:prstGeom prst="hexagon">
            <a:avLst>
              <a:gd name="adj" fmla="val 25000"/>
              <a:gd name="vf" fmla="val 115470"/>
            </a:avLst>
          </a:prstGeom>
          <a:solidFill>
            <a:srgbClr val="afc3d8"/>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2" name="Shape 2"/>
          <p:cNvSpPr/>
          <p:nvPr/>
        </p:nvSpPr>
        <p:spPr>
          <a:xfrm>
            <a:off x="9144000" y="1417320"/>
            <a:ext cx="383760" cy="383760"/>
          </a:xfrm>
          <a:prstGeom prst="hexagon">
            <a:avLst>
              <a:gd name="adj" fmla="val 25000"/>
              <a:gd name="vf" fmla="val 115470"/>
            </a:avLst>
          </a:prstGeom>
          <a:noFill/>
          <a:ln w="12700">
            <a:solidFill>
              <a:srgbClr val="afc3d8">
                <a:alpha val="8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3" name="Shape 3"/>
          <p:cNvSpPr/>
          <p:nvPr/>
        </p:nvSpPr>
        <p:spPr>
          <a:xfrm>
            <a:off x="10607040" y="1737360"/>
            <a:ext cx="319680" cy="319680"/>
          </a:xfrm>
          <a:prstGeom prst="hexagon">
            <a:avLst>
              <a:gd name="adj" fmla="val 25000"/>
              <a:gd name="vf" fmla="val 115470"/>
            </a:avLst>
          </a:prstGeom>
          <a:solidFill>
            <a:srgbClr val="ffe5c2"/>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4" name="Shape 4"/>
          <p:cNvSpPr/>
          <p:nvPr/>
        </p:nvSpPr>
        <p:spPr>
          <a:xfrm>
            <a:off x="457200" y="5120640"/>
            <a:ext cx="502560" cy="502560"/>
          </a:xfrm>
          <a:prstGeom prst="hexagon">
            <a:avLst>
              <a:gd name="adj" fmla="val 25000"/>
              <a:gd name="vf" fmla="val 115470"/>
            </a:avLst>
          </a:prstGeom>
          <a:noFill/>
          <a:ln w="12700">
            <a:solidFill>
              <a:srgbClr val="afc3d8">
                <a:alpha val="8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5" name="Shape 5"/>
          <p:cNvSpPr/>
          <p:nvPr/>
        </p:nvSpPr>
        <p:spPr>
          <a:xfrm>
            <a:off x="1051560" y="4617720"/>
            <a:ext cx="1234080" cy="1234080"/>
          </a:xfrm>
          <a:prstGeom prst="hexagon">
            <a:avLst>
              <a:gd name="adj" fmla="val 25000"/>
              <a:gd name="vf" fmla="val 115470"/>
            </a:avLst>
          </a:prstGeom>
          <a:solidFill>
            <a:srgbClr val="f6b76e">
              <a:alpha val="88000"/>
            </a:srgbClr>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6" name="Shape 6"/>
          <p:cNvSpPr/>
          <p:nvPr/>
        </p:nvSpPr>
        <p:spPr>
          <a:xfrm>
            <a:off x="2423160" y="4754880"/>
            <a:ext cx="621360" cy="621360"/>
          </a:xfrm>
          <a:prstGeom prst="hexagon">
            <a:avLst>
              <a:gd name="adj" fmla="val 25000"/>
              <a:gd name="vf" fmla="val 115470"/>
            </a:avLst>
          </a:prstGeom>
          <a:solidFill>
            <a:srgbClr val="afc3d8"/>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297" name="Text 7"/>
          <p:cNvSpPr/>
          <p:nvPr/>
        </p:nvSpPr>
        <p:spPr>
          <a:xfrm>
            <a:off x="5074920" y="2816280"/>
            <a:ext cx="530316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0b2d4d"/>
                </a:solidFill>
                <a:effectLst/>
                <a:uFillTx/>
                <a:latin typeface="Arial"/>
                <a:ea typeface="Arial"/>
              </a:rPr>
              <a:t>2.7 THIẾT KẾ DỮ LIỆU</a:t>
            </a:r>
            <a:endParaRPr b="0" lang="en-US" sz="2100" strike="noStrike" u="none">
              <a:solidFill>
                <a:srgbClr val="000000"/>
              </a:solidFill>
              <a:effectLst/>
              <a:uFillTx/>
              <a:latin typeface="Arial"/>
            </a:endParaRPr>
          </a:p>
        </p:txBody>
      </p:sp>
      <p:sp>
        <p:nvSpPr>
          <p:cNvPr id="298" name="Text 8"/>
          <p:cNvSpPr/>
          <p:nvPr/>
        </p:nvSpPr>
        <p:spPr>
          <a:xfrm>
            <a:off x="5120640" y="3246120"/>
            <a:ext cx="502884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Mô hình thực thể, vật lý và các collection chính</a:t>
            </a:r>
            <a:endParaRPr b="0" lang="en-US" sz="800" strike="noStrike" u="none">
              <a:solidFill>
                <a:srgbClr val="000000"/>
              </a:solidFill>
              <a:effectLst/>
              <a:uFillTx/>
              <a:latin typeface="Arial"/>
            </a:endParaRPr>
          </a:p>
        </p:txBody>
      </p:sp>
      <p:sp>
        <p:nvSpPr>
          <p:cNvPr id="299" name="Shape 9"/>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00" name="Text 10"/>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301" name="Text 11"/>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17</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02"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303"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2.7.1 Mô hình thực thể kết hợp</a:t>
            </a:r>
            <a:endParaRPr b="0" lang="en-US" sz="2000" strike="noStrike" u="none">
              <a:solidFill>
                <a:srgbClr val="000000"/>
              </a:solidFill>
              <a:effectLst/>
              <a:uFillTx/>
              <a:latin typeface="Arial"/>
            </a:endParaRPr>
          </a:p>
        </p:txBody>
      </p:sp>
      <p:sp>
        <p:nvSpPr>
          <p:cNvPr id="304"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Các thực thể nghiệp vụ và quan hệ chính</a:t>
            </a:r>
            <a:endParaRPr b="0" lang="en-US" sz="800" strike="noStrike" u="none">
              <a:solidFill>
                <a:srgbClr val="000000"/>
              </a:solidFill>
              <a:effectLst/>
              <a:uFillTx/>
              <a:latin typeface="Arial"/>
            </a:endParaRPr>
          </a:p>
        </p:txBody>
      </p:sp>
      <p:sp>
        <p:nvSpPr>
          <p:cNvPr id="305"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pic>
        <p:nvPicPr>
          <p:cNvPr id="306" name="Image 1" descr="/mnt/data/docx_media/word/media/image3.png"/>
          <p:cNvPicPr/>
          <p:nvPr/>
        </p:nvPicPr>
        <p:blipFill>
          <a:blip r:embed="rId2"/>
          <a:stretch/>
        </p:blipFill>
        <p:spPr>
          <a:xfrm>
            <a:off x="2491920" y="1143000"/>
            <a:ext cx="7269120" cy="4845960"/>
          </a:xfrm>
          <a:prstGeom prst="rect">
            <a:avLst/>
          </a:prstGeom>
          <a:noFill/>
          <a:ln w="0">
            <a:noFill/>
          </a:ln>
        </p:spPr>
      </p:pic>
      <p:sp>
        <p:nvSpPr>
          <p:cNvPr id="307" name="Text 3"/>
          <p:cNvSpPr/>
          <p:nvPr/>
        </p:nvSpPr>
        <p:spPr>
          <a:xfrm>
            <a:off x="731520" y="6062400"/>
            <a:ext cx="107895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Hình 3.2: Mô hình thực thể kết hợp</a:t>
            </a:r>
            <a:endParaRPr b="0" lang="en-US" sz="750" strike="noStrike" u="none">
              <a:solidFill>
                <a:srgbClr val="000000"/>
              </a:solidFill>
              <a:effectLst/>
              <a:uFillTx/>
              <a:latin typeface="Arial"/>
            </a:endParaRPr>
          </a:p>
        </p:txBody>
      </p:sp>
      <p:sp>
        <p:nvSpPr>
          <p:cNvPr id="308" name="Shape 4"/>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09" name="Text 5"/>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310" name="Text 6"/>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18</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11"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312"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2.7.2 Mô hình vật lý</a:t>
            </a:r>
            <a:endParaRPr b="0" lang="en-US" sz="2000" strike="noStrike" u="none">
              <a:solidFill>
                <a:srgbClr val="000000"/>
              </a:solidFill>
              <a:effectLst/>
              <a:uFillTx/>
              <a:latin typeface="Arial"/>
            </a:endParaRPr>
          </a:p>
        </p:txBody>
      </p:sp>
      <p:sp>
        <p:nvSpPr>
          <p:cNvPr id="313"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Cấu trúc collection và liên kết dữ liệu</a:t>
            </a:r>
            <a:endParaRPr b="0" lang="en-US" sz="800" strike="noStrike" u="none">
              <a:solidFill>
                <a:srgbClr val="000000"/>
              </a:solidFill>
              <a:effectLst/>
              <a:uFillTx/>
              <a:latin typeface="Arial"/>
            </a:endParaRPr>
          </a:p>
        </p:txBody>
      </p:sp>
      <p:sp>
        <p:nvSpPr>
          <p:cNvPr id="314"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pic>
        <p:nvPicPr>
          <p:cNvPr id="315" name="Image 1" descr="/mnt/data/docx_media/word/media/image4.png"/>
          <p:cNvPicPr/>
          <p:nvPr/>
        </p:nvPicPr>
        <p:blipFill>
          <a:blip r:embed="rId2"/>
          <a:stretch/>
        </p:blipFill>
        <p:spPr>
          <a:xfrm>
            <a:off x="2491920" y="1143000"/>
            <a:ext cx="7269120" cy="4845960"/>
          </a:xfrm>
          <a:prstGeom prst="rect">
            <a:avLst/>
          </a:prstGeom>
          <a:noFill/>
          <a:ln w="0">
            <a:noFill/>
          </a:ln>
        </p:spPr>
      </p:pic>
      <p:sp>
        <p:nvSpPr>
          <p:cNvPr id="316" name="Text 3"/>
          <p:cNvSpPr/>
          <p:nvPr/>
        </p:nvSpPr>
        <p:spPr>
          <a:xfrm>
            <a:off x="731520" y="6062400"/>
            <a:ext cx="1078956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Hình 3.3: Mô hình vật lý</a:t>
            </a:r>
            <a:endParaRPr b="0" lang="en-US" sz="750" strike="noStrike" u="none">
              <a:solidFill>
                <a:srgbClr val="000000"/>
              </a:solidFill>
              <a:effectLst/>
              <a:uFillTx/>
              <a:latin typeface="Arial"/>
            </a:endParaRPr>
          </a:p>
        </p:txBody>
      </p:sp>
      <p:sp>
        <p:nvSpPr>
          <p:cNvPr id="317" name="Shape 4"/>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18" name="Text 5"/>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319" name="Text 6"/>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19</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20"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321"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2.7.3 Các collection chính</a:t>
            </a:r>
            <a:endParaRPr b="0" lang="en-US" sz="2000" strike="noStrike" u="none">
              <a:solidFill>
                <a:srgbClr val="000000"/>
              </a:solidFill>
              <a:effectLst/>
              <a:uFillTx/>
              <a:latin typeface="Arial"/>
            </a:endParaRPr>
          </a:p>
        </p:txBody>
      </p:sp>
      <p:sp>
        <p:nvSpPr>
          <p:cNvPr id="322"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Vai trò dữ liệu trong hệ thống</a:t>
            </a:r>
            <a:endParaRPr b="0" lang="en-US" sz="800" strike="noStrike" u="none">
              <a:solidFill>
                <a:srgbClr val="000000"/>
              </a:solidFill>
              <a:effectLst/>
              <a:uFillTx/>
              <a:latin typeface="Arial"/>
            </a:endParaRPr>
          </a:p>
        </p:txBody>
      </p:sp>
      <p:sp>
        <p:nvSpPr>
          <p:cNvPr id="323"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24" name="Shape 3"/>
          <p:cNvSpPr/>
          <p:nvPr/>
        </p:nvSpPr>
        <p:spPr>
          <a:xfrm>
            <a:off x="777240" y="1417320"/>
            <a:ext cx="4800240" cy="1170000"/>
          </a:xfrm>
          <a:prstGeom prst="roundRect">
            <a:avLst>
              <a:gd name="adj" fmla="val 6250"/>
            </a:avLst>
          </a:prstGeom>
          <a:noFill/>
          <a:ln w="12700">
            <a:solidFill>
              <a:srgbClr val="e6ecf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5" name="Text 4"/>
          <p:cNvSpPr/>
          <p:nvPr/>
        </p:nvSpPr>
        <p:spPr>
          <a:xfrm>
            <a:off x="960120" y="1581840"/>
            <a:ext cx="22856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0b2d4d"/>
                </a:solidFill>
                <a:effectLst/>
                <a:uFillTx/>
                <a:latin typeface="Arial"/>
                <a:ea typeface="Arial"/>
              </a:rPr>
              <a:t>Nghiệp vụ đào tạo</a:t>
            </a:r>
            <a:endParaRPr b="0" lang="en-US" sz="1400" strike="noStrike" u="none">
              <a:solidFill>
                <a:srgbClr val="000000"/>
              </a:solidFill>
              <a:effectLst/>
              <a:uFillTx/>
              <a:latin typeface="Arial"/>
            </a:endParaRPr>
          </a:p>
        </p:txBody>
      </p:sp>
      <p:sp>
        <p:nvSpPr>
          <p:cNvPr id="326" name="Text 5"/>
          <p:cNvSpPr/>
          <p:nvPr/>
        </p:nvSpPr>
        <p:spPr>
          <a:xfrm>
            <a:off x="960120" y="1947600"/>
            <a:ext cx="42973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243447"/>
                </a:solidFill>
                <a:effectLst/>
                <a:uFillTx/>
                <a:latin typeface="Arial"/>
                <a:ea typeface="Arial"/>
              </a:rPr>
              <a:t>users, students, institutions, majors, courses, trainingclasses</a:t>
            </a:r>
            <a:endParaRPr b="0" lang="en-US" sz="1050" strike="noStrike" u="none">
              <a:solidFill>
                <a:srgbClr val="000000"/>
              </a:solidFill>
              <a:effectLst/>
              <a:uFillTx/>
              <a:latin typeface="Arial"/>
            </a:endParaRPr>
          </a:p>
        </p:txBody>
      </p:sp>
      <p:sp>
        <p:nvSpPr>
          <p:cNvPr id="327" name="Shape 6"/>
          <p:cNvSpPr/>
          <p:nvPr/>
        </p:nvSpPr>
        <p:spPr>
          <a:xfrm>
            <a:off x="6263640" y="1417320"/>
            <a:ext cx="4800240" cy="1170000"/>
          </a:xfrm>
          <a:prstGeom prst="roundRect">
            <a:avLst>
              <a:gd name="adj" fmla="val 6250"/>
            </a:avLst>
          </a:prstGeom>
          <a:noFill/>
          <a:ln w="12700">
            <a:solidFill>
              <a:srgbClr val="f6b76e"/>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28" name="Text 7"/>
          <p:cNvSpPr/>
          <p:nvPr/>
        </p:nvSpPr>
        <p:spPr>
          <a:xfrm>
            <a:off x="6446520" y="1581840"/>
            <a:ext cx="22856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0b2d4d"/>
                </a:solidFill>
                <a:effectLst/>
                <a:uFillTx/>
                <a:latin typeface="Arial"/>
                <a:ea typeface="Arial"/>
              </a:rPr>
              <a:t>Văn bằng</a:t>
            </a:r>
            <a:endParaRPr b="0" lang="en-US" sz="1400" strike="noStrike" u="none">
              <a:solidFill>
                <a:srgbClr val="000000"/>
              </a:solidFill>
              <a:effectLst/>
              <a:uFillTx/>
              <a:latin typeface="Arial"/>
            </a:endParaRPr>
          </a:p>
        </p:txBody>
      </p:sp>
      <p:sp>
        <p:nvSpPr>
          <p:cNvPr id="329" name="Text 8"/>
          <p:cNvSpPr/>
          <p:nvPr/>
        </p:nvSpPr>
        <p:spPr>
          <a:xfrm>
            <a:off x="6446520" y="1947600"/>
            <a:ext cx="42973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243447"/>
                </a:solidFill>
                <a:effectLst/>
                <a:uFillTx/>
                <a:latin typeface="Arial"/>
                <a:ea typeface="Arial"/>
              </a:rPr>
              <a:t>certificates, certificate_sequences</a:t>
            </a:r>
            <a:endParaRPr b="0" lang="en-US" sz="1050" strike="noStrike" u="none">
              <a:solidFill>
                <a:srgbClr val="000000"/>
              </a:solidFill>
              <a:effectLst/>
              <a:uFillTx/>
              <a:latin typeface="Arial"/>
            </a:endParaRPr>
          </a:p>
        </p:txBody>
      </p:sp>
      <p:sp>
        <p:nvSpPr>
          <p:cNvPr id="330" name="Shape 9"/>
          <p:cNvSpPr/>
          <p:nvPr/>
        </p:nvSpPr>
        <p:spPr>
          <a:xfrm>
            <a:off x="777240" y="3063240"/>
            <a:ext cx="4800240" cy="1170000"/>
          </a:xfrm>
          <a:prstGeom prst="roundRect">
            <a:avLst>
              <a:gd name="adj" fmla="val 6250"/>
            </a:avLst>
          </a:prstGeom>
          <a:noFill/>
          <a:ln w="12700">
            <a:solidFill>
              <a:srgbClr val="e6ecf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1" name="Text 10"/>
          <p:cNvSpPr/>
          <p:nvPr/>
        </p:nvSpPr>
        <p:spPr>
          <a:xfrm>
            <a:off x="960120" y="3227760"/>
            <a:ext cx="22856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0b2d4d"/>
                </a:solidFill>
                <a:effectLst/>
                <a:uFillTx/>
                <a:latin typeface="Arial"/>
                <a:ea typeface="Arial"/>
              </a:rPr>
              <a:t>Blockchain &amp; xác minh</a:t>
            </a:r>
            <a:endParaRPr b="0" lang="en-US" sz="1400" strike="noStrike" u="none">
              <a:solidFill>
                <a:srgbClr val="000000"/>
              </a:solidFill>
              <a:effectLst/>
              <a:uFillTx/>
              <a:latin typeface="Arial"/>
            </a:endParaRPr>
          </a:p>
        </p:txBody>
      </p:sp>
      <p:sp>
        <p:nvSpPr>
          <p:cNvPr id="332" name="Text 11"/>
          <p:cNvSpPr/>
          <p:nvPr/>
        </p:nvSpPr>
        <p:spPr>
          <a:xfrm>
            <a:off x="960120" y="3593520"/>
            <a:ext cx="42973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243447"/>
                </a:solidFill>
                <a:effectLst/>
                <a:uFillTx/>
                <a:latin typeface="Arial"/>
                <a:ea typeface="Arial"/>
              </a:rPr>
              <a:t>blockchain_transactions, verification_logs</a:t>
            </a:r>
            <a:endParaRPr b="0" lang="en-US" sz="1050" strike="noStrike" u="none">
              <a:solidFill>
                <a:srgbClr val="000000"/>
              </a:solidFill>
              <a:effectLst/>
              <a:uFillTx/>
              <a:latin typeface="Arial"/>
            </a:endParaRPr>
          </a:p>
        </p:txBody>
      </p:sp>
      <p:sp>
        <p:nvSpPr>
          <p:cNvPr id="333" name="Shape 12"/>
          <p:cNvSpPr/>
          <p:nvPr/>
        </p:nvSpPr>
        <p:spPr>
          <a:xfrm>
            <a:off x="6263640" y="3063240"/>
            <a:ext cx="4800240" cy="1170000"/>
          </a:xfrm>
          <a:prstGeom prst="roundRect">
            <a:avLst>
              <a:gd name="adj" fmla="val 6250"/>
            </a:avLst>
          </a:prstGeom>
          <a:noFill/>
          <a:ln w="12700">
            <a:solidFill>
              <a:srgbClr val="e6ecf2"/>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34" name="Text 13"/>
          <p:cNvSpPr/>
          <p:nvPr/>
        </p:nvSpPr>
        <p:spPr>
          <a:xfrm>
            <a:off x="6446520" y="3227760"/>
            <a:ext cx="2285640" cy="2556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400" strike="noStrike" u="none">
                <a:solidFill>
                  <a:srgbClr val="0b2d4d"/>
                </a:solidFill>
                <a:effectLst/>
                <a:uFillTx/>
                <a:latin typeface="Arial"/>
                <a:ea typeface="Arial"/>
              </a:rPr>
              <a:t>Hỗ trợ</a:t>
            </a:r>
            <a:endParaRPr b="0" lang="en-US" sz="1400" strike="noStrike" u="none">
              <a:solidFill>
                <a:srgbClr val="000000"/>
              </a:solidFill>
              <a:effectLst/>
              <a:uFillTx/>
              <a:latin typeface="Arial"/>
            </a:endParaRPr>
          </a:p>
        </p:txBody>
      </p:sp>
      <p:sp>
        <p:nvSpPr>
          <p:cNvPr id="335" name="Text 14"/>
          <p:cNvSpPr/>
          <p:nvPr/>
        </p:nvSpPr>
        <p:spPr>
          <a:xfrm>
            <a:off x="6446520" y="3593520"/>
            <a:ext cx="429732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0" lang="en-US" sz="1050" strike="noStrike" u="none">
                <a:solidFill>
                  <a:srgbClr val="243447"/>
                </a:solidFill>
                <a:effectLst/>
                <a:uFillTx/>
                <a:latin typeface="Arial"/>
                <a:ea typeface="Arial"/>
              </a:rPr>
              <a:t>consultations</a:t>
            </a:r>
            <a:endParaRPr b="0" lang="en-US" sz="1050" strike="noStrike" u="none">
              <a:solidFill>
                <a:srgbClr val="000000"/>
              </a:solidFill>
              <a:effectLst/>
              <a:uFillTx/>
              <a:latin typeface="Arial"/>
            </a:endParaRPr>
          </a:p>
        </p:txBody>
      </p:sp>
      <p:sp>
        <p:nvSpPr>
          <p:cNvPr id="336" name="Text 15"/>
          <p:cNvSpPr/>
          <p:nvPr/>
        </p:nvSpPr>
        <p:spPr>
          <a:xfrm>
            <a:off x="1005840" y="5166360"/>
            <a:ext cx="10149480" cy="50256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220" strike="noStrike" u="none">
                <a:solidFill>
                  <a:srgbClr val="243447"/>
                </a:solidFill>
                <a:effectLst/>
                <a:uFillTx/>
                <a:latin typeface="Arial"/>
                <a:ea typeface="Arial"/>
              </a:rPr>
              <a:t>certificate_sequences sinh mã văn bằng tự động theo định dạng INSTITUTION-YYYY-000001; certificates là collection trung tâm lưu thông tin văn bằng, documentHash, trạng thái nghiệp vụ và trạng thái Blockchain.</a:t>
            </a:r>
            <a:endParaRPr b="0" lang="en-US" sz="1220" strike="noStrike" u="none">
              <a:solidFill>
                <a:srgbClr val="000000"/>
              </a:solidFill>
              <a:effectLst/>
              <a:uFillTx/>
              <a:latin typeface="Arial"/>
            </a:endParaRPr>
          </a:p>
        </p:txBody>
      </p:sp>
      <p:sp>
        <p:nvSpPr>
          <p:cNvPr id="337" name="Shape 16"/>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38" name="Text 17"/>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339" name="Text 18"/>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20</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340" name="Shape 0"/>
          <p:cNvSpPr/>
          <p:nvPr/>
        </p:nvSpPr>
        <p:spPr>
          <a:xfrm>
            <a:off x="9829800" y="502920"/>
            <a:ext cx="868320" cy="868320"/>
          </a:xfrm>
          <a:prstGeom prst="hexagon">
            <a:avLst>
              <a:gd name="adj" fmla="val 25000"/>
              <a:gd name="vf" fmla="val 115470"/>
            </a:avLst>
          </a:prstGeom>
          <a:solidFill>
            <a:srgbClr val="f6b76e">
              <a:alpha val="90000"/>
            </a:srgbClr>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1" name="Shape 1"/>
          <p:cNvSpPr/>
          <p:nvPr/>
        </p:nvSpPr>
        <p:spPr>
          <a:xfrm>
            <a:off x="10835640" y="320040"/>
            <a:ext cx="502560" cy="502560"/>
          </a:xfrm>
          <a:prstGeom prst="hexagon">
            <a:avLst>
              <a:gd name="adj" fmla="val 25000"/>
              <a:gd name="vf" fmla="val 115470"/>
            </a:avLst>
          </a:prstGeom>
          <a:solidFill>
            <a:srgbClr val="afc3d8"/>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2" name="Shape 2"/>
          <p:cNvSpPr/>
          <p:nvPr/>
        </p:nvSpPr>
        <p:spPr>
          <a:xfrm>
            <a:off x="9144000" y="1417320"/>
            <a:ext cx="383760" cy="383760"/>
          </a:xfrm>
          <a:prstGeom prst="hexagon">
            <a:avLst>
              <a:gd name="adj" fmla="val 25000"/>
              <a:gd name="vf" fmla="val 115470"/>
            </a:avLst>
          </a:prstGeom>
          <a:noFill/>
          <a:ln w="12700">
            <a:solidFill>
              <a:srgbClr val="afc3d8">
                <a:alpha val="8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3" name="Shape 3"/>
          <p:cNvSpPr/>
          <p:nvPr/>
        </p:nvSpPr>
        <p:spPr>
          <a:xfrm>
            <a:off x="10607040" y="1737360"/>
            <a:ext cx="319680" cy="319680"/>
          </a:xfrm>
          <a:prstGeom prst="hexagon">
            <a:avLst>
              <a:gd name="adj" fmla="val 25000"/>
              <a:gd name="vf" fmla="val 115470"/>
            </a:avLst>
          </a:prstGeom>
          <a:solidFill>
            <a:srgbClr val="ffe5c2"/>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4" name="Shape 4"/>
          <p:cNvSpPr/>
          <p:nvPr/>
        </p:nvSpPr>
        <p:spPr>
          <a:xfrm>
            <a:off x="457200" y="5120640"/>
            <a:ext cx="502560" cy="502560"/>
          </a:xfrm>
          <a:prstGeom prst="hexagon">
            <a:avLst>
              <a:gd name="adj" fmla="val 25000"/>
              <a:gd name="vf" fmla="val 115470"/>
            </a:avLst>
          </a:prstGeom>
          <a:noFill/>
          <a:ln w="12700">
            <a:solidFill>
              <a:srgbClr val="afc3d8">
                <a:alpha val="8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5" name="Shape 5"/>
          <p:cNvSpPr/>
          <p:nvPr/>
        </p:nvSpPr>
        <p:spPr>
          <a:xfrm>
            <a:off x="1051560" y="4617720"/>
            <a:ext cx="1234080" cy="1234080"/>
          </a:xfrm>
          <a:prstGeom prst="hexagon">
            <a:avLst>
              <a:gd name="adj" fmla="val 25000"/>
              <a:gd name="vf" fmla="val 115470"/>
            </a:avLst>
          </a:prstGeom>
          <a:solidFill>
            <a:srgbClr val="f6b76e">
              <a:alpha val="88000"/>
            </a:srgbClr>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6" name="Shape 6"/>
          <p:cNvSpPr/>
          <p:nvPr/>
        </p:nvSpPr>
        <p:spPr>
          <a:xfrm>
            <a:off x="2423160" y="4754880"/>
            <a:ext cx="621360" cy="621360"/>
          </a:xfrm>
          <a:prstGeom prst="hexagon">
            <a:avLst>
              <a:gd name="adj" fmla="val 25000"/>
              <a:gd name="vf" fmla="val 115470"/>
            </a:avLst>
          </a:prstGeom>
          <a:solidFill>
            <a:srgbClr val="afc3d8"/>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347" name="Text 7"/>
          <p:cNvSpPr/>
          <p:nvPr/>
        </p:nvSpPr>
        <p:spPr>
          <a:xfrm>
            <a:off x="5074920" y="2816280"/>
            <a:ext cx="530316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0b2d4d"/>
                </a:solidFill>
                <a:effectLst/>
                <a:uFillTx/>
                <a:latin typeface="Arial"/>
                <a:ea typeface="Arial"/>
              </a:rPr>
              <a:t>3. HIỆN THỰC HÓA NGHIÊN CỨU</a:t>
            </a:r>
            <a:endParaRPr b="0" lang="en-US" sz="2100" strike="noStrike" u="none">
              <a:solidFill>
                <a:srgbClr val="000000"/>
              </a:solidFill>
              <a:effectLst/>
              <a:uFillTx/>
              <a:latin typeface="Arial"/>
            </a:endParaRPr>
          </a:p>
        </p:txBody>
      </p:sp>
      <p:sp>
        <p:nvSpPr>
          <p:cNvPr id="348" name="Text 8"/>
          <p:cNvSpPr/>
          <p:nvPr/>
        </p:nvSpPr>
        <p:spPr>
          <a:xfrm>
            <a:off x="5120640" y="3246120"/>
            <a:ext cx="502884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Dữ liệu, giao diện và chức năng nghiệp vụ</a:t>
            </a:r>
            <a:endParaRPr b="0" lang="en-US" sz="800" strike="noStrike" u="none">
              <a:solidFill>
                <a:srgbClr val="000000"/>
              </a:solidFill>
              <a:effectLst/>
              <a:uFillTx/>
              <a:latin typeface="Arial"/>
            </a:endParaRPr>
          </a:p>
        </p:txBody>
      </p:sp>
      <p:sp>
        <p:nvSpPr>
          <p:cNvPr id="349" name="Shape 9"/>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50" name="Text 10"/>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351" name="Text 11"/>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21</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52"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353"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3.1 Chuẩn bị dữ liệu</a:t>
            </a:r>
            <a:endParaRPr b="0" lang="en-US" sz="2000" strike="noStrike" u="none">
              <a:solidFill>
                <a:srgbClr val="000000"/>
              </a:solidFill>
              <a:effectLst/>
              <a:uFillTx/>
              <a:latin typeface="Arial"/>
            </a:endParaRPr>
          </a:p>
        </p:txBody>
      </p:sp>
      <p:sp>
        <p:nvSpPr>
          <p:cNvPr id="354"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Các nhóm dữ liệu phục vụ kiểm thử hệ thống</a:t>
            </a:r>
            <a:endParaRPr b="0" lang="en-US" sz="800" strike="noStrike" u="none">
              <a:solidFill>
                <a:srgbClr val="000000"/>
              </a:solidFill>
              <a:effectLst/>
              <a:uFillTx/>
              <a:latin typeface="Arial"/>
            </a:endParaRPr>
          </a:p>
        </p:txBody>
      </p:sp>
      <p:sp>
        <p:nvSpPr>
          <p:cNvPr id="355"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pic>
        <p:nvPicPr>
          <p:cNvPr id="356" name="Image 1" descr="/mnt/data/docx_media/word/media/image18.png"/>
          <p:cNvPicPr/>
          <p:nvPr/>
        </p:nvPicPr>
        <p:blipFill>
          <a:blip r:embed="rId2"/>
          <a:stretch/>
        </p:blipFill>
        <p:spPr>
          <a:xfrm>
            <a:off x="742680" y="1261800"/>
            <a:ext cx="3360600" cy="1416960"/>
          </a:xfrm>
          <a:prstGeom prst="rect">
            <a:avLst/>
          </a:prstGeom>
          <a:noFill/>
          <a:ln w="0">
            <a:noFill/>
          </a:ln>
        </p:spPr>
      </p:pic>
      <p:sp>
        <p:nvSpPr>
          <p:cNvPr id="357" name="Text 3"/>
          <p:cNvSpPr/>
          <p:nvPr/>
        </p:nvSpPr>
        <p:spPr>
          <a:xfrm>
            <a:off x="640080" y="2752200"/>
            <a:ext cx="35658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Dữ liệu cơ sở đào tạo</a:t>
            </a:r>
            <a:endParaRPr b="0" lang="en-US" sz="750" strike="noStrike" u="none">
              <a:solidFill>
                <a:srgbClr val="000000"/>
              </a:solidFill>
              <a:effectLst/>
              <a:uFillTx/>
              <a:latin typeface="Arial"/>
            </a:endParaRPr>
          </a:p>
        </p:txBody>
      </p:sp>
      <p:pic>
        <p:nvPicPr>
          <p:cNvPr id="358" name="Image 2" descr="/mnt/data/docx_media/word/media/image17.png"/>
          <p:cNvPicPr/>
          <p:nvPr/>
        </p:nvPicPr>
        <p:blipFill>
          <a:blip r:embed="rId3"/>
          <a:stretch/>
        </p:blipFill>
        <p:spPr>
          <a:xfrm>
            <a:off x="4454280" y="1261800"/>
            <a:ext cx="3344400" cy="1416960"/>
          </a:xfrm>
          <a:prstGeom prst="rect">
            <a:avLst/>
          </a:prstGeom>
          <a:noFill/>
          <a:ln w="0">
            <a:noFill/>
          </a:ln>
        </p:spPr>
      </p:pic>
      <p:sp>
        <p:nvSpPr>
          <p:cNvPr id="359" name="Text 4"/>
          <p:cNvSpPr/>
          <p:nvPr/>
        </p:nvSpPr>
        <p:spPr>
          <a:xfrm>
            <a:off x="4343400" y="2752200"/>
            <a:ext cx="35658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Dữ liệu ngành học</a:t>
            </a:r>
            <a:endParaRPr b="0" lang="en-US" sz="750" strike="noStrike" u="none">
              <a:solidFill>
                <a:srgbClr val="000000"/>
              </a:solidFill>
              <a:effectLst/>
              <a:uFillTx/>
              <a:latin typeface="Arial"/>
            </a:endParaRPr>
          </a:p>
        </p:txBody>
      </p:sp>
      <p:pic>
        <p:nvPicPr>
          <p:cNvPr id="360" name="Image 3" descr="/mnt/data/docx_media/word/media/image19.png"/>
          <p:cNvPicPr/>
          <p:nvPr/>
        </p:nvPicPr>
        <p:blipFill>
          <a:blip r:embed="rId4"/>
          <a:stretch/>
        </p:blipFill>
        <p:spPr>
          <a:xfrm>
            <a:off x="8163000" y="1261800"/>
            <a:ext cx="3333240" cy="1416960"/>
          </a:xfrm>
          <a:prstGeom prst="rect">
            <a:avLst/>
          </a:prstGeom>
          <a:noFill/>
          <a:ln w="0">
            <a:noFill/>
          </a:ln>
        </p:spPr>
      </p:pic>
      <p:sp>
        <p:nvSpPr>
          <p:cNvPr id="361" name="Text 5"/>
          <p:cNvSpPr/>
          <p:nvPr/>
        </p:nvSpPr>
        <p:spPr>
          <a:xfrm>
            <a:off x="8046720" y="2752200"/>
            <a:ext cx="35658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Dữ liệu khóa học</a:t>
            </a:r>
            <a:endParaRPr b="0" lang="en-US" sz="750" strike="noStrike" u="none">
              <a:solidFill>
                <a:srgbClr val="000000"/>
              </a:solidFill>
              <a:effectLst/>
              <a:uFillTx/>
              <a:latin typeface="Arial"/>
            </a:endParaRPr>
          </a:p>
        </p:txBody>
      </p:sp>
      <p:pic>
        <p:nvPicPr>
          <p:cNvPr id="362" name="Image 4" descr="/mnt/data/docx_media/word/media/image13.png"/>
          <p:cNvPicPr/>
          <p:nvPr/>
        </p:nvPicPr>
        <p:blipFill>
          <a:blip r:embed="rId5"/>
          <a:stretch/>
        </p:blipFill>
        <p:spPr>
          <a:xfrm>
            <a:off x="1004760" y="3657600"/>
            <a:ext cx="2836800" cy="1234080"/>
          </a:xfrm>
          <a:prstGeom prst="rect">
            <a:avLst/>
          </a:prstGeom>
          <a:noFill/>
          <a:ln w="0">
            <a:noFill/>
          </a:ln>
        </p:spPr>
      </p:pic>
      <p:sp>
        <p:nvSpPr>
          <p:cNvPr id="363" name="Text 6"/>
          <p:cNvSpPr/>
          <p:nvPr/>
        </p:nvSpPr>
        <p:spPr>
          <a:xfrm>
            <a:off x="640080" y="4965120"/>
            <a:ext cx="35658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Dữ liệu lớp đào tạo</a:t>
            </a:r>
            <a:endParaRPr b="0" lang="en-US" sz="750" strike="noStrike" u="none">
              <a:solidFill>
                <a:srgbClr val="000000"/>
              </a:solidFill>
              <a:effectLst/>
              <a:uFillTx/>
              <a:latin typeface="Arial"/>
            </a:endParaRPr>
          </a:p>
        </p:txBody>
      </p:sp>
      <p:pic>
        <p:nvPicPr>
          <p:cNvPr id="364" name="Image 5" descr="/mnt/data/docx_media/word/media/image14.png"/>
          <p:cNvPicPr/>
          <p:nvPr/>
        </p:nvPicPr>
        <p:blipFill>
          <a:blip r:embed="rId6"/>
          <a:stretch/>
        </p:blipFill>
        <p:spPr>
          <a:xfrm>
            <a:off x="4687920" y="3657600"/>
            <a:ext cx="2876760" cy="1234080"/>
          </a:xfrm>
          <a:prstGeom prst="rect">
            <a:avLst/>
          </a:prstGeom>
          <a:noFill/>
          <a:ln w="0">
            <a:noFill/>
          </a:ln>
        </p:spPr>
      </p:pic>
      <p:sp>
        <p:nvSpPr>
          <p:cNvPr id="365" name="Text 7"/>
          <p:cNvSpPr/>
          <p:nvPr/>
        </p:nvSpPr>
        <p:spPr>
          <a:xfrm>
            <a:off x="4343400" y="4965120"/>
            <a:ext cx="35658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Dữ liệu người dùng</a:t>
            </a:r>
            <a:endParaRPr b="0" lang="en-US" sz="750" strike="noStrike" u="none">
              <a:solidFill>
                <a:srgbClr val="000000"/>
              </a:solidFill>
              <a:effectLst/>
              <a:uFillTx/>
              <a:latin typeface="Arial"/>
            </a:endParaRPr>
          </a:p>
        </p:txBody>
      </p:sp>
      <p:pic>
        <p:nvPicPr>
          <p:cNvPr id="366" name="Image 6" descr="/mnt/data/docx_media/word/media/image16.png"/>
          <p:cNvPicPr/>
          <p:nvPr/>
        </p:nvPicPr>
        <p:blipFill>
          <a:blip r:embed="rId7"/>
          <a:stretch/>
        </p:blipFill>
        <p:spPr>
          <a:xfrm>
            <a:off x="8372520" y="3657600"/>
            <a:ext cx="2913840" cy="1234080"/>
          </a:xfrm>
          <a:prstGeom prst="rect">
            <a:avLst/>
          </a:prstGeom>
          <a:noFill/>
          <a:ln w="0">
            <a:noFill/>
          </a:ln>
        </p:spPr>
      </p:pic>
      <p:sp>
        <p:nvSpPr>
          <p:cNvPr id="367" name="Text 8"/>
          <p:cNvSpPr/>
          <p:nvPr/>
        </p:nvSpPr>
        <p:spPr>
          <a:xfrm>
            <a:off x="8046720" y="4965120"/>
            <a:ext cx="35658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Dữ liệu văn bằng/chứng chỉ</a:t>
            </a:r>
            <a:endParaRPr b="0" lang="en-US" sz="750" strike="noStrike" u="none">
              <a:solidFill>
                <a:srgbClr val="000000"/>
              </a:solidFill>
              <a:effectLst/>
              <a:uFillTx/>
              <a:latin typeface="Arial"/>
            </a:endParaRPr>
          </a:p>
        </p:txBody>
      </p:sp>
      <p:sp>
        <p:nvSpPr>
          <p:cNvPr id="368" name="Shape 9"/>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69" name="Text 10"/>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370" name="Text 11"/>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22</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71"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372"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3.2 Giao diện người dùng công khai</a:t>
            </a:r>
            <a:endParaRPr b="0" lang="en-US" sz="2000" strike="noStrike" u="none">
              <a:solidFill>
                <a:srgbClr val="000000"/>
              </a:solidFill>
              <a:effectLst/>
              <a:uFillTx/>
              <a:latin typeface="Arial"/>
            </a:endParaRPr>
          </a:p>
        </p:txBody>
      </p:sp>
      <p:sp>
        <p:nvSpPr>
          <p:cNvPr id="373"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Trang chủ, giới thiệu và tư vấn</a:t>
            </a:r>
            <a:endParaRPr b="0" lang="en-US" sz="800" strike="noStrike" u="none">
              <a:solidFill>
                <a:srgbClr val="000000"/>
              </a:solidFill>
              <a:effectLst/>
              <a:uFillTx/>
              <a:latin typeface="Arial"/>
            </a:endParaRPr>
          </a:p>
        </p:txBody>
      </p:sp>
      <p:sp>
        <p:nvSpPr>
          <p:cNvPr id="374"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pic>
        <p:nvPicPr>
          <p:cNvPr id="375" name="Image 1" descr="/mnt/data/docx_media/word/media/image24.png"/>
          <p:cNvPicPr/>
          <p:nvPr/>
        </p:nvPicPr>
        <p:blipFill>
          <a:blip r:embed="rId2"/>
          <a:stretch/>
        </p:blipFill>
        <p:spPr>
          <a:xfrm>
            <a:off x="762120" y="1234440"/>
            <a:ext cx="4876200" cy="2331360"/>
          </a:xfrm>
          <a:prstGeom prst="rect">
            <a:avLst/>
          </a:prstGeom>
          <a:noFill/>
          <a:ln w="0">
            <a:noFill/>
          </a:ln>
        </p:spPr>
      </p:pic>
      <p:sp>
        <p:nvSpPr>
          <p:cNvPr id="376" name="Text 3"/>
          <p:cNvSpPr/>
          <p:nvPr/>
        </p:nvSpPr>
        <p:spPr>
          <a:xfrm>
            <a:off x="685800" y="3639240"/>
            <a:ext cx="50288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Trang chủ giới thiệu văn bằng số minh bạch</a:t>
            </a:r>
            <a:endParaRPr b="0" lang="en-US" sz="750" strike="noStrike" u="none">
              <a:solidFill>
                <a:srgbClr val="000000"/>
              </a:solidFill>
              <a:effectLst/>
              <a:uFillTx/>
              <a:latin typeface="Arial"/>
            </a:endParaRPr>
          </a:p>
        </p:txBody>
      </p:sp>
      <p:pic>
        <p:nvPicPr>
          <p:cNvPr id="377" name="Image 2" descr="/mnt/data/docx_media/word/media/image25.png"/>
          <p:cNvPicPr/>
          <p:nvPr/>
        </p:nvPicPr>
        <p:blipFill>
          <a:blip r:embed="rId3"/>
          <a:stretch/>
        </p:blipFill>
        <p:spPr>
          <a:xfrm>
            <a:off x="6339600" y="1234440"/>
            <a:ext cx="4876560" cy="2331360"/>
          </a:xfrm>
          <a:prstGeom prst="rect">
            <a:avLst/>
          </a:prstGeom>
          <a:noFill/>
          <a:ln w="0">
            <a:noFill/>
          </a:ln>
        </p:spPr>
      </p:pic>
      <p:sp>
        <p:nvSpPr>
          <p:cNvPr id="378" name="Text 4"/>
          <p:cNvSpPr/>
          <p:nvPr/>
        </p:nvSpPr>
        <p:spPr>
          <a:xfrm>
            <a:off x="6263640" y="3639240"/>
            <a:ext cx="50288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Trang giới thiệu tính năng xác thực</a:t>
            </a:r>
            <a:endParaRPr b="0" lang="en-US" sz="750" strike="noStrike" u="none">
              <a:solidFill>
                <a:srgbClr val="000000"/>
              </a:solidFill>
              <a:effectLst/>
              <a:uFillTx/>
              <a:latin typeface="Arial"/>
            </a:endParaRPr>
          </a:p>
        </p:txBody>
      </p:sp>
      <p:pic>
        <p:nvPicPr>
          <p:cNvPr id="379" name="Image 3" descr="/mnt/data/docx_media/word/media/image26.png"/>
          <p:cNvPicPr/>
          <p:nvPr/>
        </p:nvPicPr>
        <p:blipFill>
          <a:blip r:embed="rId4"/>
          <a:stretch/>
        </p:blipFill>
        <p:spPr>
          <a:xfrm>
            <a:off x="4218120" y="4069080"/>
            <a:ext cx="3267360" cy="1554120"/>
          </a:xfrm>
          <a:prstGeom prst="rect">
            <a:avLst/>
          </a:prstGeom>
          <a:noFill/>
          <a:ln w="0">
            <a:noFill/>
          </a:ln>
        </p:spPr>
      </p:pic>
      <p:sp>
        <p:nvSpPr>
          <p:cNvPr id="380" name="Text 5"/>
          <p:cNvSpPr/>
          <p:nvPr/>
        </p:nvSpPr>
        <p:spPr>
          <a:xfrm>
            <a:off x="3154680" y="5696640"/>
            <a:ext cx="53946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Trang tư vấn/hỗ trợ</a:t>
            </a:r>
            <a:endParaRPr b="0" lang="en-US" sz="750" strike="noStrike" u="none">
              <a:solidFill>
                <a:srgbClr val="000000"/>
              </a:solidFill>
              <a:effectLst/>
              <a:uFillTx/>
              <a:latin typeface="Arial"/>
            </a:endParaRPr>
          </a:p>
        </p:txBody>
      </p:sp>
      <p:sp>
        <p:nvSpPr>
          <p:cNvPr id="381" name="Shape 6"/>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82" name="Text 7"/>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383" name="Text 8"/>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23</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84"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385"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3.3 Giao diện quản trị hệ thống</a:t>
            </a:r>
            <a:endParaRPr b="0" lang="en-US" sz="2000" strike="noStrike" u="none">
              <a:solidFill>
                <a:srgbClr val="000000"/>
              </a:solidFill>
              <a:effectLst/>
              <a:uFillTx/>
              <a:latin typeface="Arial"/>
            </a:endParaRPr>
          </a:p>
        </p:txBody>
      </p:sp>
      <p:sp>
        <p:nvSpPr>
          <p:cNvPr id="386"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Dashboard và quản lý dữ liệu nền</a:t>
            </a:r>
            <a:endParaRPr b="0" lang="en-US" sz="800" strike="noStrike" u="none">
              <a:solidFill>
                <a:srgbClr val="000000"/>
              </a:solidFill>
              <a:effectLst/>
              <a:uFillTx/>
              <a:latin typeface="Arial"/>
            </a:endParaRPr>
          </a:p>
        </p:txBody>
      </p:sp>
      <p:sp>
        <p:nvSpPr>
          <p:cNvPr id="387"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pic>
        <p:nvPicPr>
          <p:cNvPr id="388" name="Image 1" descr="/mnt/data/docx_media/word/media/image28.png"/>
          <p:cNvPicPr/>
          <p:nvPr/>
        </p:nvPicPr>
        <p:blipFill>
          <a:blip r:embed="rId2"/>
          <a:stretch/>
        </p:blipFill>
        <p:spPr>
          <a:xfrm>
            <a:off x="763200" y="1234440"/>
            <a:ext cx="4874400" cy="2331360"/>
          </a:xfrm>
          <a:prstGeom prst="rect">
            <a:avLst/>
          </a:prstGeom>
          <a:noFill/>
          <a:ln w="0">
            <a:noFill/>
          </a:ln>
        </p:spPr>
      </p:pic>
      <p:sp>
        <p:nvSpPr>
          <p:cNvPr id="389" name="Text 3"/>
          <p:cNvSpPr/>
          <p:nvPr/>
        </p:nvSpPr>
        <p:spPr>
          <a:xfrm>
            <a:off x="685800" y="3639240"/>
            <a:ext cx="50288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Dashboard thống kê dành cho quản lý</a:t>
            </a:r>
            <a:endParaRPr b="0" lang="en-US" sz="750" strike="noStrike" u="none">
              <a:solidFill>
                <a:srgbClr val="000000"/>
              </a:solidFill>
              <a:effectLst/>
              <a:uFillTx/>
              <a:latin typeface="Arial"/>
            </a:endParaRPr>
          </a:p>
        </p:txBody>
      </p:sp>
      <p:pic>
        <p:nvPicPr>
          <p:cNvPr id="390" name="Image 2" descr="/mnt/data/docx_media/word/media/image29.png"/>
          <p:cNvPicPr/>
          <p:nvPr/>
        </p:nvPicPr>
        <p:blipFill>
          <a:blip r:embed="rId3"/>
          <a:stretch/>
        </p:blipFill>
        <p:spPr>
          <a:xfrm>
            <a:off x="6315480" y="1234440"/>
            <a:ext cx="4925160" cy="2331360"/>
          </a:xfrm>
          <a:prstGeom prst="rect">
            <a:avLst/>
          </a:prstGeom>
          <a:noFill/>
          <a:ln w="0">
            <a:noFill/>
          </a:ln>
        </p:spPr>
      </p:pic>
      <p:sp>
        <p:nvSpPr>
          <p:cNvPr id="391" name="Text 4"/>
          <p:cNvSpPr/>
          <p:nvPr/>
        </p:nvSpPr>
        <p:spPr>
          <a:xfrm>
            <a:off x="6263640" y="3639240"/>
            <a:ext cx="502884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Quản lý sinh viên</a:t>
            </a:r>
            <a:endParaRPr b="0" lang="en-US" sz="750" strike="noStrike" u="none">
              <a:solidFill>
                <a:srgbClr val="000000"/>
              </a:solidFill>
              <a:effectLst/>
              <a:uFillTx/>
              <a:latin typeface="Arial"/>
            </a:endParaRPr>
          </a:p>
        </p:txBody>
      </p:sp>
      <p:pic>
        <p:nvPicPr>
          <p:cNvPr id="392" name="Image 3" descr="/mnt/data/docx_media/word/media/image30.png"/>
          <p:cNvPicPr/>
          <p:nvPr/>
        </p:nvPicPr>
        <p:blipFill>
          <a:blip r:embed="rId4"/>
          <a:stretch/>
        </p:blipFill>
        <p:spPr>
          <a:xfrm>
            <a:off x="4204440" y="4069080"/>
            <a:ext cx="3294720" cy="1554120"/>
          </a:xfrm>
          <a:prstGeom prst="rect">
            <a:avLst/>
          </a:prstGeom>
          <a:noFill/>
          <a:ln w="0">
            <a:noFill/>
          </a:ln>
        </p:spPr>
      </p:pic>
      <p:sp>
        <p:nvSpPr>
          <p:cNvPr id="393" name="Text 5"/>
          <p:cNvSpPr/>
          <p:nvPr/>
        </p:nvSpPr>
        <p:spPr>
          <a:xfrm>
            <a:off x="3154680" y="5696640"/>
            <a:ext cx="53946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Quản lý cơ sở đào tạo</a:t>
            </a:r>
            <a:endParaRPr b="0" lang="en-US" sz="750" strike="noStrike" u="none">
              <a:solidFill>
                <a:srgbClr val="000000"/>
              </a:solidFill>
              <a:effectLst/>
              <a:uFillTx/>
              <a:latin typeface="Arial"/>
            </a:endParaRPr>
          </a:p>
        </p:txBody>
      </p:sp>
      <p:sp>
        <p:nvSpPr>
          <p:cNvPr id="394" name="Shape 6"/>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395" name="Text 7"/>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396" name="Text 8"/>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24</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97"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398"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3.4 Quản lý văn bằng và giao dịch Blockchain</a:t>
            </a:r>
            <a:endParaRPr b="0" lang="en-US" sz="2000" strike="noStrike" u="none">
              <a:solidFill>
                <a:srgbClr val="000000"/>
              </a:solidFill>
              <a:effectLst/>
              <a:uFillTx/>
              <a:latin typeface="Arial"/>
            </a:endParaRPr>
          </a:p>
        </p:txBody>
      </p:sp>
      <p:sp>
        <p:nvSpPr>
          <p:cNvPr id="399"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Theo dõi trạng thái nghiệp vụ và on-chain</a:t>
            </a:r>
            <a:endParaRPr b="0" lang="en-US" sz="800" strike="noStrike" u="none">
              <a:solidFill>
                <a:srgbClr val="000000"/>
              </a:solidFill>
              <a:effectLst/>
              <a:uFillTx/>
              <a:latin typeface="Arial"/>
            </a:endParaRPr>
          </a:p>
        </p:txBody>
      </p:sp>
      <p:sp>
        <p:nvSpPr>
          <p:cNvPr id="400"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pic>
        <p:nvPicPr>
          <p:cNvPr id="401" name="Image 1" descr="/mnt/data/docx_media/word/media/image33.png"/>
          <p:cNvPicPr/>
          <p:nvPr/>
        </p:nvPicPr>
        <p:blipFill>
          <a:blip r:embed="rId2"/>
          <a:stretch/>
        </p:blipFill>
        <p:spPr>
          <a:xfrm>
            <a:off x="736200" y="1298520"/>
            <a:ext cx="4928040" cy="2331360"/>
          </a:xfrm>
          <a:prstGeom prst="rect">
            <a:avLst/>
          </a:prstGeom>
          <a:noFill/>
          <a:ln w="0">
            <a:noFill/>
          </a:ln>
        </p:spPr>
      </p:pic>
      <p:sp>
        <p:nvSpPr>
          <p:cNvPr id="402" name="Text 3"/>
          <p:cNvSpPr/>
          <p:nvPr/>
        </p:nvSpPr>
        <p:spPr>
          <a:xfrm>
            <a:off x="640080" y="3703320"/>
            <a:ext cx="512028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Danh sách văn bằng đã cấp</a:t>
            </a:r>
            <a:endParaRPr b="0" lang="en-US" sz="750" strike="noStrike" u="none">
              <a:solidFill>
                <a:srgbClr val="000000"/>
              </a:solidFill>
              <a:effectLst/>
              <a:uFillTx/>
              <a:latin typeface="Arial"/>
            </a:endParaRPr>
          </a:p>
        </p:txBody>
      </p:sp>
      <p:pic>
        <p:nvPicPr>
          <p:cNvPr id="403" name="Image 2" descr="/mnt/data/docx_media/word/media/image32.png"/>
          <p:cNvPicPr/>
          <p:nvPr/>
        </p:nvPicPr>
        <p:blipFill>
          <a:blip r:embed="rId3"/>
          <a:stretch/>
        </p:blipFill>
        <p:spPr>
          <a:xfrm>
            <a:off x="6658200" y="1298520"/>
            <a:ext cx="4285080" cy="2331360"/>
          </a:xfrm>
          <a:prstGeom prst="rect">
            <a:avLst/>
          </a:prstGeom>
          <a:noFill/>
          <a:ln w="0">
            <a:noFill/>
          </a:ln>
        </p:spPr>
      </p:pic>
      <p:sp>
        <p:nvSpPr>
          <p:cNvPr id="404" name="Text 4"/>
          <p:cNvSpPr/>
          <p:nvPr/>
        </p:nvSpPr>
        <p:spPr>
          <a:xfrm>
            <a:off x="6217920" y="3703320"/>
            <a:ext cx="51660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Chi tiết văn bằng, QR và thông tin giao dịch</a:t>
            </a:r>
            <a:endParaRPr b="0" lang="en-US" sz="750" strike="noStrike" u="none">
              <a:solidFill>
                <a:srgbClr val="000000"/>
              </a:solidFill>
              <a:effectLst/>
              <a:uFillTx/>
              <a:latin typeface="Arial"/>
            </a:endParaRPr>
          </a:p>
        </p:txBody>
      </p:sp>
      <p:pic>
        <p:nvPicPr>
          <p:cNvPr id="405" name="Image 3" descr="/mnt/data/docx_media/word/media/image34.png"/>
          <p:cNvPicPr/>
          <p:nvPr/>
        </p:nvPicPr>
        <p:blipFill>
          <a:blip r:embed="rId4"/>
          <a:stretch/>
        </p:blipFill>
        <p:spPr>
          <a:xfrm>
            <a:off x="4437360" y="4096440"/>
            <a:ext cx="3195000" cy="1508400"/>
          </a:xfrm>
          <a:prstGeom prst="rect">
            <a:avLst/>
          </a:prstGeom>
          <a:noFill/>
          <a:ln w="0">
            <a:noFill/>
          </a:ln>
        </p:spPr>
      </p:pic>
      <p:sp>
        <p:nvSpPr>
          <p:cNvPr id="406" name="Text 5"/>
          <p:cNvSpPr/>
          <p:nvPr/>
        </p:nvSpPr>
        <p:spPr>
          <a:xfrm>
            <a:off x="3337560" y="5678280"/>
            <a:ext cx="53946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Danh sách giao dịch Blockchain</a:t>
            </a:r>
            <a:endParaRPr b="0" lang="en-US" sz="750" strike="noStrike" u="none">
              <a:solidFill>
                <a:srgbClr val="000000"/>
              </a:solidFill>
              <a:effectLst/>
              <a:uFillTx/>
              <a:latin typeface="Arial"/>
            </a:endParaRPr>
          </a:p>
        </p:txBody>
      </p:sp>
      <p:sp>
        <p:nvSpPr>
          <p:cNvPr id="407" name="Shape 6"/>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08" name="Text 7"/>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409" name="Text 8"/>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25</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10"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411"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3.5 Chức năng xác minh văn bằng</a:t>
            </a:r>
            <a:endParaRPr b="0" lang="en-US" sz="2000" strike="noStrike" u="none">
              <a:solidFill>
                <a:srgbClr val="000000"/>
              </a:solidFill>
              <a:effectLst/>
              <a:uFillTx/>
              <a:latin typeface="Arial"/>
            </a:endParaRPr>
          </a:p>
        </p:txBody>
      </p:sp>
      <p:sp>
        <p:nvSpPr>
          <p:cNvPr id="412"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Từ tra cứu công khai đến ghi log xác minh</a:t>
            </a:r>
            <a:endParaRPr b="0" lang="en-US" sz="800" strike="noStrike" u="none">
              <a:solidFill>
                <a:srgbClr val="000000"/>
              </a:solidFill>
              <a:effectLst/>
              <a:uFillTx/>
              <a:latin typeface="Arial"/>
            </a:endParaRPr>
          </a:p>
        </p:txBody>
      </p:sp>
      <p:sp>
        <p:nvSpPr>
          <p:cNvPr id="413"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pic>
        <p:nvPicPr>
          <p:cNvPr id="414" name="Image 1" descr="/mnt/data/docx_media/word/media/image6.png"/>
          <p:cNvPicPr/>
          <p:nvPr/>
        </p:nvPicPr>
        <p:blipFill>
          <a:blip r:embed="rId2"/>
          <a:stretch/>
        </p:blipFill>
        <p:spPr>
          <a:xfrm>
            <a:off x="702360" y="1234440"/>
            <a:ext cx="5132880" cy="2880000"/>
          </a:xfrm>
          <a:prstGeom prst="rect">
            <a:avLst/>
          </a:prstGeom>
          <a:noFill/>
          <a:ln w="0">
            <a:noFill/>
          </a:ln>
        </p:spPr>
      </p:pic>
      <p:sp>
        <p:nvSpPr>
          <p:cNvPr id="415" name="Text 3"/>
          <p:cNvSpPr/>
          <p:nvPr/>
        </p:nvSpPr>
        <p:spPr>
          <a:xfrm>
            <a:off x="685800" y="4187880"/>
            <a:ext cx="51660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Trang tra cứu và xác thực văn bằng</a:t>
            </a:r>
            <a:endParaRPr b="0" lang="en-US" sz="750" strike="noStrike" u="none">
              <a:solidFill>
                <a:srgbClr val="000000"/>
              </a:solidFill>
              <a:effectLst/>
              <a:uFillTx/>
              <a:latin typeface="Arial"/>
            </a:endParaRPr>
          </a:p>
        </p:txBody>
      </p:sp>
      <p:pic>
        <p:nvPicPr>
          <p:cNvPr id="416" name="Image 2" descr="/mnt/data/docx_media/word/media/image8.png"/>
          <p:cNvPicPr/>
          <p:nvPr/>
        </p:nvPicPr>
        <p:blipFill>
          <a:blip r:embed="rId3"/>
          <a:stretch/>
        </p:blipFill>
        <p:spPr>
          <a:xfrm>
            <a:off x="6402240" y="1234440"/>
            <a:ext cx="4888800" cy="2880000"/>
          </a:xfrm>
          <a:prstGeom prst="rect">
            <a:avLst/>
          </a:prstGeom>
          <a:noFill/>
          <a:ln w="0">
            <a:noFill/>
          </a:ln>
        </p:spPr>
      </p:pic>
      <p:sp>
        <p:nvSpPr>
          <p:cNvPr id="417" name="Text 4"/>
          <p:cNvSpPr/>
          <p:nvPr/>
        </p:nvSpPr>
        <p:spPr>
          <a:xfrm>
            <a:off x="6263640" y="4187880"/>
            <a:ext cx="516600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Kết quả có sơ đồ tiến trình xác minh</a:t>
            </a:r>
            <a:endParaRPr b="0" lang="en-US" sz="750" strike="noStrike" u="none">
              <a:solidFill>
                <a:srgbClr val="000000"/>
              </a:solidFill>
              <a:effectLst/>
              <a:uFillTx/>
              <a:latin typeface="Arial"/>
            </a:endParaRPr>
          </a:p>
        </p:txBody>
      </p:sp>
      <p:sp>
        <p:nvSpPr>
          <p:cNvPr id="418" name="Text 5"/>
          <p:cNvSpPr/>
          <p:nvPr/>
        </p:nvSpPr>
        <p:spPr>
          <a:xfrm>
            <a:off x="1188720" y="4892040"/>
            <a:ext cx="9692280" cy="45684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400" strike="noStrike" u="none">
                <a:solidFill>
                  <a:srgbClr val="0b2d4d"/>
                </a:solidFill>
                <a:effectLst/>
                <a:uFillTx/>
                <a:latin typeface="Arial"/>
                <a:ea typeface="Arial"/>
              </a:rPr>
              <a:t>Kết quả xác minh được lưu vào verification_logs để phục vụ thống kê, theo dõi và truy vết.</a:t>
            </a:r>
            <a:endParaRPr b="0" lang="en-US" sz="1400" strike="noStrike" u="none">
              <a:solidFill>
                <a:srgbClr val="000000"/>
              </a:solidFill>
              <a:effectLst/>
              <a:uFillTx/>
              <a:latin typeface="Arial"/>
            </a:endParaRPr>
          </a:p>
        </p:txBody>
      </p:sp>
      <p:sp>
        <p:nvSpPr>
          <p:cNvPr id="419" name="Shape 6"/>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20" name="Text 7"/>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421" name="Text 8"/>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26</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422" name="Shape 0"/>
          <p:cNvSpPr/>
          <p:nvPr/>
        </p:nvSpPr>
        <p:spPr>
          <a:xfrm>
            <a:off x="9829800" y="502920"/>
            <a:ext cx="868320" cy="868320"/>
          </a:xfrm>
          <a:prstGeom prst="hexagon">
            <a:avLst>
              <a:gd name="adj" fmla="val 25000"/>
              <a:gd name="vf" fmla="val 115470"/>
            </a:avLst>
          </a:prstGeom>
          <a:solidFill>
            <a:srgbClr val="f6b76e">
              <a:alpha val="90000"/>
            </a:srgbClr>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23" name="Shape 1"/>
          <p:cNvSpPr/>
          <p:nvPr/>
        </p:nvSpPr>
        <p:spPr>
          <a:xfrm>
            <a:off x="10835640" y="320040"/>
            <a:ext cx="502560" cy="502560"/>
          </a:xfrm>
          <a:prstGeom prst="hexagon">
            <a:avLst>
              <a:gd name="adj" fmla="val 25000"/>
              <a:gd name="vf" fmla="val 115470"/>
            </a:avLst>
          </a:prstGeom>
          <a:solidFill>
            <a:srgbClr val="afc3d8"/>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24" name="Shape 2"/>
          <p:cNvSpPr/>
          <p:nvPr/>
        </p:nvSpPr>
        <p:spPr>
          <a:xfrm>
            <a:off x="9144000" y="1417320"/>
            <a:ext cx="383760" cy="383760"/>
          </a:xfrm>
          <a:prstGeom prst="hexagon">
            <a:avLst>
              <a:gd name="adj" fmla="val 25000"/>
              <a:gd name="vf" fmla="val 115470"/>
            </a:avLst>
          </a:prstGeom>
          <a:noFill/>
          <a:ln w="12700">
            <a:solidFill>
              <a:srgbClr val="afc3d8">
                <a:alpha val="8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25" name="Shape 3"/>
          <p:cNvSpPr/>
          <p:nvPr/>
        </p:nvSpPr>
        <p:spPr>
          <a:xfrm>
            <a:off x="10607040" y="1737360"/>
            <a:ext cx="319680" cy="319680"/>
          </a:xfrm>
          <a:prstGeom prst="hexagon">
            <a:avLst>
              <a:gd name="adj" fmla="val 25000"/>
              <a:gd name="vf" fmla="val 115470"/>
            </a:avLst>
          </a:prstGeom>
          <a:solidFill>
            <a:srgbClr val="ffe5c2"/>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26" name="Shape 4"/>
          <p:cNvSpPr/>
          <p:nvPr/>
        </p:nvSpPr>
        <p:spPr>
          <a:xfrm>
            <a:off x="457200" y="5120640"/>
            <a:ext cx="502560" cy="502560"/>
          </a:xfrm>
          <a:prstGeom prst="hexagon">
            <a:avLst>
              <a:gd name="adj" fmla="val 25000"/>
              <a:gd name="vf" fmla="val 115470"/>
            </a:avLst>
          </a:prstGeom>
          <a:noFill/>
          <a:ln w="12700">
            <a:solidFill>
              <a:srgbClr val="afc3d8">
                <a:alpha val="8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27" name="Shape 5"/>
          <p:cNvSpPr/>
          <p:nvPr/>
        </p:nvSpPr>
        <p:spPr>
          <a:xfrm>
            <a:off x="1051560" y="4617720"/>
            <a:ext cx="1234080" cy="1234080"/>
          </a:xfrm>
          <a:prstGeom prst="hexagon">
            <a:avLst>
              <a:gd name="adj" fmla="val 25000"/>
              <a:gd name="vf" fmla="val 115470"/>
            </a:avLst>
          </a:prstGeom>
          <a:solidFill>
            <a:srgbClr val="f6b76e">
              <a:alpha val="88000"/>
            </a:srgbClr>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28" name="Shape 6"/>
          <p:cNvSpPr/>
          <p:nvPr/>
        </p:nvSpPr>
        <p:spPr>
          <a:xfrm>
            <a:off x="2423160" y="4754880"/>
            <a:ext cx="621360" cy="621360"/>
          </a:xfrm>
          <a:prstGeom prst="hexagon">
            <a:avLst>
              <a:gd name="adj" fmla="val 25000"/>
              <a:gd name="vf" fmla="val 115470"/>
            </a:avLst>
          </a:prstGeom>
          <a:solidFill>
            <a:srgbClr val="afc3d8"/>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29" name="Text 7"/>
          <p:cNvSpPr/>
          <p:nvPr/>
        </p:nvSpPr>
        <p:spPr>
          <a:xfrm>
            <a:off x="5074920" y="2816280"/>
            <a:ext cx="5303160" cy="3837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100" strike="noStrike" u="none">
                <a:solidFill>
                  <a:srgbClr val="0b2d4d"/>
                </a:solidFill>
                <a:effectLst/>
                <a:uFillTx/>
                <a:latin typeface="Arial"/>
                <a:ea typeface="Arial"/>
              </a:rPr>
              <a:t>4. KẾT LUẬN VÀ PHÁT TRIỂN</a:t>
            </a:r>
            <a:endParaRPr b="0" lang="en-US" sz="2100" strike="noStrike" u="none">
              <a:solidFill>
                <a:srgbClr val="000000"/>
              </a:solidFill>
              <a:effectLst/>
              <a:uFillTx/>
              <a:latin typeface="Arial"/>
            </a:endParaRPr>
          </a:p>
        </p:txBody>
      </p:sp>
      <p:sp>
        <p:nvSpPr>
          <p:cNvPr id="430" name="Text 8"/>
          <p:cNvSpPr/>
          <p:nvPr/>
        </p:nvSpPr>
        <p:spPr>
          <a:xfrm>
            <a:off x="5120640" y="3246120"/>
            <a:ext cx="5028840" cy="1825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Kết quả đạt được, hạn chế và hướng nghiên cứu tiếp theo</a:t>
            </a:r>
            <a:endParaRPr b="0" lang="en-US" sz="800" strike="noStrike" u="none">
              <a:solidFill>
                <a:srgbClr val="000000"/>
              </a:solidFill>
              <a:effectLst/>
              <a:uFillTx/>
              <a:latin typeface="Arial"/>
            </a:endParaRPr>
          </a:p>
        </p:txBody>
      </p:sp>
      <p:sp>
        <p:nvSpPr>
          <p:cNvPr id="431" name="Shape 9"/>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32" name="Text 10"/>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433" name="Text 11"/>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27</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34"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435"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4.1 Kết quả đạt được</a:t>
            </a:r>
            <a:endParaRPr b="0" lang="en-US" sz="2000" strike="noStrike" u="none">
              <a:solidFill>
                <a:srgbClr val="000000"/>
              </a:solidFill>
              <a:effectLst/>
              <a:uFillTx/>
              <a:latin typeface="Arial"/>
            </a:endParaRPr>
          </a:p>
        </p:txBody>
      </p:sp>
      <p:sp>
        <p:nvSpPr>
          <p:cNvPr id="436"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Đáp ứng mục tiêu nghiên cứu và triển khai</a:t>
            </a:r>
            <a:endParaRPr b="0" lang="en-US" sz="800" strike="noStrike" u="none">
              <a:solidFill>
                <a:srgbClr val="000000"/>
              </a:solidFill>
              <a:effectLst/>
              <a:uFillTx/>
              <a:latin typeface="Arial"/>
            </a:endParaRPr>
          </a:p>
        </p:txBody>
      </p:sp>
      <p:sp>
        <p:nvSpPr>
          <p:cNvPr id="437"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38" name="Text 3"/>
          <p:cNvSpPr/>
          <p:nvPr/>
        </p:nvSpPr>
        <p:spPr>
          <a:xfrm>
            <a:off x="777240" y="1325880"/>
            <a:ext cx="5668920" cy="3154320"/>
          </a:xfrm>
          <a:prstGeom prst="rect">
            <a:avLst/>
          </a:prstGeom>
          <a:noFill/>
          <a:ln w="0">
            <a:noFill/>
          </a:ln>
        </p:spPr>
        <p:style>
          <a:lnRef idx="0"/>
          <a:fillRef idx="0"/>
          <a:effectRef idx="0"/>
          <a:fontRef idx="minor"/>
        </p:style>
        <p:txBody>
          <a:bodyPr lIns="720" rIns="720" tIns="720" bIns="720" anchor="t">
            <a:normAutofit/>
          </a:bodyPr>
          <a:p>
            <a:pPr defTabSz="914400">
              <a:lnSpc>
                <a:spcPct val="100000"/>
              </a:lnSpc>
            </a:pPr>
            <a:r>
              <a:rPr b="0" lang="en-US" sz="1420" strike="noStrike" u="none">
                <a:solidFill>
                  <a:srgbClr val="243447"/>
                </a:solidFill>
                <a:effectLst/>
                <a:uFillTx/>
                <a:latin typeface="Arial"/>
                <a:ea typeface="Arial"/>
              </a:rPr>
              <a:t>Hoàn thiện hệ thống quản lý dữ liệu sinh viên, cơ sở đào tạo, ngành, khóa, lớp và văn bằng.</a:t>
            </a:r>
            <a:endParaRPr b="0" lang="en-US" sz="1420" strike="noStrike" u="none">
              <a:solidFill>
                <a:srgbClr val="000000"/>
              </a:solidFill>
              <a:effectLst/>
              <a:uFillTx/>
              <a:latin typeface="Arial"/>
            </a:endParaRPr>
          </a:p>
          <a:p>
            <a:pPr defTabSz="914400">
              <a:lnSpc>
                <a:spcPct val="100000"/>
              </a:lnSpc>
            </a:pPr>
            <a:r>
              <a:rPr b="0" lang="en-US" sz="1420" strike="noStrike" u="none">
                <a:solidFill>
                  <a:srgbClr val="243447"/>
                </a:solidFill>
                <a:effectLst/>
                <a:uFillTx/>
                <a:latin typeface="Arial"/>
                <a:ea typeface="Arial"/>
              </a:rPr>
              <a:t>Tích hợp cơ chế sinh mã văn bằng tự động, tạo documentHash và ghi nhận giao dịch Blockchain.</a:t>
            </a:r>
            <a:endParaRPr b="0" lang="en-US" sz="1420" strike="noStrike" u="none">
              <a:solidFill>
                <a:srgbClr val="000000"/>
              </a:solidFill>
              <a:effectLst/>
              <a:uFillTx/>
              <a:latin typeface="Arial"/>
            </a:endParaRPr>
          </a:p>
          <a:p>
            <a:pPr defTabSz="914400">
              <a:lnSpc>
                <a:spcPct val="100000"/>
              </a:lnSpc>
            </a:pPr>
            <a:r>
              <a:rPr b="0" lang="en-US" sz="1420" strike="noStrike" u="none">
                <a:solidFill>
                  <a:srgbClr val="243447"/>
                </a:solidFill>
                <a:effectLst/>
                <a:uFillTx/>
                <a:latin typeface="Arial"/>
                <a:ea typeface="Arial"/>
              </a:rPr>
              <a:t>Hỗ trợ xác minh bằng mã văn bằng hoặc QR Code, thu hồi văn bằng và retry khi giao dịch Blockchain thất bại.</a:t>
            </a:r>
            <a:endParaRPr b="0" lang="en-US" sz="1420" strike="noStrike" u="none">
              <a:solidFill>
                <a:srgbClr val="000000"/>
              </a:solidFill>
              <a:effectLst/>
              <a:uFillTx/>
              <a:latin typeface="Arial"/>
            </a:endParaRPr>
          </a:p>
          <a:p>
            <a:pPr defTabSz="914400">
              <a:lnSpc>
                <a:spcPct val="100000"/>
              </a:lnSpc>
            </a:pPr>
            <a:r>
              <a:rPr b="0" lang="en-US" sz="1420" strike="noStrike" u="none">
                <a:solidFill>
                  <a:srgbClr val="243447"/>
                </a:solidFill>
                <a:effectLst/>
                <a:uFillTx/>
                <a:latin typeface="Arial"/>
                <a:ea typeface="Arial"/>
              </a:rPr>
              <a:t>Phân quyền rõ ràng giữa quản trị viên, sinh viên và người dùng công khai.</a:t>
            </a:r>
            <a:endParaRPr b="0" lang="en-US" sz="1420" strike="noStrike" u="none">
              <a:solidFill>
                <a:srgbClr val="000000"/>
              </a:solidFill>
              <a:effectLst/>
              <a:uFillTx/>
              <a:latin typeface="Arial"/>
            </a:endParaRPr>
          </a:p>
        </p:txBody>
      </p:sp>
      <p:pic>
        <p:nvPicPr>
          <p:cNvPr id="439" name="Image 1" descr="/mnt/data/docx_media/word/media/image5.png"/>
          <p:cNvPicPr/>
          <p:nvPr/>
        </p:nvPicPr>
        <p:blipFill>
          <a:blip r:embed="rId2"/>
          <a:stretch/>
        </p:blipFill>
        <p:spPr>
          <a:xfrm>
            <a:off x="6903720" y="1592640"/>
            <a:ext cx="4068720" cy="2712240"/>
          </a:xfrm>
          <a:prstGeom prst="rect">
            <a:avLst/>
          </a:prstGeom>
          <a:noFill/>
          <a:ln w="0">
            <a:noFill/>
          </a:ln>
        </p:spPr>
      </p:pic>
      <p:sp>
        <p:nvSpPr>
          <p:cNvPr id="440" name="Text 4"/>
          <p:cNvSpPr/>
          <p:nvPr/>
        </p:nvSpPr>
        <p:spPr>
          <a:xfrm>
            <a:off x="6903720" y="4736520"/>
            <a:ext cx="4068720" cy="2008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i="1" lang="en-US" sz="750" strike="noStrike" u="none">
                <a:solidFill>
                  <a:srgbClr val="5f6b7a"/>
                </a:solidFill>
                <a:effectLst/>
                <a:uFillTx/>
                <a:latin typeface="Arial"/>
                <a:ea typeface="Arial"/>
              </a:rPr>
              <a:t>Hình 3.4: Mô hình use case</a:t>
            </a:r>
            <a:endParaRPr b="0" lang="en-US" sz="750" strike="noStrike" u="none">
              <a:solidFill>
                <a:srgbClr val="000000"/>
              </a:solidFill>
              <a:effectLst/>
              <a:uFillTx/>
              <a:latin typeface="Arial"/>
            </a:endParaRPr>
          </a:p>
        </p:txBody>
      </p:sp>
      <p:sp>
        <p:nvSpPr>
          <p:cNvPr id="441" name="Shape 5"/>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42" name="Text 6"/>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443" name="Text 7"/>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28</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444" name="Image 0" descr="/mnt/data/docx_media/word/media/image1.png"/>
          <p:cNvPicPr/>
          <p:nvPr/>
        </p:nvPicPr>
        <p:blipFill>
          <a:blip r:embed="rId1"/>
          <a:stretch/>
        </p:blipFill>
        <p:spPr>
          <a:xfrm>
            <a:off x="347400" y="228600"/>
            <a:ext cx="383760" cy="383760"/>
          </a:xfrm>
          <a:prstGeom prst="rect">
            <a:avLst/>
          </a:prstGeom>
          <a:noFill/>
          <a:ln w="0">
            <a:noFill/>
          </a:ln>
        </p:spPr>
      </p:pic>
      <p:sp>
        <p:nvSpPr>
          <p:cNvPr id="445" name="Text 0"/>
          <p:cNvSpPr/>
          <p:nvPr/>
        </p:nvSpPr>
        <p:spPr>
          <a:xfrm>
            <a:off x="960120" y="411480"/>
            <a:ext cx="7726320" cy="41112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2000" strike="noStrike" u="none">
                <a:solidFill>
                  <a:srgbClr val="0b2d4d"/>
                </a:solidFill>
                <a:effectLst/>
                <a:uFillTx/>
                <a:latin typeface="Arial"/>
                <a:ea typeface="Arial"/>
              </a:rPr>
              <a:t>4.2 Hạn chế và hướng phát triển</a:t>
            </a:r>
            <a:endParaRPr b="0" lang="en-US" sz="2000" strike="noStrike" u="none">
              <a:solidFill>
                <a:srgbClr val="000000"/>
              </a:solidFill>
              <a:effectLst/>
              <a:uFillTx/>
              <a:latin typeface="Arial"/>
            </a:endParaRPr>
          </a:p>
        </p:txBody>
      </p:sp>
      <p:sp>
        <p:nvSpPr>
          <p:cNvPr id="446" name="Text 1"/>
          <p:cNvSpPr/>
          <p:nvPr/>
        </p:nvSpPr>
        <p:spPr>
          <a:xfrm>
            <a:off x="960120" y="822960"/>
            <a:ext cx="7497720" cy="2282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800" strike="noStrike" u="none">
                <a:solidFill>
                  <a:srgbClr val="f6b76e"/>
                </a:solidFill>
                <a:effectLst/>
                <a:uFillTx/>
                <a:latin typeface="Arial"/>
                <a:ea typeface="Arial"/>
              </a:rPr>
              <a:t>Định hướng hoàn thiện trong môi trường thực tế</a:t>
            </a:r>
            <a:endParaRPr b="0" lang="en-US" sz="800" strike="noStrike" u="none">
              <a:solidFill>
                <a:srgbClr val="000000"/>
              </a:solidFill>
              <a:effectLst/>
              <a:uFillTx/>
              <a:latin typeface="Arial"/>
            </a:endParaRPr>
          </a:p>
        </p:txBody>
      </p:sp>
      <p:sp>
        <p:nvSpPr>
          <p:cNvPr id="447" name="Shape 2"/>
          <p:cNvSpPr/>
          <p:nvPr/>
        </p:nvSpPr>
        <p:spPr>
          <a:xfrm>
            <a:off x="960120" y="1033200"/>
            <a:ext cx="3657600" cy="360"/>
          </a:xfrm>
          <a:prstGeom prst="line">
            <a:avLst/>
          </a:prstGeom>
          <a:ln w="25400">
            <a:solidFill>
              <a:srgbClr val="f6b76e"/>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48" name="Text 3"/>
          <p:cNvSpPr/>
          <p:nvPr/>
        </p:nvSpPr>
        <p:spPr>
          <a:xfrm>
            <a:off x="777240" y="1325880"/>
            <a:ext cx="18284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0b2d4d"/>
                </a:solidFill>
                <a:effectLst/>
                <a:uFillTx/>
                <a:latin typeface="Arial"/>
                <a:ea typeface="Arial"/>
              </a:rPr>
              <a:t>Hạn chế</a:t>
            </a:r>
            <a:endParaRPr b="0" lang="en-US" sz="1600" strike="noStrike" u="none">
              <a:solidFill>
                <a:srgbClr val="000000"/>
              </a:solidFill>
              <a:effectLst/>
              <a:uFillTx/>
              <a:latin typeface="Arial"/>
            </a:endParaRPr>
          </a:p>
        </p:txBody>
      </p:sp>
      <p:sp>
        <p:nvSpPr>
          <p:cNvPr id="449" name="Text 4"/>
          <p:cNvSpPr/>
          <p:nvPr/>
        </p:nvSpPr>
        <p:spPr>
          <a:xfrm>
            <a:off x="822960" y="1737360"/>
            <a:ext cx="4663080" cy="2651400"/>
          </a:xfrm>
          <a:prstGeom prst="rect">
            <a:avLst/>
          </a:prstGeom>
          <a:noFill/>
          <a:ln w="0">
            <a:noFill/>
          </a:ln>
        </p:spPr>
        <p:style>
          <a:lnRef idx="0"/>
          <a:fillRef idx="0"/>
          <a:effectRef idx="0"/>
          <a:fontRef idx="minor"/>
        </p:style>
        <p:txBody>
          <a:bodyPr lIns="720" rIns="720" tIns="720" bIns="720" anchor="t">
            <a:normAutofit/>
          </a:bodyPr>
          <a:p>
            <a:pPr defTabSz="914400">
              <a:lnSpc>
                <a:spcPct val="100000"/>
              </a:lnSpc>
            </a:pPr>
            <a:r>
              <a:rPr b="0" lang="en-US" sz="1280" strike="noStrike" u="none">
                <a:solidFill>
                  <a:srgbClr val="243447"/>
                </a:solidFill>
                <a:effectLst/>
                <a:uFillTx/>
                <a:latin typeface="Arial"/>
                <a:ea typeface="Arial"/>
              </a:rPr>
              <a:t>Mới kiểm thử chủ yếu trong môi trường cục bộ.</a:t>
            </a:r>
            <a:endParaRPr b="0" lang="en-US" sz="1280" strike="noStrike" u="none">
              <a:solidFill>
                <a:srgbClr val="000000"/>
              </a:solidFill>
              <a:effectLst/>
              <a:uFillTx/>
              <a:latin typeface="Arial"/>
            </a:endParaRPr>
          </a:p>
          <a:p>
            <a:pPr defTabSz="914400">
              <a:lnSpc>
                <a:spcPct val="100000"/>
              </a:lnSpc>
            </a:pPr>
            <a:r>
              <a:rPr b="0" lang="en-US" sz="1280" strike="noStrike" u="none">
                <a:solidFill>
                  <a:srgbClr val="243447"/>
                </a:solidFill>
                <a:effectLst/>
                <a:uFillTx/>
                <a:latin typeface="Arial"/>
                <a:ea typeface="Arial"/>
              </a:rPr>
              <a:t>Blockchain chỉ kiểm tra tính toàn vẹn qua hash, chưa tự bảo vệ dữ liệu ngoài chuỗi.</a:t>
            </a:r>
            <a:endParaRPr b="0" lang="en-US" sz="1280" strike="noStrike" u="none">
              <a:solidFill>
                <a:srgbClr val="000000"/>
              </a:solidFill>
              <a:effectLst/>
              <a:uFillTx/>
              <a:latin typeface="Arial"/>
            </a:endParaRPr>
          </a:p>
          <a:p>
            <a:pPr defTabSz="914400">
              <a:lnSpc>
                <a:spcPct val="100000"/>
              </a:lnSpc>
            </a:pPr>
            <a:r>
              <a:rPr b="0" lang="en-US" sz="1280" strike="noStrike" u="none">
                <a:solidFill>
                  <a:srgbClr val="243447"/>
                </a:solidFill>
                <a:effectLst/>
                <a:uFillTx/>
                <a:latin typeface="Arial"/>
                <a:ea typeface="Arial"/>
              </a:rPr>
              <a:t>Chưa hash trực tiếp file văn bằng điện tử.</a:t>
            </a:r>
            <a:endParaRPr b="0" lang="en-US" sz="1280" strike="noStrike" u="none">
              <a:solidFill>
                <a:srgbClr val="000000"/>
              </a:solidFill>
              <a:effectLst/>
              <a:uFillTx/>
              <a:latin typeface="Arial"/>
            </a:endParaRPr>
          </a:p>
          <a:p>
            <a:pPr defTabSz="914400">
              <a:lnSpc>
                <a:spcPct val="100000"/>
              </a:lnSpc>
            </a:pPr>
            <a:r>
              <a:rPr b="0" lang="en-US" sz="1280" strike="noStrike" u="none">
                <a:solidFill>
                  <a:srgbClr val="243447"/>
                </a:solidFill>
                <a:effectLst/>
                <a:uFillTx/>
                <a:latin typeface="Arial"/>
                <a:ea typeface="Arial"/>
              </a:rPr>
              <a:t>Cần tăng cường bảo mật production và quản lý khóa.</a:t>
            </a:r>
            <a:endParaRPr b="0" lang="en-US" sz="1280" strike="noStrike" u="none">
              <a:solidFill>
                <a:srgbClr val="000000"/>
              </a:solidFill>
              <a:effectLst/>
              <a:uFillTx/>
              <a:latin typeface="Arial"/>
            </a:endParaRPr>
          </a:p>
        </p:txBody>
      </p:sp>
      <p:sp>
        <p:nvSpPr>
          <p:cNvPr id="450" name="Text 5"/>
          <p:cNvSpPr/>
          <p:nvPr/>
        </p:nvSpPr>
        <p:spPr>
          <a:xfrm>
            <a:off x="6263640" y="1325880"/>
            <a:ext cx="2285640" cy="27396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600" strike="noStrike" u="none">
                <a:solidFill>
                  <a:srgbClr val="0b2d4d"/>
                </a:solidFill>
                <a:effectLst/>
                <a:uFillTx/>
                <a:latin typeface="Arial"/>
                <a:ea typeface="Arial"/>
              </a:rPr>
              <a:t>Hướng phát triển</a:t>
            </a:r>
            <a:endParaRPr b="0" lang="en-US" sz="1600" strike="noStrike" u="none">
              <a:solidFill>
                <a:srgbClr val="000000"/>
              </a:solidFill>
              <a:effectLst/>
              <a:uFillTx/>
              <a:latin typeface="Arial"/>
            </a:endParaRPr>
          </a:p>
        </p:txBody>
      </p:sp>
      <p:sp>
        <p:nvSpPr>
          <p:cNvPr id="451" name="Text 6"/>
          <p:cNvSpPr/>
          <p:nvPr/>
        </p:nvSpPr>
        <p:spPr>
          <a:xfrm>
            <a:off x="6309360" y="1737360"/>
            <a:ext cx="4754520" cy="3108600"/>
          </a:xfrm>
          <a:prstGeom prst="rect">
            <a:avLst/>
          </a:prstGeom>
          <a:noFill/>
          <a:ln w="0">
            <a:noFill/>
          </a:ln>
        </p:spPr>
        <p:style>
          <a:lnRef idx="0"/>
          <a:fillRef idx="0"/>
          <a:effectRef idx="0"/>
          <a:fontRef idx="minor"/>
        </p:style>
        <p:txBody>
          <a:bodyPr lIns="720" rIns="720" tIns="720" bIns="720" anchor="t">
            <a:normAutofit/>
          </a:bodyPr>
          <a:p>
            <a:pPr defTabSz="914400">
              <a:lnSpc>
                <a:spcPct val="100000"/>
              </a:lnSpc>
            </a:pPr>
            <a:r>
              <a:rPr b="0" lang="en-US" sz="1280" strike="noStrike" u="none">
                <a:solidFill>
                  <a:srgbClr val="243447"/>
                </a:solidFill>
                <a:effectLst/>
                <a:uFillTx/>
                <a:latin typeface="Arial"/>
                <a:ea typeface="Arial"/>
              </a:rPr>
              <a:t>Version hóa cơ chế hash để giữ khả năng xác minh khi cấu trúc dữ liệu thay đổi.</a:t>
            </a:r>
            <a:endParaRPr b="0" lang="en-US" sz="1280" strike="noStrike" u="none">
              <a:solidFill>
                <a:srgbClr val="000000"/>
              </a:solidFill>
              <a:effectLst/>
              <a:uFillTx/>
              <a:latin typeface="Arial"/>
            </a:endParaRPr>
          </a:p>
          <a:p>
            <a:pPr defTabSz="914400">
              <a:lnSpc>
                <a:spcPct val="100000"/>
              </a:lnSpc>
            </a:pPr>
            <a:r>
              <a:rPr b="0" lang="en-US" sz="1280" strike="noStrike" u="none">
                <a:solidFill>
                  <a:srgbClr val="243447"/>
                </a:solidFill>
                <a:effectLst/>
                <a:uFillTx/>
                <a:latin typeface="Arial"/>
                <a:ea typeface="Arial"/>
              </a:rPr>
              <a:t>Lưu file văn bằng trên object storage và hash trực tiếp file; nghiên cứu Merkle Proof.</a:t>
            </a:r>
            <a:endParaRPr b="0" lang="en-US" sz="1280" strike="noStrike" u="none">
              <a:solidFill>
                <a:srgbClr val="000000"/>
              </a:solidFill>
              <a:effectLst/>
              <a:uFillTx/>
              <a:latin typeface="Arial"/>
            </a:endParaRPr>
          </a:p>
          <a:p>
            <a:pPr defTabSz="914400">
              <a:lnSpc>
                <a:spcPct val="100000"/>
              </a:lnSpc>
            </a:pPr>
            <a:r>
              <a:rPr b="0" lang="en-US" sz="1280" strike="noStrike" u="none">
                <a:solidFill>
                  <a:srgbClr val="243447"/>
                </a:solidFill>
                <a:effectLst/>
                <a:uFillTx/>
                <a:latin typeface="Arial"/>
                <a:ea typeface="Arial"/>
              </a:rPr>
              <a:t>Tách xử lý Blockchain bằng queue/worker, retry có kiểm soát và giám sát giao dịch.</a:t>
            </a:r>
            <a:endParaRPr b="0" lang="en-US" sz="1280" strike="noStrike" u="none">
              <a:solidFill>
                <a:srgbClr val="000000"/>
              </a:solidFill>
              <a:effectLst/>
              <a:uFillTx/>
              <a:latin typeface="Arial"/>
            </a:endParaRPr>
          </a:p>
          <a:p>
            <a:pPr defTabSz="914400">
              <a:lnSpc>
                <a:spcPct val="100000"/>
              </a:lnSpc>
            </a:pPr>
            <a:r>
              <a:rPr b="0" lang="en-US" sz="1280" strike="noStrike" u="none">
                <a:solidFill>
                  <a:srgbClr val="243447"/>
                </a:solidFill>
                <a:effectLst/>
                <a:uFillTx/>
                <a:latin typeface="Arial"/>
                <a:ea typeface="Arial"/>
              </a:rPr>
              <a:t>Mở rộng đa cơ sở đào tạo với quyền issuer riêng và quản trị khóa chặt chẽ.</a:t>
            </a:r>
            <a:endParaRPr b="0" lang="en-US" sz="1280" strike="noStrike" u="none">
              <a:solidFill>
                <a:srgbClr val="000000"/>
              </a:solidFill>
              <a:effectLst/>
              <a:uFillTx/>
              <a:latin typeface="Arial"/>
            </a:endParaRPr>
          </a:p>
        </p:txBody>
      </p:sp>
      <p:sp>
        <p:nvSpPr>
          <p:cNvPr id="452" name="Shape 7"/>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53" name="Text 8"/>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XÂY DỰNG HỆ THỐNG QUẢN LÝ VÀ XÁC THỰC VĂN BẰNG, CHỨNG CHỈ SỐ DỰA TRÊN NỀN TẢNG BLOCKCHAIN</a:t>
            </a:r>
            <a:endParaRPr b="0" lang="en-US" sz="419" strike="noStrike" u="none">
              <a:solidFill>
                <a:srgbClr val="000000"/>
              </a:solidFill>
              <a:effectLst/>
              <a:uFillTx/>
              <a:latin typeface="Arial"/>
            </a:endParaRPr>
          </a:p>
        </p:txBody>
      </p:sp>
      <p:sp>
        <p:nvSpPr>
          <p:cNvPr id="454" name="Text 9"/>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29</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bfaf8"/>
        </a:solidFill>
      </p:bgPr>
    </p:bg>
    <p:spTree>
      <p:nvGrpSpPr>
        <p:cNvPr id="1" name=""/>
        <p:cNvGrpSpPr/>
        <p:nvPr/>
      </p:nvGrpSpPr>
      <p:grpSpPr>
        <a:xfrm>
          <a:off x="0" y="0"/>
          <a:ext cx="0" cy="0"/>
          <a:chOff x="0" y="0"/>
          <a:chExt cx="0" cy="0"/>
        </a:xfrm>
      </p:grpSpPr>
      <p:sp>
        <p:nvSpPr>
          <p:cNvPr id="455" name="Shape 0"/>
          <p:cNvSpPr/>
          <p:nvPr/>
        </p:nvSpPr>
        <p:spPr>
          <a:xfrm>
            <a:off x="731520" y="457200"/>
            <a:ext cx="502560" cy="502560"/>
          </a:xfrm>
          <a:prstGeom prst="hexagon">
            <a:avLst>
              <a:gd name="adj" fmla="val 25000"/>
              <a:gd name="vf" fmla="val 115470"/>
            </a:avLst>
          </a:prstGeom>
          <a:noFill/>
          <a:ln w="12700">
            <a:solidFill>
              <a:srgbClr val="afc3d8">
                <a:alpha val="8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6" name="Shape 1"/>
          <p:cNvSpPr/>
          <p:nvPr/>
        </p:nvSpPr>
        <p:spPr>
          <a:xfrm>
            <a:off x="1417320" y="777240"/>
            <a:ext cx="731160" cy="731160"/>
          </a:xfrm>
          <a:prstGeom prst="hexagon">
            <a:avLst>
              <a:gd name="adj" fmla="val 25000"/>
              <a:gd name="vf" fmla="val 115470"/>
            </a:avLst>
          </a:prstGeom>
          <a:solidFill>
            <a:srgbClr val="afc3d8">
              <a:alpha val="85000"/>
            </a:srgbClr>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7" name="Shape 2"/>
          <p:cNvSpPr/>
          <p:nvPr/>
        </p:nvSpPr>
        <p:spPr>
          <a:xfrm>
            <a:off x="2331720" y="502920"/>
            <a:ext cx="822600" cy="822600"/>
          </a:xfrm>
          <a:prstGeom prst="hexagon">
            <a:avLst>
              <a:gd name="adj" fmla="val 25000"/>
              <a:gd name="vf" fmla="val 115470"/>
            </a:avLst>
          </a:prstGeom>
          <a:solidFill>
            <a:srgbClr val="f6b76e"/>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8" name="Shape 3"/>
          <p:cNvSpPr/>
          <p:nvPr/>
        </p:nvSpPr>
        <p:spPr>
          <a:xfrm>
            <a:off x="3291840" y="914400"/>
            <a:ext cx="456840" cy="456840"/>
          </a:xfrm>
          <a:prstGeom prst="hexagon">
            <a:avLst>
              <a:gd name="adj" fmla="val 25000"/>
              <a:gd name="vf" fmla="val 115470"/>
            </a:avLst>
          </a:prstGeom>
          <a:noFill/>
          <a:ln w="12700">
            <a:solidFill>
              <a:srgbClr val="afc3d8">
                <a:alpha val="8000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59" name="Shape 4"/>
          <p:cNvSpPr/>
          <p:nvPr/>
        </p:nvSpPr>
        <p:spPr>
          <a:xfrm>
            <a:off x="1051560" y="4937760"/>
            <a:ext cx="1005480" cy="1005480"/>
          </a:xfrm>
          <a:prstGeom prst="hexagon">
            <a:avLst>
              <a:gd name="adj" fmla="val 25000"/>
              <a:gd name="vf" fmla="val 115470"/>
            </a:avLst>
          </a:prstGeom>
          <a:solidFill>
            <a:srgbClr val="ffe5c2"/>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sp>
        <p:nvSpPr>
          <p:cNvPr id="460" name="Shape 5"/>
          <p:cNvSpPr/>
          <p:nvPr/>
        </p:nvSpPr>
        <p:spPr>
          <a:xfrm>
            <a:off x="2468880" y="5120640"/>
            <a:ext cx="639720" cy="639720"/>
          </a:xfrm>
          <a:prstGeom prst="hexagon">
            <a:avLst>
              <a:gd name="adj" fmla="val 25000"/>
              <a:gd name="vf" fmla="val 115470"/>
            </a:avLst>
          </a:prstGeom>
          <a:solidFill>
            <a:srgbClr val="afc3d8"/>
          </a:solidFill>
          <a:ln w="12700">
            <a:solidFill>
              <a:srgbClr val="ffffff">
                <a:alpha val="0"/>
              </a:srgbClr>
            </a:solidFill>
            <a:round/>
          </a:ln>
        </p:spPr>
        <p:style>
          <a:lnRef idx="0"/>
          <a:fillRef idx="0"/>
          <a:effectRef idx="0"/>
          <a:fontRef idx="minor"/>
        </p:style>
        <p:txBody>
          <a:bodyPr lIns="90000" rIns="90000" tIns="45000" bIns="45000" anchor="t">
            <a:noAutofit/>
          </a:bodyPr>
          <a:p>
            <a:endParaRPr b="0" lang="en-US" sz="1800" strike="noStrike" u="none">
              <a:solidFill>
                <a:srgbClr val="000000"/>
              </a:solidFill>
              <a:effectLst/>
              <a:uFillTx/>
              <a:latin typeface="Arial"/>
            </a:endParaRPr>
          </a:p>
        </p:txBody>
      </p:sp>
      <p:pic>
        <p:nvPicPr>
          <p:cNvPr id="461" name="Image 0" descr="/mnt/data/docx_media/word/media/image1.png"/>
          <p:cNvPicPr/>
          <p:nvPr/>
        </p:nvPicPr>
        <p:blipFill>
          <a:blip r:embed="rId1"/>
          <a:stretch/>
        </p:blipFill>
        <p:spPr>
          <a:xfrm>
            <a:off x="5349240" y="1005840"/>
            <a:ext cx="1462680" cy="1462680"/>
          </a:xfrm>
          <a:prstGeom prst="rect">
            <a:avLst/>
          </a:prstGeom>
          <a:noFill/>
          <a:ln w="0">
            <a:noFill/>
          </a:ln>
        </p:spPr>
      </p:pic>
      <p:sp>
        <p:nvSpPr>
          <p:cNvPr id="462" name="Text 6"/>
          <p:cNvSpPr/>
          <p:nvPr/>
        </p:nvSpPr>
        <p:spPr>
          <a:xfrm>
            <a:off x="3977640" y="2907720"/>
            <a:ext cx="4205880" cy="5940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3400" strike="noStrike" u="none">
                <a:solidFill>
                  <a:srgbClr val="0b2d4d"/>
                </a:solidFill>
                <a:effectLst/>
                <a:uFillTx/>
                <a:latin typeface="Arial"/>
                <a:ea typeface="Arial"/>
              </a:rPr>
              <a:t>Cảm ơn</a:t>
            </a:r>
            <a:endParaRPr b="0" lang="en-US" sz="3400" strike="noStrike" u="none">
              <a:solidFill>
                <a:srgbClr val="000000"/>
              </a:solidFill>
              <a:effectLst/>
              <a:uFillTx/>
              <a:latin typeface="Arial"/>
            </a:endParaRPr>
          </a:p>
        </p:txBody>
      </p:sp>
      <p:sp>
        <p:nvSpPr>
          <p:cNvPr id="463" name="Text 7"/>
          <p:cNvSpPr/>
          <p:nvPr/>
        </p:nvSpPr>
        <p:spPr>
          <a:xfrm>
            <a:off x="2926080" y="3657600"/>
            <a:ext cx="6309000" cy="31068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1300" strike="noStrike" u="none">
                <a:solidFill>
                  <a:srgbClr val="243447"/>
                </a:solidFill>
                <a:effectLst/>
                <a:uFillTx/>
                <a:latin typeface="Arial"/>
                <a:ea typeface="Arial"/>
              </a:rPr>
              <a:t>Kính mong quý thầy cô góp ý để đề tài được hoàn thiện hơn</a:t>
            </a:r>
            <a:endParaRPr b="0" lang="en-US" sz="1300" strike="noStrike" u="none">
              <a:solidFill>
                <a:srgbClr val="000000"/>
              </a:solidFill>
              <a:effectLst/>
              <a:uFillTx/>
              <a:latin typeface="Arial"/>
            </a:endParaRPr>
          </a:p>
        </p:txBody>
      </p:sp>
      <p:sp>
        <p:nvSpPr>
          <p:cNvPr id="464" name="Shape 8"/>
          <p:cNvSpPr/>
          <p:nvPr/>
        </p:nvSpPr>
        <p:spPr>
          <a:xfrm>
            <a:off x="320040" y="6519600"/>
            <a:ext cx="8001000" cy="360"/>
          </a:xfrm>
          <a:prstGeom prst="line">
            <a:avLst/>
          </a:prstGeom>
          <a:ln w="6350">
            <a:solidFill>
              <a:srgbClr val="d8dee6">
                <a:alpha val="60000"/>
              </a:srgbClr>
            </a:solidFill>
            <a:round/>
          </a:ln>
        </p:spPr>
        <p:style>
          <a:lnRef idx="0"/>
          <a:fillRef idx="0"/>
          <a:effectRef idx="0"/>
          <a:fontRef idx="minor"/>
        </p:style>
        <p:txBody>
          <a:bodyPr lIns="90000" rIns="90000" tIns="-44640" bIns="-44640" anchor="t" anchorCtr="1">
            <a:noAutofit/>
          </a:bodyPr>
          <a:p>
            <a:endParaRPr b="0" lang="en-US" sz="1800" strike="noStrike" u="none">
              <a:solidFill>
                <a:srgbClr val="000000"/>
              </a:solidFill>
              <a:effectLst/>
              <a:uFillTx/>
              <a:latin typeface="Arial"/>
            </a:endParaRPr>
          </a:p>
        </p:txBody>
      </p:sp>
      <p:sp>
        <p:nvSpPr>
          <p:cNvPr id="465" name="Text 9"/>
          <p:cNvSpPr/>
          <p:nvPr/>
        </p:nvSpPr>
        <p:spPr>
          <a:xfrm>
            <a:off x="338400" y="6546960"/>
            <a:ext cx="7223400" cy="13680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419" strike="noStrike" u="none">
                <a:solidFill>
                  <a:srgbClr val="1f2937"/>
                </a:solidFill>
                <a:effectLst/>
                <a:uFillTx/>
                <a:latin typeface="Arial"/>
                <a:ea typeface="Arial"/>
              </a:rPr>
              <a:t>KHÓA LUẬN TỐT NGHIỆP - XÁC THỰC VĂN BẰNG SỐ DỰA TRÊN BLOCKCHAIN</a:t>
            </a:r>
            <a:endParaRPr b="0" lang="en-US" sz="419" strike="noStrike" u="none">
              <a:solidFill>
                <a:srgbClr val="000000"/>
              </a:solidFill>
              <a:effectLst/>
              <a:uFillTx/>
              <a:latin typeface="Arial"/>
            </a:endParaRPr>
          </a:p>
        </p:txBody>
      </p:sp>
      <p:sp>
        <p:nvSpPr>
          <p:cNvPr id="466" name="Text 10"/>
          <p:cNvSpPr/>
          <p:nvPr/>
        </p:nvSpPr>
        <p:spPr>
          <a:xfrm>
            <a:off x="11384280" y="6437520"/>
            <a:ext cx="319680" cy="182520"/>
          </a:xfrm>
          <a:prstGeom prst="rect">
            <a:avLst/>
          </a:prstGeom>
          <a:noFill/>
          <a:ln w="0">
            <a:noFill/>
          </a:ln>
        </p:spPr>
        <p:style>
          <a:lnRef idx="0"/>
          <a:fillRef idx="0"/>
          <a:effectRef idx="0"/>
          <a:fontRef idx="minor"/>
        </p:style>
        <p:txBody>
          <a:bodyPr lIns="0" rIns="0" tIns="0" bIns="0" anchor="ctr">
            <a:normAutofit/>
          </a:bodyPr>
          <a:p>
            <a:pPr algn="r" defTabSz="914400">
              <a:lnSpc>
                <a:spcPct val="100000"/>
              </a:lnSpc>
              <a:tabLst>
                <a:tab algn="l" pos="0"/>
              </a:tabLst>
            </a:pPr>
            <a:r>
              <a:rPr b="0" lang="en-US" sz="700" strike="noStrike" u="none">
                <a:solidFill>
                  <a:srgbClr val="243447"/>
                </a:solidFill>
                <a:effectLst/>
                <a:uFillTx/>
                <a:latin typeface="Arial"/>
                <a:ea typeface="Arial"/>
              </a:rPr>
              <a:t>30</a:t>
            </a:r>
            <a:endParaRPr b="0" lang="en-US" sz="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LibreOffice/25.2.3.2$Linux_X86_64 LibreOffice_project/520$Build-2</Application>
  <AppVersion>15.0000</AppVersion>
  <Words>0</Words>
  <Paragraphs>0</Paragraphs>
  <Company>Đại học Trà Vinh</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2026-09-21T03:46:22Z</dcterms:created>
  <dc:creator>OpenAI</dc:creator>
  <dc:description/>
  <dc:language>en-US</dc:language>
  <cp:lastModifiedBy>OpenAI</cp:lastModifiedBy>
  <dcterms:modified xsi:type="dcterms:W3CDTF">2026-09-21T03:46:22Z</dcterms:modified>
  <cp:revision>1</cp:revision>
  <dc:subject>Khóa luận tốt nghiệp - Blockchain</dc:subject>
  <dc:title>Xây dựng hệ thống quản lý và xác thực văn bằng, chứng chỉ số dựa trên nền tảng Blockchain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30</vt:r8>
  </property>
  <property fmtid="{D5CDD505-2E9C-101B-9397-08002B2CF9AE}" pid="3" name="PresentationFormat">
    <vt:lpwstr>On-screen Show (16:9)</vt:lpwstr>
  </property>
  <property fmtid="{D5CDD505-2E9C-101B-9397-08002B2CF9AE}" pid="4" name="Slides">
    <vt:r8>30</vt:r8>
  </property>
</Properties>
</file>